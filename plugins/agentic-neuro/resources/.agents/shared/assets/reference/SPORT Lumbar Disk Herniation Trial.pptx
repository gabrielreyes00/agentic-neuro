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4"/>
  </p:normalViewPr>
  <p:slideViewPr>
    <p:cSldViewPr snapToGrid="0">
      <p:cViewPr varScale="1">
        <p:scale>
          <a:sx n="115" d="100"/>
          <a:sy n="115" d="100"/>
        </p:scale>
        <p:origin x="3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Assigned surgery</c:v>
          </c:tx>
          <c:spPr>
            <a:ln w="38100">
              <a:solidFill>
                <a:srgbClr val="1F4E79"/>
              </a:solidFill>
              <a:prstDash val="solid"/>
            </a:ln>
          </c:spPr>
          <c:marker>
            <c:symbol val="circle"/>
            <c:size val="8"/>
          </c:marker>
          <c:cat>
            <c:strLit>
              <c:ptCount val="5"/>
              <c:pt idx="0">
                <c:v>6 wk</c:v>
              </c:pt>
              <c:pt idx="1">
                <c:v>3 mo</c:v>
              </c:pt>
              <c:pt idx="2">
                <c:v>6 mo</c:v>
              </c:pt>
              <c:pt idx="3">
                <c:v>1 yr</c:v>
              </c:pt>
              <c:pt idx="4">
                <c:v>2 yr</c:v>
              </c:pt>
            </c:strLit>
          </c:cat>
          <c:val>
            <c:numLit>
              <c:formatCode>0"%"</c:formatCode>
              <c:ptCount val="5"/>
              <c:pt idx="0">
                <c:v>32</c:v>
              </c:pt>
              <c:pt idx="1">
                <c:v>50</c:v>
              </c:pt>
              <c:pt idx="2">
                <c:v>57</c:v>
              </c:pt>
              <c:pt idx="3">
                <c:v>59</c:v>
              </c:pt>
              <c:pt idx="4">
                <c:v>60</c:v>
              </c:pt>
            </c:numLit>
          </c:val>
          <c:smooth val="1"/>
          <c:extLst>
            <c:ext xmlns:c16="http://schemas.microsoft.com/office/drawing/2014/chart" uri="{C3380CC4-5D6E-409C-BE32-E72D297353CC}">
              <c16:uniqueId val="{00000000-6861-A042-AF2E-45781729F1B8}"/>
            </c:ext>
          </c:extLst>
        </c:ser>
        <c:ser>
          <c:idx val="1"/>
          <c:order val="1"/>
          <c:tx>
            <c:v>Assigned nonoperative</c:v>
          </c:tx>
          <c:spPr>
            <a:ln w="38100">
              <a:solidFill>
                <a:srgbClr val="6B7280"/>
              </a:solidFill>
              <a:prstDash val="solid"/>
            </a:ln>
          </c:spPr>
          <c:marker>
            <c:symbol val="circle"/>
            <c:size val="8"/>
          </c:marker>
          <c:cat>
            <c:strLit>
              <c:ptCount val="5"/>
              <c:pt idx="0">
                <c:v>6 wk</c:v>
              </c:pt>
              <c:pt idx="1">
                <c:v>3 mo</c:v>
              </c:pt>
              <c:pt idx="2">
                <c:v>6 mo</c:v>
              </c:pt>
              <c:pt idx="3">
                <c:v>1 yr</c:v>
              </c:pt>
              <c:pt idx="4">
                <c:v>2 yr</c:v>
              </c:pt>
            </c:strLit>
          </c:cat>
          <c:val>
            <c:numLit>
              <c:formatCode>0"%"</c:formatCode>
              <c:ptCount val="5"/>
              <c:pt idx="0">
                <c:v>18</c:v>
              </c:pt>
              <c:pt idx="1">
                <c:v>30</c:v>
              </c:pt>
              <c:pt idx="2">
                <c:v>39</c:v>
              </c:pt>
              <c:pt idx="3">
                <c:v>43</c:v>
              </c:pt>
              <c:pt idx="4">
                <c:v>45</c:v>
              </c:pt>
            </c:numLit>
          </c:val>
          <c:smooth val="1"/>
          <c:extLst>
            <c:ext xmlns:c16="http://schemas.microsoft.com/office/drawing/2014/chart" uri="{C3380CC4-5D6E-409C-BE32-E72D297353CC}">
              <c16:uniqueId val="{00000001-6861-A042-AF2E-45781729F1B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E5E7EB"/>
            </a:solidFill>
            <a:prstDash val="solid"/>
          </a:ln>
        </c:spPr>
        <c:txPr>
          <a:bodyPr anchorCtr="1"/>
          <a:lstStyle/>
          <a:p>
            <a:pPr>
              <a:defRPr sz="975">
                <a:solidFill>
                  <a:srgbClr val="4B5563"/>
                </a:solidFill>
              </a:defRPr>
            </a:pPr>
            <a:endParaRPr lang="en-US"/>
          </a:p>
        </c:txPr>
        <c:crossAx val="48672768"/>
        <c:crosses val="autoZero"/>
        <c:auto val="1"/>
        <c:lblAlgn val="ctr"/>
        <c:lblOffset val="100"/>
        <c:noMultiLvlLbl val="0"/>
      </c:catAx>
      <c:valAx>
        <c:axId val="48672768"/>
        <c:scaling>
          <c:orientation val="minMax"/>
          <c:max val="70"/>
          <c:min val="0"/>
        </c:scaling>
        <c:delete val="0"/>
        <c:axPos val="l"/>
        <c:majorGridlines>
          <c:spPr>
            <a:ln w="9525">
              <a:solidFill>
                <a:srgbClr val="DCE3E7"/>
              </a:solidFill>
              <a:prstDash val="solid"/>
            </a:ln>
          </c:spPr>
        </c:majorGridlines>
        <c:numFmt formatCode="0&quot;%&quot;" sourceLinked="1"/>
        <c:majorTickMark val="none"/>
        <c:minorTickMark val="none"/>
        <c:tickLblPos val="nextTo"/>
        <c:spPr>
          <a:ln w="9525">
            <a:solidFill>
              <a:srgbClr val="E5E7EB"/>
            </a:solidFill>
            <a:prstDash val="solid"/>
          </a:ln>
        </c:spPr>
        <c:txPr>
          <a:bodyPr anchorCtr="1"/>
          <a:lstStyle/>
          <a:p>
            <a:pPr>
              <a:defRPr sz="975">
                <a:solidFill>
                  <a:srgbClr val="4B5563"/>
                </a:solidFill>
              </a:defRPr>
            </a:pPr>
            <a:endParaRPr lang="en-US"/>
          </a:p>
        </c:txPr>
        <c:crossAx val="48650112"/>
        <c:crosses val="autoZero"/>
        <c:crossBetween val="between"/>
        <c:majorUnit val="10"/>
      </c:valAx>
      <c:spPr>
        <a:noFill/>
        <a:ln w="0">
          <a:solidFill>
            <a:srgbClr val="FFFFFF"/>
          </a:solidFill>
          <a:prstDash val="solid"/>
        </a:ln>
      </c:spPr>
    </c:plotArea>
    <c:legend>
      <c:legendPos val="b"/>
      <c:overlay val="0"/>
      <c:txPr>
        <a:bodyPr anchorCtr="1"/>
        <a:lstStyle/>
        <a:p>
          <a:pPr>
            <a:defRPr sz="1050">
              <a:solidFill>
                <a:srgbClr val="111827"/>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Assigned surgery</c:v>
          </c:tx>
          <c:spPr>
            <a:ln w="38100">
              <a:solidFill>
                <a:srgbClr val="1F4E79"/>
              </a:solidFill>
              <a:prstDash val="solid"/>
            </a:ln>
          </c:spPr>
          <c:marker>
            <c:symbol val="circle"/>
            <c:size val="7"/>
          </c:marker>
          <c:cat>
            <c:strLit>
              <c:ptCount val="3"/>
              <c:pt idx="0">
                <c:v>3 mo</c:v>
              </c:pt>
              <c:pt idx="1">
                <c:v>1 yr</c:v>
              </c:pt>
              <c:pt idx="2">
                <c:v>2 yr</c:v>
              </c:pt>
            </c:strLit>
          </c:cat>
          <c:val>
            <c:numLit>
              <c:formatCode>General</c:formatCode>
              <c:ptCount val="3"/>
              <c:pt idx="0">
                <c:v>30.5</c:v>
              </c:pt>
              <c:pt idx="1">
                <c:v>39.700000000000003</c:v>
              </c:pt>
              <c:pt idx="2">
                <c:v>40.299999999999997</c:v>
              </c:pt>
            </c:numLit>
          </c:val>
          <c:smooth val="1"/>
          <c:extLst>
            <c:ext xmlns:c16="http://schemas.microsoft.com/office/drawing/2014/chart" uri="{C3380CC4-5D6E-409C-BE32-E72D297353CC}">
              <c16:uniqueId val="{00000000-9757-0A4E-87DA-5F8D97289BE2}"/>
            </c:ext>
          </c:extLst>
        </c:ser>
        <c:ser>
          <c:idx val="1"/>
          <c:order val="1"/>
          <c:tx>
            <c:v>Assigned nonoperative</c:v>
          </c:tx>
          <c:spPr>
            <a:ln w="38100">
              <a:solidFill>
                <a:srgbClr val="6B7280"/>
              </a:solidFill>
              <a:prstDash val="solid"/>
            </a:ln>
          </c:spPr>
          <c:marker>
            <c:symbol val="circle"/>
            <c:size val="7"/>
          </c:marker>
          <c:cat>
            <c:strLit>
              <c:ptCount val="3"/>
              <c:pt idx="0">
                <c:v>3 mo</c:v>
              </c:pt>
              <c:pt idx="1">
                <c:v>1 yr</c:v>
              </c:pt>
              <c:pt idx="2">
                <c:v>2 yr</c:v>
              </c:pt>
            </c:strLit>
          </c:cat>
          <c:val>
            <c:numLit>
              <c:formatCode>General</c:formatCode>
              <c:ptCount val="3"/>
              <c:pt idx="0">
                <c:v>27.6</c:v>
              </c:pt>
              <c:pt idx="1">
                <c:v>36.9</c:v>
              </c:pt>
              <c:pt idx="2">
                <c:v>37.1</c:v>
              </c:pt>
            </c:numLit>
          </c:val>
          <c:smooth val="1"/>
          <c:extLst>
            <c:ext xmlns:c16="http://schemas.microsoft.com/office/drawing/2014/chart" uri="{C3380CC4-5D6E-409C-BE32-E72D297353CC}">
              <c16:uniqueId val="{00000001-9757-0A4E-87DA-5F8D97289BE2}"/>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max val="45"/>
          <c:min val="20"/>
        </c:scaling>
        <c:delete val="0"/>
        <c:axPos val="l"/>
        <c:majorGridlines>
          <c:spPr>
            <a:ln w="9525">
              <a:solidFill>
                <a:srgbClr val="E3E8EB"/>
              </a:solidFill>
              <a:prstDash val="solid"/>
            </a:ln>
          </c:spPr>
        </c:majorGridlines>
        <c:numFmt formatCode="General" sourceLinked="1"/>
        <c:majorTickMark val="none"/>
        <c:minorTickMark val="none"/>
        <c:tickLblPos val="nextTo"/>
        <c:spPr>
          <a:ln w="9525">
            <a:solidFill>
              <a:srgbClr val="E5E7EB"/>
            </a:solidFill>
            <a:prstDash val="solid"/>
          </a:ln>
        </c:spPr>
        <c:txPr>
          <a:bodyPr anchorCtr="1"/>
          <a:lstStyle/>
          <a:p>
            <a:pPr>
              <a:defRPr sz="900">
                <a:solidFill>
                  <a:srgbClr val="4B5563"/>
                </a:solidFill>
              </a:defRPr>
            </a:pPr>
            <a:endParaRPr lang="en-US"/>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Assigned surgery</c:v>
          </c:tx>
          <c:spPr>
            <a:ln w="38100">
              <a:solidFill>
                <a:srgbClr val="1F4E79"/>
              </a:solidFill>
              <a:prstDash val="solid"/>
            </a:ln>
          </c:spPr>
          <c:marker>
            <c:symbol val="circle"/>
            <c:size val="7"/>
          </c:marker>
          <c:cat>
            <c:strLit>
              <c:ptCount val="3"/>
              <c:pt idx="0">
                <c:v>3 mo</c:v>
              </c:pt>
              <c:pt idx="1">
                <c:v>1 yr</c:v>
              </c:pt>
              <c:pt idx="2">
                <c:v>2 yr</c:v>
              </c:pt>
            </c:strLit>
          </c:cat>
          <c:val>
            <c:numLit>
              <c:formatCode>General</c:formatCode>
              <c:ptCount val="3"/>
              <c:pt idx="0">
                <c:v>27.7</c:v>
              </c:pt>
              <c:pt idx="1">
                <c:v>36.4</c:v>
              </c:pt>
              <c:pt idx="2">
                <c:v>35.9</c:v>
              </c:pt>
            </c:numLit>
          </c:val>
          <c:smooth val="1"/>
          <c:extLst>
            <c:ext xmlns:c16="http://schemas.microsoft.com/office/drawing/2014/chart" uri="{C3380CC4-5D6E-409C-BE32-E72D297353CC}">
              <c16:uniqueId val="{00000000-E415-EF45-AB55-6BD6EAEFDD94}"/>
            </c:ext>
          </c:extLst>
        </c:ser>
        <c:ser>
          <c:idx val="1"/>
          <c:order val="1"/>
          <c:tx>
            <c:v>Assigned nonoperative</c:v>
          </c:tx>
          <c:spPr>
            <a:ln w="38100">
              <a:solidFill>
                <a:srgbClr val="6B7280"/>
              </a:solidFill>
              <a:prstDash val="solid"/>
            </a:ln>
          </c:spPr>
          <c:marker>
            <c:symbol val="circle"/>
            <c:size val="7"/>
          </c:marker>
          <c:cat>
            <c:strLit>
              <c:ptCount val="3"/>
              <c:pt idx="0">
                <c:v>3 mo</c:v>
              </c:pt>
              <c:pt idx="1">
                <c:v>1 yr</c:v>
              </c:pt>
              <c:pt idx="2">
                <c:v>2 yr</c:v>
              </c:pt>
            </c:strLit>
          </c:cat>
          <c:val>
            <c:numLit>
              <c:formatCode>General</c:formatCode>
              <c:ptCount val="3"/>
              <c:pt idx="0">
                <c:v>24.9</c:v>
              </c:pt>
              <c:pt idx="1">
                <c:v>35.200000000000003</c:v>
              </c:pt>
              <c:pt idx="2">
                <c:v>35.9</c:v>
              </c:pt>
            </c:numLit>
          </c:val>
          <c:smooth val="1"/>
          <c:extLst>
            <c:ext xmlns:c16="http://schemas.microsoft.com/office/drawing/2014/chart" uri="{C3380CC4-5D6E-409C-BE32-E72D297353CC}">
              <c16:uniqueId val="{00000001-E415-EF45-AB55-6BD6EAEFDD94}"/>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max val="42"/>
          <c:min val="20"/>
        </c:scaling>
        <c:delete val="0"/>
        <c:axPos val="l"/>
        <c:majorGridlines>
          <c:spPr>
            <a:ln w="9525">
              <a:solidFill>
                <a:srgbClr val="E3E8EB"/>
              </a:solidFill>
              <a:prstDash val="solid"/>
            </a:ln>
          </c:spPr>
        </c:majorGridlines>
        <c:numFmt formatCode="General" sourceLinked="1"/>
        <c:majorTickMark val="none"/>
        <c:minorTickMark val="none"/>
        <c:tickLblPos val="nextTo"/>
        <c:spPr>
          <a:ln w="9525">
            <a:solidFill>
              <a:srgbClr val="E5E7EB"/>
            </a:solidFill>
            <a:prstDash val="solid"/>
          </a:ln>
        </c:spPr>
        <c:txPr>
          <a:bodyPr anchorCtr="1"/>
          <a:lstStyle/>
          <a:p>
            <a:pPr>
              <a:defRPr sz="900">
                <a:solidFill>
                  <a:srgbClr val="4B5563"/>
                </a:solidFill>
              </a:defRPr>
            </a:pPr>
            <a:endParaRPr lang="en-US"/>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Assigned surgery</c:v>
          </c:tx>
          <c:spPr>
            <a:ln w="38100">
              <a:solidFill>
                <a:srgbClr val="1F4E79"/>
              </a:solidFill>
              <a:prstDash val="solid"/>
            </a:ln>
          </c:spPr>
          <c:marker>
            <c:symbol val="circle"/>
            <c:size val="7"/>
          </c:marker>
          <c:cat>
            <c:strLit>
              <c:ptCount val="3"/>
              <c:pt idx="0">
                <c:v>3 mo</c:v>
              </c:pt>
              <c:pt idx="1">
                <c:v>1 yr</c:v>
              </c:pt>
              <c:pt idx="2">
                <c:v>2 yr</c:v>
              </c:pt>
            </c:strLit>
          </c:cat>
          <c:val>
            <c:numLit>
              <c:formatCode>General</c:formatCode>
              <c:ptCount val="3"/>
              <c:pt idx="0">
                <c:v>-26</c:v>
              </c:pt>
              <c:pt idx="1">
                <c:v>-30.6</c:v>
              </c:pt>
              <c:pt idx="2">
                <c:v>-31.4</c:v>
              </c:pt>
            </c:numLit>
          </c:val>
          <c:smooth val="1"/>
          <c:extLst>
            <c:ext xmlns:c16="http://schemas.microsoft.com/office/drawing/2014/chart" uri="{C3380CC4-5D6E-409C-BE32-E72D297353CC}">
              <c16:uniqueId val="{00000000-AD8A-4A4D-8B29-BFF122D044D7}"/>
            </c:ext>
          </c:extLst>
        </c:ser>
        <c:ser>
          <c:idx val="1"/>
          <c:order val="1"/>
          <c:tx>
            <c:v>Assigned nonoperative</c:v>
          </c:tx>
          <c:spPr>
            <a:ln w="38100">
              <a:solidFill>
                <a:srgbClr val="6B7280"/>
              </a:solidFill>
              <a:prstDash val="solid"/>
            </a:ln>
          </c:spPr>
          <c:marker>
            <c:symbol val="circle"/>
            <c:size val="7"/>
          </c:marker>
          <c:cat>
            <c:strLit>
              <c:ptCount val="3"/>
              <c:pt idx="0">
                <c:v>3 mo</c:v>
              </c:pt>
              <c:pt idx="1">
                <c:v>1 yr</c:v>
              </c:pt>
              <c:pt idx="2">
                <c:v>2 yr</c:v>
              </c:pt>
            </c:strLit>
          </c:cat>
          <c:val>
            <c:numLit>
              <c:formatCode>General</c:formatCode>
              <c:ptCount val="3"/>
              <c:pt idx="0">
                <c:v>-21.3</c:v>
              </c:pt>
              <c:pt idx="1">
                <c:v>-27.4</c:v>
              </c:pt>
              <c:pt idx="2">
                <c:v>-28.7</c:v>
              </c:pt>
            </c:numLit>
          </c:val>
          <c:smooth val="1"/>
          <c:extLst>
            <c:ext xmlns:c16="http://schemas.microsoft.com/office/drawing/2014/chart" uri="{C3380CC4-5D6E-409C-BE32-E72D297353CC}">
              <c16:uniqueId val="{00000001-AD8A-4A4D-8B29-BFF122D044D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0"/>
      </c:catAx>
      <c:valAx>
        <c:axId val="48672768"/>
        <c:scaling>
          <c:orientation val="minMax"/>
          <c:max val="-15"/>
          <c:min val="-35"/>
        </c:scaling>
        <c:delete val="0"/>
        <c:axPos val="l"/>
        <c:majorGridlines>
          <c:spPr>
            <a:ln w="9525">
              <a:solidFill>
                <a:srgbClr val="E3E8EB"/>
              </a:solidFill>
              <a:prstDash val="solid"/>
            </a:ln>
          </c:spPr>
        </c:majorGridlines>
        <c:numFmt formatCode="General" sourceLinked="1"/>
        <c:majorTickMark val="none"/>
        <c:minorTickMark val="none"/>
        <c:tickLblPos val="nextTo"/>
        <c:spPr>
          <a:ln w="9525">
            <a:solidFill>
              <a:srgbClr val="E5E7EB"/>
            </a:solidFill>
            <a:prstDash val="solid"/>
          </a:ln>
        </c:spPr>
        <c:txPr>
          <a:bodyPr anchorCtr="1"/>
          <a:lstStyle/>
          <a:p>
            <a:pPr>
              <a:defRPr sz="900">
                <a:solidFill>
                  <a:srgbClr val="4B5563"/>
                </a:solidFill>
              </a:defRPr>
            </a:pPr>
            <a:endParaRPr lang="en-US"/>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Surgery</c:v>
          </c:tx>
          <c:spPr>
            <a:ln w="38100">
              <a:solidFill>
                <a:srgbClr val="1F4E79"/>
              </a:solidFill>
              <a:prstDash val="solid"/>
            </a:ln>
          </c:spPr>
          <c:marker>
            <c:symbol val="circle"/>
            <c:size val="8"/>
          </c:marker>
          <c:cat>
            <c:strLit>
              <c:ptCount val="3"/>
              <c:pt idx="0">
                <c:v>2 yr</c:v>
              </c:pt>
              <c:pt idx="1">
                <c:v>4 yr</c:v>
              </c:pt>
              <c:pt idx="2">
                <c:v>8 yr</c:v>
              </c:pt>
            </c:strLit>
          </c:cat>
          <c:val>
            <c:numLit>
              <c:formatCode>0</c:formatCode>
              <c:ptCount val="3"/>
              <c:pt idx="0">
                <c:v>45</c:v>
              </c:pt>
              <c:pt idx="1">
                <c:v>47.5</c:v>
              </c:pt>
              <c:pt idx="2">
                <c:v>45.3</c:v>
              </c:pt>
            </c:numLit>
          </c:val>
          <c:smooth val="1"/>
          <c:extLst>
            <c:ext xmlns:c16="http://schemas.microsoft.com/office/drawing/2014/chart" uri="{C3380CC4-5D6E-409C-BE32-E72D297353CC}">
              <c16:uniqueId val="{00000000-EE5F-094E-98E7-244D64B03618}"/>
            </c:ext>
          </c:extLst>
        </c:ser>
        <c:ser>
          <c:idx val="1"/>
          <c:order val="1"/>
          <c:tx>
            <c:v>Nonoperative</c:v>
          </c:tx>
          <c:spPr>
            <a:ln w="38100">
              <a:solidFill>
                <a:srgbClr val="6B7280"/>
              </a:solidFill>
              <a:prstDash val="solid"/>
            </a:ln>
          </c:spPr>
          <c:marker>
            <c:symbol val="circle"/>
            <c:size val="8"/>
          </c:marker>
          <c:cat>
            <c:strLit>
              <c:ptCount val="3"/>
              <c:pt idx="0">
                <c:v>2 yr</c:v>
              </c:pt>
              <c:pt idx="1">
                <c:v>4 yr</c:v>
              </c:pt>
              <c:pt idx="2">
                <c:v>8 yr</c:v>
              </c:pt>
            </c:strLit>
          </c:cat>
          <c:val>
            <c:numLit>
              <c:formatCode>0</c:formatCode>
              <c:ptCount val="3"/>
              <c:pt idx="0">
                <c:v>35.1</c:v>
              </c:pt>
              <c:pt idx="1">
                <c:v>33.5</c:v>
              </c:pt>
              <c:pt idx="2">
                <c:v>34.4</c:v>
              </c:pt>
            </c:numLit>
          </c:val>
          <c:smooth val="1"/>
          <c:extLst>
            <c:ext xmlns:c16="http://schemas.microsoft.com/office/drawing/2014/chart" uri="{C3380CC4-5D6E-409C-BE32-E72D297353CC}">
              <c16:uniqueId val="{00000001-EE5F-094E-98E7-244D64B0361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0">
            <a:noFill/>
            <a:prstDash val="solid"/>
          </a:ln>
        </c:spPr>
        <c:txPr>
          <a:bodyPr anchorCtr="1"/>
          <a:lstStyle/>
          <a:p>
            <a:pPr>
              <a:defRPr sz="900">
                <a:solidFill>
                  <a:srgbClr val="475569"/>
                </a:solidFill>
              </a:defRPr>
            </a:pPr>
            <a:endParaRPr lang="en-US"/>
          </a:p>
        </c:txPr>
        <c:crossAx val="48672768"/>
        <c:crosses val="autoZero"/>
        <c:auto val="1"/>
        <c:lblAlgn val="ctr"/>
        <c:lblOffset val="100"/>
        <c:noMultiLvlLbl val="0"/>
      </c:catAx>
      <c:valAx>
        <c:axId val="48672768"/>
        <c:scaling>
          <c:orientation val="minMax"/>
          <c:max val="50"/>
          <c:min val="30"/>
        </c:scaling>
        <c:delete val="0"/>
        <c:axPos val="l"/>
        <c:majorGridlines>
          <c:spPr>
            <a:ln w="9525">
              <a:solidFill>
                <a:srgbClr val="DCE3E8"/>
              </a:solidFill>
              <a:prstDash val="solid"/>
            </a:ln>
          </c:spPr>
        </c:majorGridlines>
        <c:numFmt formatCode="0" sourceLinked="1"/>
        <c:majorTickMark val="none"/>
        <c:minorTickMark val="none"/>
        <c:tickLblPos val="nextTo"/>
        <c:spPr>
          <a:ln w="9525">
            <a:solidFill>
              <a:srgbClr val="CBD5E1"/>
            </a:solidFill>
            <a:prstDash val="solid"/>
          </a:ln>
        </c:spPr>
        <c:txPr>
          <a:bodyPr anchorCtr="1"/>
          <a:lstStyle/>
          <a:p>
            <a:pPr>
              <a:defRPr sz="900">
                <a:solidFill>
                  <a:srgbClr val="475569"/>
                </a:solidFill>
              </a:defRPr>
            </a:pPr>
            <a:endParaRPr lang="en-US"/>
          </a:p>
        </c:txPr>
        <c:crossAx val="48650112"/>
        <c:crosses val="autoZero"/>
        <c:crossBetween val="between"/>
        <c:majorUnit val="5"/>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Surgery</c:v>
          </c:tx>
          <c:spPr>
            <a:ln w="38100">
              <a:solidFill>
                <a:srgbClr val="1F4E79"/>
              </a:solidFill>
              <a:prstDash val="solid"/>
            </a:ln>
          </c:spPr>
          <c:marker>
            <c:symbol val="circle"/>
            <c:size val="8"/>
          </c:marker>
          <c:cat>
            <c:strLit>
              <c:ptCount val="3"/>
              <c:pt idx="0">
                <c:v>2 yr</c:v>
              </c:pt>
              <c:pt idx="1">
                <c:v>4 yr</c:v>
              </c:pt>
              <c:pt idx="2">
                <c:v>8 yr</c:v>
              </c:pt>
            </c:strLit>
          </c:cat>
          <c:val>
            <c:numLit>
              <c:formatCode>0</c:formatCode>
              <c:ptCount val="3"/>
              <c:pt idx="0">
                <c:v>42</c:v>
              </c:pt>
              <c:pt idx="1">
                <c:v>43.1</c:v>
              </c:pt>
              <c:pt idx="2">
                <c:v>42.2</c:v>
              </c:pt>
            </c:numLit>
          </c:val>
          <c:smooth val="1"/>
          <c:extLst>
            <c:ext xmlns:c16="http://schemas.microsoft.com/office/drawing/2014/chart" uri="{C3380CC4-5D6E-409C-BE32-E72D297353CC}">
              <c16:uniqueId val="{00000000-1510-B64F-B2C3-1E6639233087}"/>
            </c:ext>
          </c:extLst>
        </c:ser>
        <c:ser>
          <c:idx val="1"/>
          <c:order val="1"/>
          <c:tx>
            <c:v>Nonoperative</c:v>
          </c:tx>
          <c:spPr>
            <a:ln w="38100">
              <a:solidFill>
                <a:srgbClr val="6B7280"/>
              </a:solidFill>
              <a:prstDash val="solid"/>
            </a:ln>
          </c:spPr>
          <c:marker>
            <c:symbol val="circle"/>
            <c:size val="8"/>
          </c:marker>
          <c:cat>
            <c:strLit>
              <c:ptCount val="3"/>
              <c:pt idx="0">
                <c:v>2 yr</c:v>
              </c:pt>
              <c:pt idx="1">
                <c:v>4 yr</c:v>
              </c:pt>
              <c:pt idx="2">
                <c:v>8 yr</c:v>
              </c:pt>
            </c:strLit>
          </c:cat>
          <c:val>
            <c:numLit>
              <c:formatCode>0</c:formatCode>
              <c:ptCount val="3"/>
              <c:pt idx="0">
                <c:v>32</c:v>
              </c:pt>
              <c:pt idx="1">
                <c:v>31.1</c:v>
              </c:pt>
              <c:pt idx="2">
                <c:v>31.5</c:v>
              </c:pt>
            </c:numLit>
          </c:val>
          <c:smooth val="1"/>
          <c:extLst>
            <c:ext xmlns:c16="http://schemas.microsoft.com/office/drawing/2014/chart" uri="{C3380CC4-5D6E-409C-BE32-E72D297353CC}">
              <c16:uniqueId val="{00000001-1510-B64F-B2C3-1E663923308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0">
            <a:noFill/>
            <a:prstDash val="solid"/>
          </a:ln>
        </c:spPr>
        <c:txPr>
          <a:bodyPr anchorCtr="1"/>
          <a:lstStyle/>
          <a:p>
            <a:pPr>
              <a:defRPr sz="900">
                <a:solidFill>
                  <a:srgbClr val="475569"/>
                </a:solidFill>
              </a:defRPr>
            </a:pPr>
            <a:endParaRPr lang="en-US"/>
          </a:p>
        </c:txPr>
        <c:crossAx val="48672768"/>
        <c:crosses val="autoZero"/>
        <c:auto val="1"/>
        <c:lblAlgn val="ctr"/>
        <c:lblOffset val="100"/>
        <c:noMultiLvlLbl val="0"/>
      </c:catAx>
      <c:valAx>
        <c:axId val="48672768"/>
        <c:scaling>
          <c:orientation val="minMax"/>
          <c:max val="45"/>
          <c:min val="25"/>
        </c:scaling>
        <c:delete val="0"/>
        <c:axPos val="l"/>
        <c:majorGridlines>
          <c:spPr>
            <a:ln w="9525">
              <a:solidFill>
                <a:srgbClr val="DCE3E8"/>
              </a:solidFill>
              <a:prstDash val="solid"/>
            </a:ln>
          </c:spPr>
        </c:majorGridlines>
        <c:numFmt formatCode="0" sourceLinked="1"/>
        <c:majorTickMark val="none"/>
        <c:minorTickMark val="none"/>
        <c:tickLblPos val="nextTo"/>
        <c:spPr>
          <a:ln w="9525">
            <a:solidFill>
              <a:srgbClr val="CBD5E1"/>
            </a:solidFill>
            <a:prstDash val="solid"/>
          </a:ln>
        </c:spPr>
        <c:txPr>
          <a:bodyPr anchorCtr="1"/>
          <a:lstStyle/>
          <a:p>
            <a:pPr>
              <a:defRPr sz="900">
                <a:solidFill>
                  <a:srgbClr val="475569"/>
                </a:solidFill>
              </a:defRPr>
            </a:pPr>
            <a:endParaRPr lang="en-US"/>
          </a:p>
        </c:txPr>
        <c:crossAx val="48650112"/>
        <c:crosses val="autoZero"/>
        <c:crossBetween val="between"/>
        <c:majorUnit val="5"/>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Surgery</c:v>
          </c:tx>
          <c:spPr>
            <a:ln w="38100">
              <a:solidFill>
                <a:srgbClr val="1F4E79"/>
              </a:solidFill>
              <a:prstDash val="solid"/>
            </a:ln>
          </c:spPr>
          <c:marker>
            <c:symbol val="circle"/>
            <c:size val="8"/>
          </c:marker>
          <c:cat>
            <c:strLit>
              <c:ptCount val="3"/>
              <c:pt idx="0">
                <c:v>2 yr</c:v>
              </c:pt>
              <c:pt idx="1">
                <c:v>4 yr</c:v>
              </c:pt>
              <c:pt idx="2">
                <c:v>8 yr</c:v>
              </c:pt>
            </c:strLit>
          </c:cat>
          <c:val>
            <c:numLit>
              <c:formatCode>0</c:formatCode>
              <c:ptCount val="3"/>
              <c:pt idx="0">
                <c:v>-36.1</c:v>
              </c:pt>
              <c:pt idx="1">
                <c:v>-37.299999999999997</c:v>
              </c:pt>
              <c:pt idx="2">
                <c:v>-36.200000000000003</c:v>
              </c:pt>
            </c:numLit>
          </c:val>
          <c:smooth val="1"/>
          <c:extLst>
            <c:ext xmlns:c16="http://schemas.microsoft.com/office/drawing/2014/chart" uri="{C3380CC4-5D6E-409C-BE32-E72D297353CC}">
              <c16:uniqueId val="{00000000-B448-A94C-A3FE-FF35C528E48D}"/>
            </c:ext>
          </c:extLst>
        </c:ser>
        <c:ser>
          <c:idx val="1"/>
          <c:order val="1"/>
          <c:tx>
            <c:v>Nonoperative</c:v>
          </c:tx>
          <c:spPr>
            <a:ln w="38100">
              <a:solidFill>
                <a:srgbClr val="6B7280"/>
              </a:solidFill>
              <a:prstDash val="solid"/>
            </a:ln>
          </c:spPr>
          <c:marker>
            <c:symbol val="circle"/>
            <c:size val="8"/>
          </c:marker>
          <c:cat>
            <c:strLit>
              <c:ptCount val="3"/>
              <c:pt idx="0">
                <c:v>2 yr</c:v>
              </c:pt>
              <c:pt idx="1">
                <c:v>4 yr</c:v>
              </c:pt>
              <c:pt idx="2">
                <c:v>8 yr</c:v>
              </c:pt>
            </c:strLit>
          </c:cat>
          <c:val>
            <c:numLit>
              <c:formatCode>0</c:formatCode>
              <c:ptCount val="3"/>
              <c:pt idx="0">
                <c:v>-25.9</c:v>
              </c:pt>
              <c:pt idx="1">
                <c:v>-25.9</c:v>
              </c:pt>
              <c:pt idx="2">
                <c:v>-24.8</c:v>
              </c:pt>
            </c:numLit>
          </c:val>
          <c:smooth val="1"/>
          <c:extLst>
            <c:ext xmlns:c16="http://schemas.microsoft.com/office/drawing/2014/chart" uri="{C3380CC4-5D6E-409C-BE32-E72D297353CC}">
              <c16:uniqueId val="{00000001-B448-A94C-A3FE-FF35C528E48D}"/>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0">
            <a:noFill/>
            <a:prstDash val="solid"/>
          </a:ln>
        </c:spPr>
        <c:txPr>
          <a:bodyPr anchorCtr="1"/>
          <a:lstStyle/>
          <a:p>
            <a:pPr>
              <a:defRPr sz="900">
                <a:solidFill>
                  <a:srgbClr val="475569"/>
                </a:solidFill>
              </a:defRPr>
            </a:pPr>
            <a:endParaRPr lang="en-US"/>
          </a:p>
        </c:txPr>
        <c:crossAx val="48672768"/>
        <c:crosses val="autoZero"/>
        <c:auto val="1"/>
        <c:lblAlgn val="ctr"/>
        <c:lblOffset val="100"/>
        <c:noMultiLvlLbl val="0"/>
      </c:catAx>
      <c:valAx>
        <c:axId val="48672768"/>
        <c:scaling>
          <c:orientation val="minMax"/>
          <c:max val="-20"/>
          <c:min val="-40"/>
        </c:scaling>
        <c:delete val="0"/>
        <c:axPos val="l"/>
        <c:majorGridlines>
          <c:spPr>
            <a:ln w="9525">
              <a:solidFill>
                <a:srgbClr val="DCE3E8"/>
              </a:solidFill>
              <a:prstDash val="solid"/>
            </a:ln>
          </c:spPr>
        </c:majorGridlines>
        <c:numFmt formatCode="0" sourceLinked="1"/>
        <c:majorTickMark val="none"/>
        <c:minorTickMark val="none"/>
        <c:tickLblPos val="nextTo"/>
        <c:spPr>
          <a:ln w="9525">
            <a:solidFill>
              <a:srgbClr val="CBD5E1"/>
            </a:solidFill>
            <a:prstDash val="solid"/>
          </a:ln>
        </c:spPr>
        <c:txPr>
          <a:bodyPr anchorCtr="1"/>
          <a:lstStyle/>
          <a:p>
            <a:pPr>
              <a:defRPr sz="900">
                <a:solidFill>
                  <a:srgbClr val="475569"/>
                </a:solidFill>
              </a:defRPr>
            </a:pPr>
            <a:endParaRPr lang="en-US"/>
          </a:p>
        </c:txPr>
        <c:crossAx val="48650112"/>
        <c:crosses val="autoZero"/>
        <c:crossBetween val="between"/>
        <c:majorUnit val="5"/>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SPORT addressed whether standard open diskectomy improved outcomes more than usual nonoperative care for imaging-confirmed lumbar disk herniation. The trial is clinically influential, but its interpretation depends on selection into randomization, substantial bidirectional crossover, and the distinction between treatment assignment and treatment received.</a:t>
            </a:r>
          </a:p>
          <a:p>
            <a:r>
              <a:t>Sources: Weinstein JN et al. JAMA. 2006;296:2441-2450.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Eligible patients had at least six weeks of radicular symptoms, a concordant tension sign or neurologic deficit, and imaging showing a herniation at the matching side and level. These were elective candidates in whom both strategies were considered acceptable. Cauda equina syndrome, progressive major deficit, and other conditions requiring a different decision pathway were not represented.</a:t>
            </a:r>
          </a:p>
          <a:p>
            <a:r>
              <a:t>Sources: SPORT randomized trial, Eligibility; pp 2442-2443.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 1991 eligible patients, 1244 enrolled: 501 accepted randomization and 743 chose their treatment in a concurrent observational cohort under the same eligibility criteria. Thus only about 25 percent of eligible patients entered the randomized trial. The randomized cohort protects against baseline confounding but suffered poor adherence; the observational cohort better represents preference-sensitive selection but cannot remove confounding by indication. The two reports should be interpreted together, not treated as interchangeable estimates.</a:t>
            </a:r>
          </a:p>
          <a:p>
            <a:r>
              <a:t>Sources: SPORT randomized trial, Figure 1; p 2443.  ·  Weinstein JN et al. JAMA. 2006;296:2451-2459.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operation was a standard open diskectomy with identification and decompression of the affected root and removal of the herniated fragment. Nonoperative care was not watchful waiting: the minimum protocol included education and counseling, active physical therapy with home exercise, and an NSAID when tolerated. Actual care was individualized and heterogeneous; commonly reported components included education, injections, NSAIDs, opioid analgesics, and physical therapy. SPORT therefore compares a surgical strategy with multimodal usual care, not with one standardized conservative regimen.</a:t>
            </a:r>
          </a:p>
          <a:p>
            <a:r>
              <a:t>Sources: SPORT randomized trial, Interventions and Table 2; pp 2442-2445.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Outcomes were assessed at six weeks, three months, six months, one year, and two years. Exposure separation was already limited at the first assessment: 32 percent of the surgery group and 18 percent of the nonoperative group had undergone surgery by six weeks. By three months the proportions were 50 and 30 percent, and by two years 60 and 45 percent. The assignment contrast therefore represented initial treatment strategy more clearly than durable treatment exposure.</a:t>
            </a:r>
          </a:p>
          <a:p>
            <a:r>
              <a:t>Sources: SPORT randomized trial, Figure 1 and follow-up schedule; pp 2442-2444.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prespecified intention-to-treat analysis preserves randomization and estimates the effect of assignment to an initial strategy. Extensive crossover weakens the exposure contrast and can bias that estimate toward no difference. The adjusted as-treated analysis estimates outcomes associated with treatment received, but treatment choice occurred after randomization and reflected symptoms, preferences, and prognosis; adjustment cannot guarantee restoration of the randomized comparison.</a:t>
            </a:r>
          </a:p>
          <a:p>
            <a:r>
              <a:t>Sources: SPORT randomized trial, Statistical Analysis; pp 2443-2444.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primary outcomes were modeled longitudinally. At three months, one year, and two years, both assigned groups showed large improvements. The surgery-minus-nonoperative effects for bodily pain were 2.9, 2.8, and 3.2 points; for physical function, 2.8, 1.2, and 0.0; and for ODI, minus 4.7, minus 3.2, and minus 2.7. The three-month ODI interval narrowly excluded zero, but the prespecified global tests across time were nonsignificant for all three primary outcomes. The central randomized finding is substantial improvement in both groups with small assignment effects, not a two-year-only result.</a:t>
            </a:r>
          </a:p>
          <a:p>
            <a:r>
              <a:t>Sources: SPORT randomized trial, Table 5; p 2447.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consistent randomized signal was symptom-specific. Sciatica bothersomeness favored surgical assignment at three months, one year, and two years. Self-rated major improvement was nine percentage points higher at one year, with a confidence interval just above zero. Work participation did not show a meaningful advantage at two years. These secondary outcomes support modest symptom relief but do not demonstrate a broad functional or socioeconomic benefit of assignment.</a:t>
            </a:r>
          </a:p>
          <a:p>
            <a:r>
              <a:t>Sources: SPORT randomized trial, Table 5; p 2447.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randomized intention-to-treat result provides the strongest causal protection but the weakest treatment-exposure contrast. The concurrent observational cohort preserved patient preference and showed a much larger adjusted two-year ODI difference, but treatment selection was confounded. The randomized cohort's adjusted as-treated analysis also showed a larger one-year ODI difference, yet remains vulnerable to post-randomization confounding. Concordance of the treatment-received analyses supports faster and larger symptom improvement after surgery, while the randomized assignment estimate limits how confidently that magnitude can be interpreted causally.</a:t>
            </a:r>
          </a:p>
          <a:p>
            <a:endParaRPr/>
          </a:p>
          <a:p>
            <a:r>
              <a:t>• Chose Surgery (528 patients): Only 4% crossed over to nonoperative care</a:t>
            </a:r>
          </a:p>
          <a:p>
            <a:r>
              <a:t>  (meaning 96% underwent surgery).</a:t>
            </a:r>
          </a:p>
          <a:p>
            <a:r>
              <a:t>  • Chose Nonoperative Care (191 patients): 22% crossed over to surgery</a:t>
            </a:r>
          </a:p>
          <a:p>
            <a:r>
              <a:t>  (meaning 78% successfully avoided surgery).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uses the combined randomized and observational SPORT cohorts and classifies patients by treatment received. At two, four, and eight years, the adjusted surgery-minus-nonoperative effects were 10.0, 14.0, and 10.9 points for SF-36 bodily pain; 10.0, 12.0, and 10.6 points for physical function; and minus 10.2, minus 11.4, and minus 11.3 points for ODI. At eight years, all three comparisons were statistically significant with the confidence intervals shown. These are durable treatment-received associations, but they do not preserve randomization and remain susceptible to residual confounding; only 63 percent of enrollees supplied eight-year data. Sources: Lurie JD et al. Spine. 2014;39:3-16, Table 4 and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Crossover was informative rather than random. Among patients assigned nonoperative care, those who crossed to surgery had higher baseline disability and were more likely to report worsening. Patients assigned surgery who deferred had less severe symptoms, more improvement, and stronger preference against surgery. Those prognostic differences explain why adjusted treatment-received effects cannot be treated as randomized efficacy estimates. Follow-up availability declined from about 86 percent at six weeks to 73 percent at two years; reported missing-data sensitivity analyses were similar, but attrition still narrows precision and generalizability.</a:t>
            </a:r>
          </a:p>
          <a:p>
            <a:r>
              <a:t>Sources: SPORT randomized trial, Tables 4-5 and Treatment Adherence; pp 2443-2447.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Among 243 operations, dural tear occurred in 10 patients and superficial wound infection in four. The Kaplan-Meier estimate for additional surgery by two years was five percent. No perioperative deaths were reported. These denominators are modest, so the study cannot precisely estimate rare complications; counseling should use broader contemporary risk data as well as SPORT.</a:t>
            </a:r>
          </a:p>
          <a:p>
            <a:r>
              <a:t>Sources: SPORT randomized trial, Table 3; p 2445.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SPORT applies to stable elective patients with persistent concordant radiculopathy, not urgent neurologic syndromes. It compared diskectomy with active multimodal nonoperative care. Both initial strategies produced substantial improvement, while surgery was associated with faster symptom relief. Early bidirectional crossover reduced the randomized exposure contrast, and larger treatment-received estimates remain confounded. In practice, timing should reflect disability, recovery goals, and tolerance for procedural risk.</a:t>
            </a:r>
          </a:p>
          <a:p>
            <a:r>
              <a:t>Sources: SPORT randomized and observational reports, JAMA. 2006;296:2441-2459.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if applicability is challenged. SPORT required a detailed concordant phenotype and excluded prior lumbar surgery, cauda equina syndrome, instability, substantial scoliosis, fracture, infection or tumor, inflammatory spondyloarthropathy, pregnancy, and surgical contraindication. It therefore informs routine elective primary disk herniation care, not every presentation of lumbar radiculopathy.</a:t>
            </a:r>
          </a:p>
          <a:p>
            <a:r>
              <a:t>Sources: SPORT randomized trial, Eligibility; pp 2442-2443.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Later evidence is directionally consistent with a timing-of-relief interpretation. The Dutch randomized trial found faster recovery after early surgery with similar one-year outcomes. SPORT follow-up reported durable adjusted as-treated differences, although crossover continues to limit causal interpretation. A 2023 systematic review found earlier pain relief with surgery and diminishing differences over time, with low certainty for several comparisons.</a:t>
            </a:r>
          </a:p>
          <a:p>
            <a:r>
              <a:t>Sources: Peul WC et al. N Engl J Med. 2007;356:2245-2256.  ·  Lurie JD et al. Spine. 2014;39:3-16.  ·  Liu C et al. BMJ. 2023;381:e070730.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chart" Target="../charts/chart7.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rule-opening">
            <a:extLst>
              <a:ext uri="{FF2B5EF4-FFF2-40B4-BE49-F238E27FC236}">
                <a16:creationId xmlns:a16="http://schemas.microsoft.com/office/drawing/2014/main" id="{276F37FE-1591-49A1-9061-7965A9AFA849}"/>
              </a:ext>
            </a:extLst>
          </p:cNvPr>
          <p:cNvSpPr>
            <a:spLocks noGrp="1"/>
          </p:cNvSpPr>
          <p:nvPr/>
        </p:nvSpPr>
        <p:spPr>
          <a:xfrm>
            <a:off x="609600" y="819150"/>
            <a:ext cx="1104900" cy="47625"/>
          </a:xfrm>
          <a:prstGeom prst="rect">
            <a:avLst/>
          </a:prstGeom>
          <a:solidFill>
            <a:srgbClr val="1F4E79"/>
          </a:solidFill>
          <a:ln w="0">
            <a:solidFill>
              <a:srgbClr val="1F4E79"/>
            </a:solidFill>
            <a:prstDash val="solid"/>
          </a:ln>
        </p:spPr>
        <p:txBody>
          <a:bodyPr/>
          <a:lstStyle/>
          <a:p>
            <a:endParaRPr/>
          </a:p>
        </p:txBody>
      </p:sp>
      <p:sp>
        <p:nvSpPr>
          <p:cNvPr id="2" name="title-full">
            <a:extLst>
              <a:ext uri="{FF2B5EF4-FFF2-40B4-BE49-F238E27FC236}">
                <a16:creationId xmlns:a16="http://schemas.microsoft.com/office/drawing/2014/main" id="{53C20EA3-6509-4F43-9306-C76ECADC8D19}"/>
              </a:ext>
            </a:extLst>
          </p:cNvPr>
          <p:cNvSpPr>
            <a:spLocks noGrp="1"/>
          </p:cNvSpPr>
          <p:nvPr/>
        </p:nvSpPr>
        <p:spPr>
          <a:xfrm>
            <a:off x="609600" y="1200150"/>
            <a:ext cx="10382250" cy="2333625"/>
          </a:xfrm>
          <a:prstGeom prst="rect">
            <a:avLst/>
          </a:prstGeom>
          <a:noFill/>
          <a:ln w="0">
            <a:noFill/>
            <a:prstDash val="solid"/>
          </a:ln>
        </p:spPr>
        <p:txBody>
          <a:bodyPr lIns="0" tIns="0" rIns="0" bIns="0" anchor="t">
            <a:noAutofit/>
          </a:bodyPr>
          <a:lstStyle/>
          <a:p>
            <a:pPr algn="l">
              <a:buNone/>
              <a:defRPr sz="3600" b="1" i="0">
                <a:solidFill>
                  <a:srgbClr val="111827"/>
                </a:solidFill>
              </a:defRPr>
            </a:pPr>
            <a:r>
              <a:rPr sz="3600" b="1" i="0">
                <a:solidFill>
                  <a:srgbClr val="111827"/>
                </a:solidFill>
              </a:rPr>
              <a:t>Surgical vs Nonoperative Treatment for Lumbar Disk Herniation: The Spine Patient Outcomes Research Trial (SPORT): A Randomized Trial</a:t>
            </a:r>
          </a:p>
        </p:txBody>
      </p:sp>
      <p:sp>
        <p:nvSpPr>
          <p:cNvPr id="3" name="article-meta">
            <a:extLst>
              <a:ext uri="{FF2B5EF4-FFF2-40B4-BE49-F238E27FC236}">
                <a16:creationId xmlns:a16="http://schemas.microsoft.com/office/drawing/2014/main" id="{61BC28BA-783F-4E16-81EF-F7B160D849A7}"/>
              </a:ext>
            </a:extLst>
          </p:cNvPr>
          <p:cNvSpPr>
            <a:spLocks noGrp="1"/>
          </p:cNvSpPr>
          <p:nvPr/>
        </p:nvSpPr>
        <p:spPr>
          <a:xfrm>
            <a:off x="609600" y="4367212"/>
            <a:ext cx="7810500" cy="304800"/>
          </a:xfrm>
          <a:prstGeom prst="rect">
            <a:avLst/>
          </a:prstGeom>
          <a:noFill/>
          <a:ln w="0">
            <a:noFill/>
            <a:prstDash val="solid"/>
          </a:ln>
        </p:spPr>
        <p:txBody>
          <a:bodyPr lIns="0" tIns="0" rIns="0" bIns="0" anchor="ctr">
            <a:noAutofit/>
          </a:bodyPr>
          <a:lstStyle/>
          <a:p>
            <a:pPr algn="l">
              <a:buNone/>
              <a:defRPr sz="1425" b="0" i="0">
                <a:solidFill>
                  <a:srgbClr val="4B5563"/>
                </a:solidFill>
              </a:defRPr>
            </a:pPr>
            <a:r>
              <a:rPr sz="1425" b="0" i="0">
                <a:solidFill>
                  <a:srgbClr val="4B5563"/>
                </a:solidFill>
              </a:rPr>
              <a:t>Weinstein JN et al.  |  JAMA. 2006;296:2441–2450.</a:t>
            </a:r>
          </a:p>
        </p:txBody>
      </p:sp>
      <p:sp>
        <p:nvSpPr>
          <p:cNvPr id="4" name="presenter">
            <a:extLst>
              <a:ext uri="{FF2B5EF4-FFF2-40B4-BE49-F238E27FC236}">
                <a16:creationId xmlns:a16="http://schemas.microsoft.com/office/drawing/2014/main" id="{DD9DB0D1-0A22-48B3-8FCE-5BDB8BB53E18}"/>
              </a:ext>
            </a:extLst>
          </p:cNvPr>
          <p:cNvSpPr>
            <a:spLocks noGrp="1"/>
          </p:cNvSpPr>
          <p:nvPr/>
        </p:nvSpPr>
        <p:spPr>
          <a:xfrm>
            <a:off x="609600" y="4686300"/>
            <a:ext cx="6191250" cy="26670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Gabriel Reyes  |  VA Neurosurgery Journal Club</a:t>
            </a:r>
          </a:p>
        </p:txBody>
      </p:sp>
      <p:sp>
        <p:nvSpPr>
          <p:cNvPr id="6" name="footer-rule-1">
            <a:extLst>
              <a:ext uri="{FF2B5EF4-FFF2-40B4-BE49-F238E27FC236}">
                <a16:creationId xmlns:a16="http://schemas.microsoft.com/office/drawing/2014/main" id="{E125B106-DDE3-4D09-8690-E3D87B94107C}"/>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7" name="cite-1">
            <a:extLst>
              <a:ext uri="{FF2B5EF4-FFF2-40B4-BE49-F238E27FC236}">
                <a16:creationId xmlns:a16="http://schemas.microsoft.com/office/drawing/2014/main" id="{8FAC75C4-F739-46C8-B72E-9CAB6D23FBC9}"/>
              </a:ext>
            </a:extLst>
          </p:cNvPr>
          <p:cNvSpPr>
            <a:spLocks noGrp="1"/>
          </p:cNvSpPr>
          <p:nvPr/>
        </p:nvSpPr>
        <p:spPr>
          <a:xfrm>
            <a:off x="609600" y="6267450"/>
            <a:ext cx="10334625" cy="171450"/>
          </a:xfrm>
          <a:prstGeom prst="rect">
            <a:avLst/>
          </a:prstGeom>
          <a:noFill/>
          <a:ln w="0">
            <a:noFill/>
            <a:prstDash val="solid"/>
          </a:ln>
        </p:spPr>
        <p:txBody>
          <a:bodyPr lIns="0" tIns="0" rIns="0" bIns="0" anchor="ctr">
            <a:noAutofit/>
          </a:bodyPr>
          <a:lstStyle/>
          <a:p>
            <a:pPr algn="l">
              <a:buNone/>
              <a:defRPr sz="750" b="0" i="0">
                <a:solidFill>
                  <a:srgbClr val="4B5563"/>
                </a:solidFill>
              </a:defRPr>
            </a:pPr>
            <a:r>
              <a:rPr sz="750" b="0" i="0">
                <a:solidFill>
                  <a:srgbClr val="4B5563"/>
                </a:solidFill>
              </a:rPr>
              <a:t>Weinstein JN et al. JAMA. 2006;296:2441-2450.</a:t>
            </a:r>
          </a:p>
        </p:txBody>
      </p:sp>
      <p:sp>
        <p:nvSpPr>
          <p:cNvPr id="8" name="num-1">
            <a:extLst>
              <a:ext uri="{FF2B5EF4-FFF2-40B4-BE49-F238E27FC236}">
                <a16:creationId xmlns:a16="http://schemas.microsoft.com/office/drawing/2014/main" id="{710652EB-4FCF-4DAF-BCC5-74253F5E34F9}"/>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01</a:t>
            </a:r>
          </a:p>
        </p:txBody>
      </p:sp>
    </p:spTree>
    <p:extLst>
      <p:ext uri="{BB962C8B-B14F-4D97-AF65-F5344CB8AC3E}">
        <p14:creationId xmlns:p14="http://schemas.microsoft.com/office/powerpoint/2010/main" val="907745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title-2">
            <a:extLst>
              <a:ext uri="{FF2B5EF4-FFF2-40B4-BE49-F238E27FC236}">
                <a16:creationId xmlns:a16="http://schemas.microsoft.com/office/drawing/2014/main" id="{3DB14BE9-EB71-4CEF-BDE8-18A65B921D05}"/>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Patient Inclusion Criteria</a:t>
            </a:r>
          </a:p>
        </p:txBody>
      </p:sp>
      <p:sp>
        <p:nvSpPr>
          <p:cNvPr id="2" name="title-rule-2">
            <a:extLst>
              <a:ext uri="{FF2B5EF4-FFF2-40B4-BE49-F238E27FC236}">
                <a16:creationId xmlns:a16="http://schemas.microsoft.com/office/drawing/2014/main" id="{D97AEAFC-F29A-42CB-BEB3-5B3F6326E105}"/>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16" name="phen-num-0">
            <a:extLst>
              <a:ext uri="{FF2B5EF4-FFF2-40B4-BE49-F238E27FC236}">
                <a16:creationId xmlns:a16="http://schemas.microsoft.com/office/drawing/2014/main" id="{AAB11B9E-67D8-48E1-A6F3-4A523CEEEE1A}"/>
              </a:ext>
            </a:extLst>
          </p:cNvPr>
          <p:cNvSpPr>
            <a:spLocks noGrp="1"/>
          </p:cNvSpPr>
          <p:nvPr/>
        </p:nvSpPr>
        <p:spPr>
          <a:xfrm>
            <a:off x="6038850" y="1681163"/>
            <a:ext cx="457200" cy="342900"/>
          </a:xfrm>
          <a:prstGeom prst="rect">
            <a:avLst/>
          </a:prstGeom>
          <a:noFill/>
          <a:ln w="0">
            <a:noFill/>
            <a:prstDash val="solid"/>
          </a:ln>
        </p:spPr>
        <p:txBody>
          <a:bodyPr lIns="0" tIns="0" rIns="0" bIns="0" anchor="ctr">
            <a:noAutofit/>
          </a:bodyPr>
          <a:lstStyle/>
          <a:p>
            <a:pPr algn="ctr">
              <a:buNone/>
              <a:defRPr sz="1350" b="1" i="0">
                <a:solidFill>
                  <a:srgbClr val="1F4E79"/>
                </a:solidFill>
              </a:defRPr>
            </a:pPr>
            <a:r>
              <a:rPr sz="1350" b="1" i="0">
                <a:solidFill>
                  <a:srgbClr val="1F4E79"/>
                </a:solidFill>
              </a:rPr>
              <a:t>01</a:t>
            </a:r>
          </a:p>
        </p:txBody>
      </p:sp>
      <p:sp>
        <p:nvSpPr>
          <p:cNvPr id="17" name="phen-rule-0">
            <a:extLst>
              <a:ext uri="{FF2B5EF4-FFF2-40B4-BE49-F238E27FC236}">
                <a16:creationId xmlns:a16="http://schemas.microsoft.com/office/drawing/2014/main" id="{7EF63C75-23D9-4C01-891F-FE5437B5BA4D}"/>
              </a:ext>
            </a:extLst>
          </p:cNvPr>
          <p:cNvSpPr>
            <a:spLocks noGrp="1"/>
          </p:cNvSpPr>
          <p:nvPr/>
        </p:nvSpPr>
        <p:spPr>
          <a:xfrm>
            <a:off x="6657975" y="1852613"/>
            <a:ext cx="400050" cy="19050"/>
          </a:xfrm>
          <a:prstGeom prst="rect">
            <a:avLst/>
          </a:prstGeom>
          <a:solidFill>
            <a:srgbClr val="E5E7EB"/>
          </a:solidFill>
          <a:ln w="0">
            <a:solidFill>
              <a:srgbClr val="E5E7EB"/>
            </a:solidFill>
            <a:prstDash val="solid"/>
          </a:ln>
        </p:spPr>
        <p:txBody>
          <a:bodyPr/>
          <a:lstStyle/>
          <a:p>
            <a:endParaRPr/>
          </a:p>
        </p:txBody>
      </p:sp>
      <p:sp>
        <p:nvSpPr>
          <p:cNvPr id="18" name="phen-head-0">
            <a:extLst>
              <a:ext uri="{FF2B5EF4-FFF2-40B4-BE49-F238E27FC236}">
                <a16:creationId xmlns:a16="http://schemas.microsoft.com/office/drawing/2014/main" id="{586E8417-23EE-4B2B-9889-4C50C40DA33C}"/>
              </a:ext>
            </a:extLst>
          </p:cNvPr>
          <p:cNvSpPr>
            <a:spLocks noGrp="1"/>
          </p:cNvSpPr>
          <p:nvPr/>
        </p:nvSpPr>
        <p:spPr>
          <a:xfrm>
            <a:off x="7277100" y="1662113"/>
            <a:ext cx="3905250" cy="30480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Symptoms ≥6 weeks</a:t>
            </a:r>
          </a:p>
        </p:txBody>
      </p:sp>
      <p:sp>
        <p:nvSpPr>
          <p:cNvPr id="19" name="phen-copy-0">
            <a:extLst>
              <a:ext uri="{FF2B5EF4-FFF2-40B4-BE49-F238E27FC236}">
                <a16:creationId xmlns:a16="http://schemas.microsoft.com/office/drawing/2014/main" id="{EA01D4F6-BC2E-4BF2-9EAB-B8FB24B979DA}"/>
              </a:ext>
            </a:extLst>
          </p:cNvPr>
          <p:cNvSpPr>
            <a:spLocks noGrp="1"/>
          </p:cNvSpPr>
          <p:nvPr/>
        </p:nvSpPr>
        <p:spPr>
          <a:xfrm>
            <a:off x="7277100" y="2005013"/>
            <a:ext cx="4000500" cy="323850"/>
          </a:xfrm>
          <a:prstGeom prst="rect">
            <a:avLst/>
          </a:prstGeom>
          <a:noFill/>
          <a:ln w="0">
            <a:noFill/>
            <a:prstDash val="solid"/>
          </a:ln>
        </p:spPr>
        <p:txBody>
          <a:bodyPr lIns="0" tIns="0" rIns="0" bIns="0" anchor="ctr">
            <a:noAutofit/>
          </a:bodyPr>
          <a:lstStyle/>
          <a:p>
            <a:pPr algn="l">
              <a:buNone/>
              <a:defRPr sz="1350" b="0" i="0">
                <a:solidFill>
                  <a:srgbClr val="4B5563"/>
                </a:solidFill>
              </a:defRPr>
            </a:pPr>
            <a:r>
              <a:rPr sz="1350">
                <a:solidFill>
                  <a:srgbClr val="4B5563"/>
                </a:solidFill>
              </a:rPr>
              <a:t>P</a:t>
            </a:r>
            <a:r>
              <a:rPr sz="1350" b="0" i="0">
                <a:solidFill>
                  <a:srgbClr val="4B5563"/>
                </a:solidFill>
              </a:rPr>
              <a:t>ersistent </a:t>
            </a:r>
            <a:r>
              <a:rPr sz="1350">
                <a:solidFill>
                  <a:srgbClr val="4B5563"/>
                </a:solidFill>
              </a:rPr>
              <a:t>L</a:t>
            </a:r>
            <a:r>
              <a:rPr sz="1350" b="0" i="0">
                <a:solidFill>
                  <a:srgbClr val="4B5563"/>
                </a:solidFill>
              </a:rPr>
              <a:t>umbar </a:t>
            </a:r>
            <a:r>
              <a:rPr sz="1350">
                <a:solidFill>
                  <a:srgbClr val="4B5563"/>
                </a:solidFill>
              </a:rPr>
              <a:t>R</a:t>
            </a:r>
            <a:r>
              <a:rPr sz="1350" b="0" i="0">
                <a:solidFill>
                  <a:srgbClr val="4B5563"/>
                </a:solidFill>
              </a:rPr>
              <a:t>adiculopathy</a:t>
            </a:r>
          </a:p>
        </p:txBody>
      </p:sp>
      <p:sp>
        <p:nvSpPr>
          <p:cNvPr id="20" name="phen-num-1">
            <a:extLst>
              <a:ext uri="{FF2B5EF4-FFF2-40B4-BE49-F238E27FC236}">
                <a16:creationId xmlns:a16="http://schemas.microsoft.com/office/drawing/2014/main" id="{E79413A2-77FA-4FA2-9E8B-D4BB86ABC247}"/>
              </a:ext>
            </a:extLst>
          </p:cNvPr>
          <p:cNvSpPr>
            <a:spLocks noGrp="1"/>
          </p:cNvSpPr>
          <p:nvPr/>
        </p:nvSpPr>
        <p:spPr>
          <a:xfrm>
            <a:off x="6038850" y="2538413"/>
            <a:ext cx="457200" cy="342900"/>
          </a:xfrm>
          <a:prstGeom prst="rect">
            <a:avLst/>
          </a:prstGeom>
          <a:noFill/>
          <a:ln w="0">
            <a:noFill/>
            <a:prstDash val="solid"/>
          </a:ln>
        </p:spPr>
        <p:txBody>
          <a:bodyPr lIns="0" tIns="0" rIns="0" bIns="0" anchor="ctr">
            <a:noAutofit/>
          </a:bodyPr>
          <a:lstStyle/>
          <a:p>
            <a:pPr algn="ctr">
              <a:buNone/>
              <a:defRPr sz="1350" b="1" i="0">
                <a:solidFill>
                  <a:srgbClr val="1F4E79"/>
                </a:solidFill>
              </a:defRPr>
            </a:pPr>
            <a:r>
              <a:rPr sz="1350" b="1" i="0">
                <a:solidFill>
                  <a:srgbClr val="1F4E79"/>
                </a:solidFill>
              </a:rPr>
              <a:t>02</a:t>
            </a:r>
          </a:p>
        </p:txBody>
      </p:sp>
      <p:sp>
        <p:nvSpPr>
          <p:cNvPr id="21" name="phen-rule-1">
            <a:extLst>
              <a:ext uri="{FF2B5EF4-FFF2-40B4-BE49-F238E27FC236}">
                <a16:creationId xmlns:a16="http://schemas.microsoft.com/office/drawing/2014/main" id="{1916DE76-603C-41B9-97BA-DFA843E504A8}"/>
              </a:ext>
            </a:extLst>
          </p:cNvPr>
          <p:cNvSpPr>
            <a:spLocks noGrp="1"/>
          </p:cNvSpPr>
          <p:nvPr/>
        </p:nvSpPr>
        <p:spPr>
          <a:xfrm>
            <a:off x="6657975" y="2709863"/>
            <a:ext cx="400050" cy="19050"/>
          </a:xfrm>
          <a:prstGeom prst="rect">
            <a:avLst/>
          </a:prstGeom>
          <a:solidFill>
            <a:srgbClr val="E5E7EB"/>
          </a:solidFill>
          <a:ln w="0">
            <a:solidFill>
              <a:srgbClr val="E5E7EB"/>
            </a:solidFill>
            <a:prstDash val="solid"/>
          </a:ln>
        </p:spPr>
        <p:txBody>
          <a:bodyPr/>
          <a:lstStyle/>
          <a:p>
            <a:endParaRPr/>
          </a:p>
        </p:txBody>
      </p:sp>
      <p:sp>
        <p:nvSpPr>
          <p:cNvPr id="22" name="phen-head-1">
            <a:extLst>
              <a:ext uri="{FF2B5EF4-FFF2-40B4-BE49-F238E27FC236}">
                <a16:creationId xmlns:a16="http://schemas.microsoft.com/office/drawing/2014/main" id="{294D67BF-014B-4176-8021-BA86EA1A8E49}"/>
              </a:ext>
            </a:extLst>
          </p:cNvPr>
          <p:cNvSpPr>
            <a:spLocks noGrp="1"/>
          </p:cNvSpPr>
          <p:nvPr/>
        </p:nvSpPr>
        <p:spPr>
          <a:xfrm>
            <a:off x="7277100" y="2519363"/>
            <a:ext cx="3905250" cy="30480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Concordant Examination</a:t>
            </a:r>
          </a:p>
        </p:txBody>
      </p:sp>
      <p:sp>
        <p:nvSpPr>
          <p:cNvPr id="23" name="phen-copy-1">
            <a:extLst>
              <a:ext uri="{FF2B5EF4-FFF2-40B4-BE49-F238E27FC236}">
                <a16:creationId xmlns:a16="http://schemas.microsoft.com/office/drawing/2014/main" id="{83FCBD13-B07F-4C69-B8D0-B4E7487C432F}"/>
              </a:ext>
            </a:extLst>
          </p:cNvPr>
          <p:cNvSpPr>
            <a:spLocks noGrp="1"/>
          </p:cNvSpPr>
          <p:nvPr/>
        </p:nvSpPr>
        <p:spPr>
          <a:xfrm>
            <a:off x="7277100" y="2862263"/>
            <a:ext cx="4000500" cy="323850"/>
          </a:xfrm>
          <a:prstGeom prst="rect">
            <a:avLst/>
          </a:prstGeom>
          <a:noFill/>
          <a:ln w="0">
            <a:noFill/>
            <a:prstDash val="solid"/>
          </a:ln>
        </p:spPr>
        <p:txBody>
          <a:bodyPr lIns="0" tIns="0" rIns="0" bIns="0" anchor="ctr">
            <a:noAutofit/>
          </a:bodyPr>
          <a:lstStyle/>
          <a:p>
            <a:pPr algn="l">
              <a:buNone/>
              <a:defRPr sz="1350" b="0" i="0">
                <a:solidFill>
                  <a:srgbClr val="4B5563"/>
                </a:solidFill>
              </a:defRPr>
            </a:pPr>
            <a:r>
              <a:rPr sz="1350">
                <a:solidFill>
                  <a:srgbClr val="4B5563"/>
                </a:solidFill>
              </a:rPr>
              <a:t>R</a:t>
            </a:r>
            <a:r>
              <a:rPr sz="1350" b="0" i="0">
                <a:solidFill>
                  <a:srgbClr val="4B5563"/>
                </a:solidFill>
              </a:rPr>
              <a:t>oot-Tension </a:t>
            </a:r>
            <a:r>
              <a:rPr sz="1350">
                <a:solidFill>
                  <a:srgbClr val="4B5563"/>
                </a:solidFill>
              </a:rPr>
              <a:t>S</a:t>
            </a:r>
            <a:r>
              <a:rPr sz="1350" b="0" i="0">
                <a:solidFill>
                  <a:srgbClr val="4B5563"/>
                </a:solidFill>
              </a:rPr>
              <a:t>ign or Neurologic </a:t>
            </a:r>
            <a:r>
              <a:rPr sz="1350">
                <a:solidFill>
                  <a:srgbClr val="4B5563"/>
                </a:solidFill>
              </a:rPr>
              <a:t>D</a:t>
            </a:r>
            <a:r>
              <a:rPr sz="1350" b="0" i="0">
                <a:solidFill>
                  <a:srgbClr val="4B5563"/>
                </a:solidFill>
              </a:rPr>
              <a:t>eficit</a:t>
            </a:r>
          </a:p>
        </p:txBody>
      </p:sp>
      <p:sp>
        <p:nvSpPr>
          <p:cNvPr id="24" name="phen-num-2">
            <a:extLst>
              <a:ext uri="{FF2B5EF4-FFF2-40B4-BE49-F238E27FC236}">
                <a16:creationId xmlns:a16="http://schemas.microsoft.com/office/drawing/2014/main" id="{0A84D9A2-84A2-4545-9575-19093CC405AE}"/>
              </a:ext>
            </a:extLst>
          </p:cNvPr>
          <p:cNvSpPr>
            <a:spLocks noGrp="1"/>
          </p:cNvSpPr>
          <p:nvPr/>
        </p:nvSpPr>
        <p:spPr>
          <a:xfrm>
            <a:off x="6038850" y="3395663"/>
            <a:ext cx="457200" cy="342900"/>
          </a:xfrm>
          <a:prstGeom prst="rect">
            <a:avLst/>
          </a:prstGeom>
          <a:noFill/>
          <a:ln w="0">
            <a:noFill/>
            <a:prstDash val="solid"/>
          </a:ln>
        </p:spPr>
        <p:txBody>
          <a:bodyPr lIns="0" tIns="0" rIns="0" bIns="0" anchor="ctr">
            <a:noAutofit/>
          </a:bodyPr>
          <a:lstStyle/>
          <a:p>
            <a:pPr algn="ctr">
              <a:buNone/>
              <a:defRPr sz="1350" b="1" i="0">
                <a:solidFill>
                  <a:srgbClr val="1F4E79"/>
                </a:solidFill>
              </a:defRPr>
            </a:pPr>
            <a:r>
              <a:rPr sz="1350" b="1" i="0">
                <a:solidFill>
                  <a:srgbClr val="1F4E79"/>
                </a:solidFill>
              </a:rPr>
              <a:t>03</a:t>
            </a:r>
          </a:p>
        </p:txBody>
      </p:sp>
      <p:sp>
        <p:nvSpPr>
          <p:cNvPr id="25" name="phen-rule-2">
            <a:extLst>
              <a:ext uri="{FF2B5EF4-FFF2-40B4-BE49-F238E27FC236}">
                <a16:creationId xmlns:a16="http://schemas.microsoft.com/office/drawing/2014/main" id="{5BA6B3A5-2315-48E2-9AEE-467FE13F198F}"/>
              </a:ext>
            </a:extLst>
          </p:cNvPr>
          <p:cNvSpPr>
            <a:spLocks noGrp="1"/>
          </p:cNvSpPr>
          <p:nvPr/>
        </p:nvSpPr>
        <p:spPr>
          <a:xfrm>
            <a:off x="6657975" y="3567113"/>
            <a:ext cx="400050" cy="19050"/>
          </a:xfrm>
          <a:prstGeom prst="rect">
            <a:avLst/>
          </a:prstGeom>
          <a:solidFill>
            <a:srgbClr val="E5E7EB"/>
          </a:solidFill>
          <a:ln w="0">
            <a:solidFill>
              <a:srgbClr val="E5E7EB"/>
            </a:solidFill>
            <a:prstDash val="solid"/>
          </a:ln>
        </p:spPr>
        <p:txBody>
          <a:bodyPr/>
          <a:lstStyle/>
          <a:p>
            <a:endParaRPr/>
          </a:p>
        </p:txBody>
      </p:sp>
      <p:sp>
        <p:nvSpPr>
          <p:cNvPr id="26" name="phen-head-2">
            <a:extLst>
              <a:ext uri="{FF2B5EF4-FFF2-40B4-BE49-F238E27FC236}">
                <a16:creationId xmlns:a16="http://schemas.microsoft.com/office/drawing/2014/main" id="{04D86C4F-DE66-48F7-ABB9-151F1B8A6233}"/>
              </a:ext>
            </a:extLst>
          </p:cNvPr>
          <p:cNvSpPr>
            <a:spLocks noGrp="1"/>
          </p:cNvSpPr>
          <p:nvPr/>
        </p:nvSpPr>
        <p:spPr>
          <a:xfrm>
            <a:off x="7277100" y="3376613"/>
            <a:ext cx="3905250" cy="30480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Concordant Imaging</a:t>
            </a:r>
          </a:p>
        </p:txBody>
      </p:sp>
      <p:sp>
        <p:nvSpPr>
          <p:cNvPr id="27" name="phen-copy-2">
            <a:extLst>
              <a:ext uri="{FF2B5EF4-FFF2-40B4-BE49-F238E27FC236}">
                <a16:creationId xmlns:a16="http://schemas.microsoft.com/office/drawing/2014/main" id="{BC38DBC5-0DEA-4EBB-BA4B-D0BBE2E64CD3}"/>
              </a:ext>
            </a:extLst>
          </p:cNvPr>
          <p:cNvSpPr>
            <a:spLocks noGrp="1"/>
          </p:cNvSpPr>
          <p:nvPr/>
        </p:nvSpPr>
        <p:spPr>
          <a:xfrm>
            <a:off x="7277100" y="3719513"/>
            <a:ext cx="4000500" cy="323850"/>
          </a:xfrm>
          <a:prstGeom prst="rect">
            <a:avLst/>
          </a:prstGeom>
          <a:noFill/>
          <a:ln w="0">
            <a:noFill/>
            <a:prstDash val="solid"/>
          </a:ln>
        </p:spPr>
        <p:txBody>
          <a:bodyPr lIns="0" tIns="0" rIns="0" bIns="0" anchor="ctr">
            <a:noAutofit/>
          </a:bodyPr>
          <a:lstStyle/>
          <a:p>
            <a:pPr algn="l">
              <a:buNone/>
              <a:defRPr sz="1350" b="0" i="0">
                <a:solidFill>
                  <a:srgbClr val="4B5563"/>
                </a:solidFill>
              </a:defRPr>
            </a:pPr>
            <a:r>
              <a:rPr sz="1350">
                <a:solidFill>
                  <a:srgbClr val="4B5563"/>
                </a:solidFill>
              </a:rPr>
              <a:t>D</a:t>
            </a:r>
            <a:r>
              <a:rPr sz="1350" b="0" i="0">
                <a:solidFill>
                  <a:srgbClr val="4B5563"/>
                </a:solidFill>
              </a:rPr>
              <a:t>isc </a:t>
            </a:r>
            <a:r>
              <a:rPr sz="1350">
                <a:solidFill>
                  <a:srgbClr val="4B5563"/>
                </a:solidFill>
              </a:rPr>
              <a:t>L</a:t>
            </a:r>
            <a:r>
              <a:rPr sz="1350" b="0" i="0">
                <a:solidFill>
                  <a:srgbClr val="4B5563"/>
                </a:solidFill>
              </a:rPr>
              <a:t>evel and Side </a:t>
            </a:r>
            <a:r>
              <a:rPr sz="1350">
                <a:solidFill>
                  <a:srgbClr val="4B5563"/>
                </a:solidFill>
              </a:rPr>
              <a:t>M</a:t>
            </a:r>
            <a:r>
              <a:rPr sz="1350" b="0" i="0">
                <a:solidFill>
                  <a:srgbClr val="4B5563"/>
                </a:solidFill>
              </a:rPr>
              <a:t>atch Clinical Exam</a:t>
            </a:r>
          </a:p>
        </p:txBody>
      </p:sp>
      <p:sp>
        <p:nvSpPr>
          <p:cNvPr id="28" name="phen-num-3">
            <a:extLst>
              <a:ext uri="{FF2B5EF4-FFF2-40B4-BE49-F238E27FC236}">
                <a16:creationId xmlns:a16="http://schemas.microsoft.com/office/drawing/2014/main" id="{3916A394-EDA0-43FE-B919-8FE8FDF596BE}"/>
              </a:ext>
            </a:extLst>
          </p:cNvPr>
          <p:cNvSpPr>
            <a:spLocks noGrp="1"/>
          </p:cNvSpPr>
          <p:nvPr/>
        </p:nvSpPr>
        <p:spPr>
          <a:xfrm>
            <a:off x="6038850" y="4252913"/>
            <a:ext cx="457200" cy="342900"/>
          </a:xfrm>
          <a:prstGeom prst="rect">
            <a:avLst/>
          </a:prstGeom>
          <a:noFill/>
          <a:ln w="0">
            <a:noFill/>
            <a:prstDash val="solid"/>
          </a:ln>
        </p:spPr>
        <p:txBody>
          <a:bodyPr lIns="0" tIns="0" rIns="0" bIns="0" anchor="ctr">
            <a:noAutofit/>
          </a:bodyPr>
          <a:lstStyle/>
          <a:p>
            <a:pPr algn="ctr">
              <a:buNone/>
              <a:defRPr sz="1350" b="1" i="0">
                <a:solidFill>
                  <a:srgbClr val="1F4E79"/>
                </a:solidFill>
              </a:defRPr>
            </a:pPr>
            <a:r>
              <a:rPr sz="1350" b="1" i="0">
                <a:solidFill>
                  <a:srgbClr val="1F4E79"/>
                </a:solidFill>
              </a:rPr>
              <a:t>04</a:t>
            </a:r>
          </a:p>
        </p:txBody>
      </p:sp>
      <p:sp>
        <p:nvSpPr>
          <p:cNvPr id="29" name="phen-rule-3">
            <a:extLst>
              <a:ext uri="{FF2B5EF4-FFF2-40B4-BE49-F238E27FC236}">
                <a16:creationId xmlns:a16="http://schemas.microsoft.com/office/drawing/2014/main" id="{BDED48C5-82EC-4BB9-998F-44FEA8800195}"/>
              </a:ext>
            </a:extLst>
          </p:cNvPr>
          <p:cNvSpPr>
            <a:spLocks noGrp="1"/>
          </p:cNvSpPr>
          <p:nvPr/>
        </p:nvSpPr>
        <p:spPr>
          <a:xfrm>
            <a:off x="6657975" y="4424363"/>
            <a:ext cx="400050" cy="19050"/>
          </a:xfrm>
          <a:prstGeom prst="rect">
            <a:avLst/>
          </a:prstGeom>
          <a:solidFill>
            <a:srgbClr val="E5E7EB"/>
          </a:solidFill>
          <a:ln w="0">
            <a:solidFill>
              <a:srgbClr val="E5E7EB"/>
            </a:solidFill>
            <a:prstDash val="solid"/>
          </a:ln>
        </p:spPr>
        <p:txBody>
          <a:bodyPr/>
          <a:lstStyle/>
          <a:p>
            <a:endParaRPr/>
          </a:p>
        </p:txBody>
      </p:sp>
      <p:sp>
        <p:nvSpPr>
          <p:cNvPr id="30" name="phen-head-3">
            <a:extLst>
              <a:ext uri="{FF2B5EF4-FFF2-40B4-BE49-F238E27FC236}">
                <a16:creationId xmlns:a16="http://schemas.microsoft.com/office/drawing/2014/main" id="{11FE6587-4A94-41DC-8676-DA0B3CAC2427}"/>
              </a:ext>
            </a:extLst>
          </p:cNvPr>
          <p:cNvSpPr>
            <a:spLocks noGrp="1"/>
          </p:cNvSpPr>
          <p:nvPr/>
        </p:nvSpPr>
        <p:spPr>
          <a:xfrm>
            <a:off x="7277100" y="4233863"/>
            <a:ext cx="3905250" cy="30480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Elective Candidate</a:t>
            </a:r>
          </a:p>
        </p:txBody>
      </p:sp>
      <p:sp>
        <p:nvSpPr>
          <p:cNvPr id="31" name="phen-copy-3">
            <a:extLst>
              <a:ext uri="{FF2B5EF4-FFF2-40B4-BE49-F238E27FC236}">
                <a16:creationId xmlns:a16="http://schemas.microsoft.com/office/drawing/2014/main" id="{B6C21C59-14C0-470A-A1A4-57B4E9FDE993}"/>
              </a:ext>
            </a:extLst>
          </p:cNvPr>
          <p:cNvSpPr>
            <a:spLocks noGrp="1"/>
          </p:cNvSpPr>
          <p:nvPr/>
        </p:nvSpPr>
        <p:spPr>
          <a:xfrm>
            <a:off x="7277100" y="4576763"/>
            <a:ext cx="4000500" cy="323850"/>
          </a:xfrm>
          <a:prstGeom prst="rect">
            <a:avLst/>
          </a:prstGeom>
          <a:noFill/>
          <a:ln w="0">
            <a:noFill/>
            <a:prstDash val="solid"/>
          </a:ln>
        </p:spPr>
        <p:txBody>
          <a:bodyPr lIns="0" tIns="0" rIns="0" bIns="0" anchor="ctr">
            <a:noAutofit/>
          </a:bodyPr>
          <a:lstStyle/>
          <a:p>
            <a:pPr algn="l">
              <a:buNone/>
              <a:defRPr sz="1350" b="0" i="0">
                <a:solidFill>
                  <a:srgbClr val="4B5563"/>
                </a:solidFill>
              </a:defRPr>
            </a:pPr>
            <a:r>
              <a:rPr sz="1350" b="0" i="0">
                <a:solidFill>
                  <a:srgbClr val="4B5563"/>
                </a:solidFill>
              </a:rPr>
              <a:t>Not a Neurosurgical or Medical Emergency</a:t>
            </a:r>
          </a:p>
        </p:txBody>
      </p:sp>
      <p:sp>
        <p:nvSpPr>
          <p:cNvPr id="34" name="footer-rule-2">
            <a:extLst>
              <a:ext uri="{FF2B5EF4-FFF2-40B4-BE49-F238E27FC236}">
                <a16:creationId xmlns:a16="http://schemas.microsoft.com/office/drawing/2014/main" id="{B5F6A59B-44E5-46F6-ACD5-AF63E846AD09}"/>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36" name="num-2">
            <a:extLst>
              <a:ext uri="{FF2B5EF4-FFF2-40B4-BE49-F238E27FC236}">
                <a16:creationId xmlns:a16="http://schemas.microsoft.com/office/drawing/2014/main" id="{7BDE7CD8-F62B-4B40-A38D-A5F845D594FD}"/>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02</a:t>
            </a:r>
          </a:p>
        </p:txBody>
      </p:sp>
      <p:pic>
        <p:nvPicPr>
          <p:cNvPr id="59" name="Picture 2"/>
          <p:cNvPicPr>
            <a:picLocks noChangeAspect="1"/>
          </p:cNvPicPr>
          <p:nvPr/>
        </p:nvPicPr>
        <p:blipFill>
          <a:blip r:embed="rId3"/>
          <a:srcRect/>
          <a:stretch>
            <a:fillRect/>
          </a:stretch>
        </p:blipFill>
        <p:spPr>
          <a:xfrm>
            <a:off x="1753792" y="1269206"/>
            <a:ext cx="3161109" cy="4214812"/>
          </a:xfrm>
          <a:prstGeom prst="rect">
            <a:avLst/>
          </a:prstGeom>
        </p:spPr>
      </p:pic>
    </p:spTree>
    <p:extLst>
      <p:ext uri="{BB962C8B-B14F-4D97-AF65-F5344CB8AC3E}">
        <p14:creationId xmlns:p14="http://schemas.microsoft.com/office/powerpoint/2010/main" val="357923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itle-3">
            <a:extLst>
              <a:ext uri="{FF2B5EF4-FFF2-40B4-BE49-F238E27FC236}">
                <a16:creationId xmlns:a16="http://schemas.microsoft.com/office/drawing/2014/main" id="{A28CD5DF-F95F-4EB1-B8D4-83F8D2D75B29}"/>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a:solidFill>
                  <a:srgbClr val="111827"/>
                </a:solidFill>
              </a:rPr>
              <a:t>Randomized vs. Observational: Treatment Allocation</a:t>
            </a:r>
          </a:p>
        </p:txBody>
      </p:sp>
      <p:sp>
        <p:nvSpPr>
          <p:cNvPr id="2" name="title-rule-3">
            <a:extLst>
              <a:ext uri="{FF2B5EF4-FFF2-40B4-BE49-F238E27FC236}">
                <a16:creationId xmlns:a16="http://schemas.microsoft.com/office/drawing/2014/main" id="{C47E7D96-5601-43B0-89E0-33B57E383AB3}"/>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eligible-label">
            <a:extLst>
              <a:ext uri="{FF2B5EF4-FFF2-40B4-BE49-F238E27FC236}">
                <a16:creationId xmlns:a16="http://schemas.microsoft.com/office/drawing/2014/main" id="{34D0F2E5-5C99-4E26-B6DB-ADEA5E437D96}"/>
              </a:ext>
            </a:extLst>
          </p:cNvPr>
          <p:cNvSpPr>
            <a:spLocks noGrp="1"/>
          </p:cNvSpPr>
          <p:nvPr/>
        </p:nvSpPr>
        <p:spPr>
          <a:xfrm>
            <a:off x="5203105" y="1633538"/>
            <a:ext cx="1785790" cy="285750"/>
          </a:xfrm>
          <a:prstGeom prst="rect">
            <a:avLst/>
          </a:prstGeom>
          <a:noFill/>
          <a:ln w="0">
            <a:noFill/>
            <a:prstDash val="solid"/>
          </a:ln>
        </p:spPr>
        <p:txBody>
          <a:bodyPr lIns="0" tIns="0" rIns="0" bIns="0" anchor="ctr">
            <a:noAutofit/>
          </a:bodyPr>
          <a:lstStyle/>
          <a:p>
            <a:pPr algn="l">
              <a:buNone/>
              <a:defRPr sz="1350" b="1" i="0">
                <a:solidFill>
                  <a:srgbClr val="1F4E79"/>
                </a:solidFill>
              </a:defRPr>
            </a:pPr>
            <a:r>
              <a:rPr sz="1350" b="1" i="0">
                <a:solidFill>
                  <a:srgbClr val="1F4E79"/>
                </a:solidFill>
              </a:rPr>
              <a:t>1,991 ELIGIBLE PATIENTS</a:t>
            </a:r>
          </a:p>
        </p:txBody>
      </p:sp>
      <p:sp>
        <p:nvSpPr>
          <p:cNvPr id="5" name="enrolled-n">
            <a:extLst>
              <a:ext uri="{FF2B5EF4-FFF2-40B4-BE49-F238E27FC236}">
                <a16:creationId xmlns:a16="http://schemas.microsoft.com/office/drawing/2014/main" id="{EED17A9D-4BDF-4DDB-A40C-7A4E39F835E7}"/>
              </a:ext>
            </a:extLst>
          </p:cNvPr>
          <p:cNvSpPr>
            <a:spLocks noGrp="1"/>
          </p:cNvSpPr>
          <p:nvPr/>
        </p:nvSpPr>
        <p:spPr>
          <a:xfrm>
            <a:off x="5476875" y="2062163"/>
            <a:ext cx="1238250" cy="476250"/>
          </a:xfrm>
          <a:prstGeom prst="rect">
            <a:avLst/>
          </a:prstGeom>
          <a:noFill/>
          <a:ln w="0">
            <a:noFill/>
            <a:prstDash val="solid"/>
          </a:ln>
        </p:spPr>
        <p:txBody>
          <a:bodyPr lIns="0" tIns="0" rIns="0" bIns="0" anchor="ctr">
            <a:noAutofit/>
          </a:bodyPr>
          <a:lstStyle/>
          <a:p>
            <a:pPr algn="ctr">
              <a:buNone/>
              <a:defRPr sz="3000" b="1" i="0">
                <a:solidFill>
                  <a:srgbClr val="1F4E79"/>
                </a:solidFill>
              </a:defRPr>
            </a:pPr>
            <a:r>
              <a:rPr sz="3000" b="1" i="0">
                <a:solidFill>
                  <a:srgbClr val="1F4E79"/>
                </a:solidFill>
              </a:rPr>
              <a:t>1,244</a:t>
            </a:r>
          </a:p>
        </p:txBody>
      </p:sp>
      <p:sp>
        <p:nvSpPr>
          <p:cNvPr id="6" name="enrolled-label">
            <a:extLst>
              <a:ext uri="{FF2B5EF4-FFF2-40B4-BE49-F238E27FC236}">
                <a16:creationId xmlns:a16="http://schemas.microsoft.com/office/drawing/2014/main" id="{617E629A-4A4A-40C6-8C47-1BB073DAA06B}"/>
              </a:ext>
            </a:extLst>
          </p:cNvPr>
          <p:cNvSpPr>
            <a:spLocks noGrp="1"/>
          </p:cNvSpPr>
          <p:nvPr/>
        </p:nvSpPr>
        <p:spPr>
          <a:xfrm>
            <a:off x="5776912" y="2447925"/>
            <a:ext cx="1428750" cy="285750"/>
          </a:xfrm>
          <a:prstGeom prst="rect">
            <a:avLst/>
          </a:prstGeom>
          <a:noFill/>
          <a:ln w="0">
            <a:noFill/>
            <a:prstDash val="solid"/>
          </a:ln>
        </p:spPr>
        <p:txBody>
          <a:bodyPr lIns="0" tIns="0" rIns="0" bIns="0" anchor="ctr">
            <a:noAutofit/>
          </a:bodyPr>
          <a:lstStyle/>
          <a:p>
            <a:pPr algn="l">
              <a:buNone/>
              <a:defRPr sz="1050" b="1" i="0">
                <a:solidFill>
                  <a:srgbClr val="4B5563"/>
                </a:solidFill>
              </a:defRPr>
            </a:pPr>
            <a:r>
              <a:rPr sz="1200" b="1" i="0">
                <a:solidFill>
                  <a:srgbClr val="4B5563"/>
                </a:solidFill>
              </a:rPr>
              <a:t>ENROLLED</a:t>
            </a:r>
          </a:p>
        </p:txBody>
      </p:sp>
      <p:sp>
        <p:nvSpPr>
          <p:cNvPr id="7" name="branch-down">
            <a:extLst>
              <a:ext uri="{FF2B5EF4-FFF2-40B4-BE49-F238E27FC236}">
                <a16:creationId xmlns:a16="http://schemas.microsoft.com/office/drawing/2014/main" id="{3C0A42BA-529B-4C82-B846-301997DD8B22}"/>
              </a:ext>
            </a:extLst>
          </p:cNvPr>
          <p:cNvSpPr>
            <a:spLocks noGrp="1"/>
          </p:cNvSpPr>
          <p:nvPr/>
        </p:nvSpPr>
        <p:spPr>
          <a:xfrm>
            <a:off x="6076950" y="2800350"/>
            <a:ext cx="19050" cy="619125"/>
          </a:xfrm>
          <a:prstGeom prst="rect">
            <a:avLst/>
          </a:prstGeom>
          <a:solidFill>
            <a:srgbClr val="E5E7EB"/>
          </a:solidFill>
          <a:ln w="0">
            <a:solidFill>
              <a:srgbClr val="E5E7EB"/>
            </a:solidFill>
            <a:prstDash val="solid"/>
          </a:ln>
        </p:spPr>
        <p:txBody>
          <a:bodyPr/>
          <a:lstStyle/>
          <a:p>
            <a:endParaRPr/>
          </a:p>
        </p:txBody>
      </p:sp>
      <p:sp>
        <p:nvSpPr>
          <p:cNvPr id="8" name="branch-wide">
            <a:extLst>
              <a:ext uri="{FF2B5EF4-FFF2-40B4-BE49-F238E27FC236}">
                <a16:creationId xmlns:a16="http://schemas.microsoft.com/office/drawing/2014/main" id="{22647384-6D65-4F74-AF54-ACDF95B84AB9}"/>
              </a:ext>
            </a:extLst>
          </p:cNvPr>
          <p:cNvSpPr>
            <a:spLocks noGrp="1"/>
          </p:cNvSpPr>
          <p:nvPr/>
        </p:nvSpPr>
        <p:spPr>
          <a:xfrm>
            <a:off x="3048000" y="3409950"/>
            <a:ext cx="6096000" cy="19050"/>
          </a:xfrm>
          <a:prstGeom prst="rect">
            <a:avLst/>
          </a:prstGeom>
          <a:solidFill>
            <a:srgbClr val="E5E7EB"/>
          </a:solidFill>
          <a:ln w="0">
            <a:solidFill>
              <a:srgbClr val="E5E7EB"/>
            </a:solidFill>
            <a:prstDash val="solid"/>
          </a:ln>
        </p:spPr>
        <p:txBody>
          <a:bodyPr/>
          <a:lstStyle/>
          <a:p>
            <a:endParaRPr/>
          </a:p>
        </p:txBody>
      </p:sp>
      <p:sp>
        <p:nvSpPr>
          <p:cNvPr id="9" name="branch-left">
            <a:extLst>
              <a:ext uri="{FF2B5EF4-FFF2-40B4-BE49-F238E27FC236}">
                <a16:creationId xmlns:a16="http://schemas.microsoft.com/office/drawing/2014/main" id="{97D2D61E-D35A-4FE3-B6C5-9EEA43FC3AC9}"/>
              </a:ext>
            </a:extLst>
          </p:cNvPr>
          <p:cNvSpPr>
            <a:spLocks noGrp="1"/>
          </p:cNvSpPr>
          <p:nvPr/>
        </p:nvSpPr>
        <p:spPr>
          <a:xfrm>
            <a:off x="3048000" y="3409950"/>
            <a:ext cx="19050" cy="323850"/>
          </a:xfrm>
          <a:prstGeom prst="rect">
            <a:avLst/>
          </a:prstGeom>
          <a:solidFill>
            <a:srgbClr val="E5E7EB"/>
          </a:solidFill>
          <a:ln w="0">
            <a:solidFill>
              <a:srgbClr val="E5E7EB"/>
            </a:solidFill>
            <a:prstDash val="solid"/>
          </a:ln>
        </p:spPr>
        <p:txBody>
          <a:bodyPr/>
          <a:lstStyle/>
          <a:p>
            <a:endParaRPr/>
          </a:p>
        </p:txBody>
      </p:sp>
      <p:sp>
        <p:nvSpPr>
          <p:cNvPr id="10" name="branch-right">
            <a:extLst>
              <a:ext uri="{FF2B5EF4-FFF2-40B4-BE49-F238E27FC236}">
                <a16:creationId xmlns:a16="http://schemas.microsoft.com/office/drawing/2014/main" id="{ED185514-784E-4B07-9275-6DCA13422CD7}"/>
              </a:ext>
            </a:extLst>
          </p:cNvPr>
          <p:cNvSpPr>
            <a:spLocks noGrp="1"/>
          </p:cNvSpPr>
          <p:nvPr/>
        </p:nvSpPr>
        <p:spPr>
          <a:xfrm>
            <a:off x="9124950" y="3409950"/>
            <a:ext cx="19050" cy="323850"/>
          </a:xfrm>
          <a:prstGeom prst="rect">
            <a:avLst/>
          </a:prstGeom>
          <a:solidFill>
            <a:srgbClr val="E5E7EB"/>
          </a:solidFill>
          <a:ln w="0">
            <a:solidFill>
              <a:srgbClr val="E5E7EB"/>
            </a:solidFill>
            <a:prstDash val="solid"/>
          </a:ln>
        </p:spPr>
        <p:txBody>
          <a:bodyPr/>
          <a:lstStyle/>
          <a:p>
            <a:endParaRPr/>
          </a:p>
        </p:txBody>
      </p:sp>
      <p:sp>
        <p:nvSpPr>
          <p:cNvPr id="12" name="randomized-n">
            <a:extLst>
              <a:ext uri="{FF2B5EF4-FFF2-40B4-BE49-F238E27FC236}">
                <a16:creationId xmlns:a16="http://schemas.microsoft.com/office/drawing/2014/main" id="{A4B23EAB-23B7-4C06-A58F-42CE948B0FA8}"/>
              </a:ext>
            </a:extLst>
          </p:cNvPr>
          <p:cNvSpPr>
            <a:spLocks noGrp="1"/>
          </p:cNvSpPr>
          <p:nvPr/>
        </p:nvSpPr>
        <p:spPr>
          <a:xfrm>
            <a:off x="2734509" y="3797824"/>
            <a:ext cx="665081" cy="571500"/>
          </a:xfrm>
          <a:prstGeom prst="rect">
            <a:avLst/>
          </a:prstGeom>
          <a:noFill/>
          <a:ln w="0">
            <a:noFill/>
            <a:prstDash val="solid"/>
          </a:ln>
        </p:spPr>
        <p:txBody>
          <a:bodyPr lIns="0" tIns="0" rIns="0" bIns="0" anchor="ctr">
            <a:noAutofit/>
          </a:bodyPr>
          <a:lstStyle/>
          <a:p>
            <a:pPr algn="l">
              <a:buNone/>
              <a:defRPr sz="3300" b="1" i="0">
                <a:solidFill>
                  <a:srgbClr val="1F4E79"/>
                </a:solidFill>
              </a:defRPr>
            </a:pPr>
            <a:r>
              <a:rPr sz="3300" b="1" i="0">
                <a:solidFill>
                  <a:srgbClr val="1F4E79"/>
                </a:solidFill>
              </a:rPr>
              <a:t>501</a:t>
            </a:r>
          </a:p>
        </p:txBody>
      </p:sp>
      <p:sp>
        <p:nvSpPr>
          <p:cNvPr id="13" name="randomized-label">
            <a:extLst>
              <a:ext uri="{FF2B5EF4-FFF2-40B4-BE49-F238E27FC236}">
                <a16:creationId xmlns:a16="http://schemas.microsoft.com/office/drawing/2014/main" id="{666FBD90-DE24-4136-9B0C-BBE489975BBF}"/>
              </a:ext>
            </a:extLst>
          </p:cNvPr>
          <p:cNvSpPr>
            <a:spLocks noGrp="1"/>
          </p:cNvSpPr>
          <p:nvPr/>
        </p:nvSpPr>
        <p:spPr>
          <a:xfrm>
            <a:off x="2604399" y="4305889"/>
            <a:ext cx="1057275" cy="285750"/>
          </a:xfrm>
          <a:prstGeom prst="rect">
            <a:avLst/>
          </a:prstGeom>
          <a:noFill/>
          <a:ln w="0">
            <a:noFill/>
            <a:prstDash val="solid"/>
          </a:ln>
        </p:spPr>
        <p:txBody>
          <a:bodyPr lIns="0" tIns="0" rIns="0" bIns="0" anchor="ctr">
            <a:noAutofit/>
          </a:bodyPr>
          <a:lstStyle/>
          <a:p>
            <a:pPr algn="l">
              <a:buNone/>
              <a:defRPr sz="1275" b="1" i="0">
                <a:solidFill>
                  <a:srgbClr val="1F4E79"/>
                </a:solidFill>
              </a:defRPr>
            </a:pPr>
            <a:r>
              <a:rPr sz="1275" b="1" i="0">
                <a:solidFill>
                  <a:srgbClr val="1F4E79"/>
                </a:solidFill>
              </a:rPr>
              <a:t>RANDOMIZED</a:t>
            </a:r>
          </a:p>
        </p:txBody>
      </p:sp>
      <p:sp>
        <p:nvSpPr>
          <p:cNvPr id="14" name="randomized-copy">
            <a:extLst>
              <a:ext uri="{FF2B5EF4-FFF2-40B4-BE49-F238E27FC236}">
                <a16:creationId xmlns:a16="http://schemas.microsoft.com/office/drawing/2014/main" id="{8238AF89-2893-485B-B07A-952BF7595100}"/>
              </a:ext>
            </a:extLst>
          </p:cNvPr>
          <p:cNvSpPr>
            <a:spLocks noGrp="1"/>
          </p:cNvSpPr>
          <p:nvPr/>
        </p:nvSpPr>
        <p:spPr>
          <a:xfrm>
            <a:off x="2232923" y="4655663"/>
            <a:ext cx="1800225" cy="5905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(25% of </a:t>
            </a:r>
            <a:r>
              <a:rPr sz="1350">
                <a:solidFill>
                  <a:srgbClr val="111827"/>
                </a:solidFill>
              </a:rPr>
              <a:t>E</a:t>
            </a:r>
            <a:r>
              <a:rPr sz="1350" b="0" i="0">
                <a:solidFill>
                  <a:srgbClr val="111827"/>
                </a:solidFill>
              </a:rPr>
              <a:t>ligible </a:t>
            </a:r>
            <a:r>
              <a:rPr sz="1350">
                <a:solidFill>
                  <a:srgbClr val="111827"/>
                </a:solidFill>
              </a:rPr>
              <a:t>P</a:t>
            </a:r>
            <a:r>
              <a:rPr sz="1350" b="0" i="0">
                <a:solidFill>
                  <a:srgbClr val="111827"/>
                </a:solidFill>
              </a:rPr>
              <a:t>atients)</a:t>
            </a:r>
          </a:p>
        </p:txBody>
      </p:sp>
      <p:sp>
        <p:nvSpPr>
          <p:cNvPr id="15" name="observational-n">
            <a:extLst>
              <a:ext uri="{FF2B5EF4-FFF2-40B4-BE49-F238E27FC236}">
                <a16:creationId xmlns:a16="http://schemas.microsoft.com/office/drawing/2014/main" id="{9F53E679-5971-4245-8742-8E5D47F38C5A}"/>
              </a:ext>
            </a:extLst>
          </p:cNvPr>
          <p:cNvSpPr>
            <a:spLocks noGrp="1"/>
          </p:cNvSpPr>
          <p:nvPr/>
        </p:nvSpPr>
        <p:spPr>
          <a:xfrm>
            <a:off x="8803800" y="3781425"/>
            <a:ext cx="642299" cy="571500"/>
          </a:xfrm>
          <a:prstGeom prst="rect">
            <a:avLst/>
          </a:prstGeom>
          <a:noFill/>
          <a:ln w="0">
            <a:noFill/>
            <a:prstDash val="solid"/>
          </a:ln>
        </p:spPr>
        <p:txBody>
          <a:bodyPr lIns="0" tIns="0" rIns="0" bIns="0" anchor="ctr">
            <a:noAutofit/>
          </a:bodyPr>
          <a:lstStyle/>
          <a:p>
            <a:pPr algn="l">
              <a:buNone/>
              <a:defRPr sz="3300" b="1" i="0">
                <a:solidFill>
                  <a:srgbClr val="6B7280"/>
                </a:solidFill>
              </a:defRPr>
            </a:pPr>
            <a:r>
              <a:rPr sz="3300" b="1" i="0">
                <a:solidFill>
                  <a:srgbClr val="6B7280"/>
                </a:solidFill>
              </a:rPr>
              <a:t>743</a:t>
            </a:r>
          </a:p>
        </p:txBody>
      </p:sp>
      <p:sp>
        <p:nvSpPr>
          <p:cNvPr id="16" name="observational-label">
            <a:extLst>
              <a:ext uri="{FF2B5EF4-FFF2-40B4-BE49-F238E27FC236}">
                <a16:creationId xmlns:a16="http://schemas.microsoft.com/office/drawing/2014/main" id="{1CCC31BB-41C0-4ACF-8D71-C38948F64B1F}"/>
              </a:ext>
            </a:extLst>
          </p:cNvPr>
          <p:cNvSpPr>
            <a:spLocks noGrp="1"/>
          </p:cNvSpPr>
          <p:nvPr/>
        </p:nvSpPr>
        <p:spPr>
          <a:xfrm>
            <a:off x="8550724" y="4305889"/>
            <a:ext cx="1186551" cy="285750"/>
          </a:xfrm>
          <a:prstGeom prst="rect">
            <a:avLst/>
          </a:prstGeom>
          <a:noFill/>
          <a:ln w="0">
            <a:noFill/>
            <a:prstDash val="solid"/>
          </a:ln>
        </p:spPr>
        <p:txBody>
          <a:bodyPr lIns="0" tIns="0" rIns="0" bIns="0" anchor="ctr">
            <a:noAutofit/>
          </a:bodyPr>
          <a:lstStyle/>
          <a:p>
            <a:pPr algn="l">
              <a:buNone/>
              <a:defRPr sz="1275" b="1" i="0">
                <a:solidFill>
                  <a:srgbClr val="6B7280"/>
                </a:solidFill>
              </a:defRPr>
            </a:pPr>
            <a:r>
              <a:rPr sz="1275" b="1" i="0">
                <a:solidFill>
                  <a:srgbClr val="6B7280"/>
                </a:solidFill>
              </a:rPr>
              <a:t>OBSERVATIONAL</a:t>
            </a:r>
          </a:p>
        </p:txBody>
      </p:sp>
      <p:sp>
        <p:nvSpPr>
          <p:cNvPr id="17" name="observational-copy">
            <a:extLst>
              <a:ext uri="{FF2B5EF4-FFF2-40B4-BE49-F238E27FC236}">
                <a16:creationId xmlns:a16="http://schemas.microsoft.com/office/drawing/2014/main" id="{14A419B6-7DC0-412F-8D8C-303EAEF827E9}"/>
              </a:ext>
            </a:extLst>
          </p:cNvPr>
          <p:cNvSpPr>
            <a:spLocks noGrp="1"/>
          </p:cNvSpPr>
          <p:nvPr/>
        </p:nvSpPr>
        <p:spPr>
          <a:xfrm>
            <a:off x="8077837" y="4655663"/>
            <a:ext cx="2094223" cy="5905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(Reported in Separate Study)</a:t>
            </a:r>
          </a:p>
        </p:txBody>
      </p:sp>
      <p:sp>
        <p:nvSpPr>
          <p:cNvPr id="20" name="footer-rule-3">
            <a:extLst>
              <a:ext uri="{FF2B5EF4-FFF2-40B4-BE49-F238E27FC236}">
                <a16:creationId xmlns:a16="http://schemas.microsoft.com/office/drawing/2014/main" id="{3FD4E0E9-BEA5-4A1E-99C5-0F6D9EAC9C25}"/>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2" name="num-3">
            <a:extLst>
              <a:ext uri="{FF2B5EF4-FFF2-40B4-BE49-F238E27FC236}">
                <a16:creationId xmlns:a16="http://schemas.microsoft.com/office/drawing/2014/main" id="{A0FAE464-EB18-42EA-8F40-932475FF32C3}"/>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03</a:t>
            </a:r>
          </a:p>
        </p:txBody>
      </p:sp>
    </p:spTree>
    <p:extLst>
      <p:ext uri="{BB962C8B-B14F-4D97-AF65-F5344CB8AC3E}">
        <p14:creationId xmlns:p14="http://schemas.microsoft.com/office/powerpoint/2010/main" val="901147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title-4">
            <a:extLst>
              <a:ext uri="{FF2B5EF4-FFF2-40B4-BE49-F238E27FC236}">
                <a16:creationId xmlns:a16="http://schemas.microsoft.com/office/drawing/2014/main" id="{17676CE7-E672-4277-B0C4-C28DD81B05E3}"/>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Surgery vs. Conservative: Treatment Strategies</a:t>
            </a:r>
          </a:p>
        </p:txBody>
      </p:sp>
      <p:sp>
        <p:nvSpPr>
          <p:cNvPr id="2" name="title-rule-4">
            <a:extLst>
              <a:ext uri="{FF2B5EF4-FFF2-40B4-BE49-F238E27FC236}">
                <a16:creationId xmlns:a16="http://schemas.microsoft.com/office/drawing/2014/main" id="{20904E9E-0679-4E2D-94E4-8EEE5619D8DB}"/>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surgery-head">
            <a:extLst>
              <a:ext uri="{FF2B5EF4-FFF2-40B4-BE49-F238E27FC236}">
                <a16:creationId xmlns:a16="http://schemas.microsoft.com/office/drawing/2014/main" id="{6D47F7EC-BEE4-42DD-A3DB-9E02480E8AC6}"/>
              </a:ext>
            </a:extLst>
          </p:cNvPr>
          <p:cNvSpPr>
            <a:spLocks noGrp="1"/>
          </p:cNvSpPr>
          <p:nvPr/>
        </p:nvSpPr>
        <p:spPr>
          <a:xfrm>
            <a:off x="690562" y="1310020"/>
            <a:ext cx="4333875" cy="266700"/>
          </a:xfrm>
          <a:prstGeom prst="rect">
            <a:avLst/>
          </a:prstGeom>
          <a:noFill/>
          <a:ln w="0">
            <a:noFill/>
            <a:prstDash val="solid"/>
          </a:ln>
        </p:spPr>
        <p:txBody>
          <a:bodyPr lIns="0" tIns="0" rIns="0" bIns="0" anchor="ctr">
            <a:noAutofit/>
          </a:bodyPr>
          <a:lstStyle/>
          <a:p>
            <a:pPr algn="l">
              <a:buNone/>
              <a:defRPr sz="975" b="1" i="0">
                <a:solidFill>
                  <a:srgbClr val="1F4E79"/>
                </a:solidFill>
              </a:defRPr>
            </a:pPr>
            <a:r>
              <a:rPr sz="1200" b="1" i="0">
                <a:solidFill>
                  <a:srgbClr val="1F4E79"/>
                </a:solidFill>
              </a:rPr>
              <a:t>STANDARD OPEN DISCECTOMY*</a:t>
            </a:r>
          </a:p>
        </p:txBody>
      </p:sp>
      <p:sp>
        <p:nvSpPr>
          <p:cNvPr id="4" name="surgery-step-1">
            <a:extLst>
              <a:ext uri="{FF2B5EF4-FFF2-40B4-BE49-F238E27FC236}">
                <a16:creationId xmlns:a16="http://schemas.microsoft.com/office/drawing/2014/main" id="{7A527070-D501-4117-A436-729C8478FDF1}"/>
              </a:ext>
            </a:extLst>
          </p:cNvPr>
          <p:cNvSpPr>
            <a:spLocks noGrp="1"/>
          </p:cNvSpPr>
          <p:nvPr/>
        </p:nvSpPr>
        <p:spPr>
          <a:xfrm>
            <a:off x="671513" y="2190750"/>
            <a:ext cx="476250" cy="361950"/>
          </a:xfrm>
          <a:prstGeom prst="rect">
            <a:avLst/>
          </a:prstGeom>
          <a:noFill/>
          <a:ln w="0">
            <a:noFill/>
            <a:prstDash val="solid"/>
          </a:ln>
        </p:spPr>
        <p:txBody>
          <a:bodyPr lIns="0" tIns="0" rIns="0" bIns="0" anchor="ctr">
            <a:noAutofit/>
          </a:bodyPr>
          <a:lstStyle/>
          <a:p>
            <a:pPr algn="ctr">
              <a:buNone/>
              <a:defRPr sz="1800" b="1" i="0">
                <a:solidFill>
                  <a:srgbClr val="1F4E79"/>
                </a:solidFill>
              </a:defRPr>
            </a:pPr>
            <a:r>
              <a:rPr sz="1800" b="1" i="0">
                <a:solidFill>
                  <a:srgbClr val="1F4E79"/>
                </a:solidFill>
              </a:rPr>
              <a:t>01</a:t>
            </a:r>
          </a:p>
        </p:txBody>
      </p:sp>
      <p:sp>
        <p:nvSpPr>
          <p:cNvPr id="5" name="surgery-copy-1">
            <a:extLst>
              <a:ext uri="{FF2B5EF4-FFF2-40B4-BE49-F238E27FC236}">
                <a16:creationId xmlns:a16="http://schemas.microsoft.com/office/drawing/2014/main" id="{BAD86F56-A1A1-4C71-B7C7-F0928EBF4091}"/>
              </a:ext>
            </a:extLst>
          </p:cNvPr>
          <p:cNvSpPr>
            <a:spLocks noGrp="1"/>
          </p:cNvSpPr>
          <p:nvPr/>
        </p:nvSpPr>
        <p:spPr>
          <a:xfrm>
            <a:off x="1319213" y="2181225"/>
            <a:ext cx="3905250" cy="400050"/>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Identify and Decompress the Affected </a:t>
            </a:r>
            <a:r>
              <a:rPr sz="1650" b="1">
                <a:solidFill>
                  <a:srgbClr val="111827"/>
                </a:solidFill>
              </a:rPr>
              <a:t>R</a:t>
            </a:r>
            <a:r>
              <a:rPr sz="1650" b="1" i="0">
                <a:solidFill>
                  <a:srgbClr val="111827"/>
                </a:solidFill>
              </a:rPr>
              <a:t>oot</a:t>
            </a:r>
          </a:p>
        </p:txBody>
      </p:sp>
      <p:sp>
        <p:nvSpPr>
          <p:cNvPr id="6" name="surg-rule-1">
            <a:extLst>
              <a:ext uri="{FF2B5EF4-FFF2-40B4-BE49-F238E27FC236}">
                <a16:creationId xmlns:a16="http://schemas.microsoft.com/office/drawing/2014/main" id="{E1407845-0332-4923-BBCD-63C0754F928C}"/>
              </a:ext>
            </a:extLst>
          </p:cNvPr>
          <p:cNvSpPr>
            <a:spLocks noGrp="1"/>
          </p:cNvSpPr>
          <p:nvPr/>
        </p:nvSpPr>
        <p:spPr>
          <a:xfrm>
            <a:off x="671513" y="2790825"/>
            <a:ext cx="4619625" cy="9525"/>
          </a:xfrm>
          <a:prstGeom prst="rect">
            <a:avLst/>
          </a:prstGeom>
          <a:solidFill>
            <a:srgbClr val="E5E7EB"/>
          </a:solidFill>
          <a:ln w="0">
            <a:solidFill>
              <a:srgbClr val="E5E7EB"/>
            </a:solidFill>
            <a:prstDash val="solid"/>
          </a:ln>
        </p:spPr>
        <p:txBody>
          <a:bodyPr/>
          <a:lstStyle/>
          <a:p>
            <a:endParaRPr/>
          </a:p>
        </p:txBody>
      </p:sp>
      <p:sp>
        <p:nvSpPr>
          <p:cNvPr id="7" name="surgery-step-2">
            <a:extLst>
              <a:ext uri="{FF2B5EF4-FFF2-40B4-BE49-F238E27FC236}">
                <a16:creationId xmlns:a16="http://schemas.microsoft.com/office/drawing/2014/main" id="{C8B60006-E513-48EA-931F-B04DD3C9C501}"/>
              </a:ext>
            </a:extLst>
          </p:cNvPr>
          <p:cNvSpPr>
            <a:spLocks noGrp="1"/>
          </p:cNvSpPr>
          <p:nvPr/>
        </p:nvSpPr>
        <p:spPr>
          <a:xfrm>
            <a:off x="671513" y="3028950"/>
            <a:ext cx="476250" cy="361950"/>
          </a:xfrm>
          <a:prstGeom prst="rect">
            <a:avLst/>
          </a:prstGeom>
          <a:noFill/>
          <a:ln w="0">
            <a:noFill/>
            <a:prstDash val="solid"/>
          </a:ln>
        </p:spPr>
        <p:txBody>
          <a:bodyPr lIns="0" tIns="0" rIns="0" bIns="0" anchor="ctr">
            <a:noAutofit/>
          </a:bodyPr>
          <a:lstStyle/>
          <a:p>
            <a:pPr algn="ctr">
              <a:buNone/>
              <a:defRPr sz="1800" b="1" i="0">
                <a:solidFill>
                  <a:srgbClr val="1F4E79"/>
                </a:solidFill>
              </a:defRPr>
            </a:pPr>
            <a:r>
              <a:rPr sz="1800" b="1" i="0">
                <a:solidFill>
                  <a:srgbClr val="1F4E79"/>
                </a:solidFill>
              </a:rPr>
              <a:t>02</a:t>
            </a:r>
          </a:p>
        </p:txBody>
      </p:sp>
      <p:sp>
        <p:nvSpPr>
          <p:cNvPr id="8" name="surgery-copy-2">
            <a:extLst>
              <a:ext uri="{FF2B5EF4-FFF2-40B4-BE49-F238E27FC236}">
                <a16:creationId xmlns:a16="http://schemas.microsoft.com/office/drawing/2014/main" id="{0482CEB8-A92C-403B-9E50-31FC2842C14C}"/>
              </a:ext>
            </a:extLst>
          </p:cNvPr>
          <p:cNvSpPr>
            <a:spLocks noGrp="1"/>
          </p:cNvSpPr>
          <p:nvPr/>
        </p:nvSpPr>
        <p:spPr>
          <a:xfrm>
            <a:off x="1319213" y="3019425"/>
            <a:ext cx="3905250" cy="400050"/>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Remove the Herniated </a:t>
            </a:r>
            <a:r>
              <a:rPr sz="1650" b="1">
                <a:solidFill>
                  <a:srgbClr val="111827"/>
                </a:solidFill>
              </a:rPr>
              <a:t>F</a:t>
            </a:r>
            <a:r>
              <a:rPr sz="1650" b="1" i="0">
                <a:solidFill>
                  <a:srgbClr val="111827"/>
                </a:solidFill>
              </a:rPr>
              <a:t>ragment</a:t>
            </a:r>
          </a:p>
        </p:txBody>
      </p:sp>
      <p:sp>
        <p:nvSpPr>
          <p:cNvPr id="9" name="surg-rule-2">
            <a:extLst>
              <a:ext uri="{FF2B5EF4-FFF2-40B4-BE49-F238E27FC236}">
                <a16:creationId xmlns:a16="http://schemas.microsoft.com/office/drawing/2014/main" id="{FB110975-025F-4C4B-B418-4F2585F18C49}"/>
              </a:ext>
            </a:extLst>
          </p:cNvPr>
          <p:cNvSpPr>
            <a:spLocks noGrp="1"/>
          </p:cNvSpPr>
          <p:nvPr/>
        </p:nvSpPr>
        <p:spPr>
          <a:xfrm>
            <a:off x="671513" y="3629025"/>
            <a:ext cx="4619625" cy="9525"/>
          </a:xfrm>
          <a:prstGeom prst="rect">
            <a:avLst/>
          </a:prstGeom>
          <a:solidFill>
            <a:srgbClr val="E5E7EB"/>
          </a:solidFill>
          <a:ln w="0">
            <a:solidFill>
              <a:srgbClr val="E5E7EB"/>
            </a:solidFill>
            <a:prstDash val="solid"/>
          </a:ln>
        </p:spPr>
        <p:txBody>
          <a:bodyPr/>
          <a:lstStyle/>
          <a:p>
            <a:endParaRPr/>
          </a:p>
        </p:txBody>
      </p:sp>
      <p:sp>
        <p:nvSpPr>
          <p:cNvPr id="10" name="surgery-step-3">
            <a:extLst>
              <a:ext uri="{FF2B5EF4-FFF2-40B4-BE49-F238E27FC236}">
                <a16:creationId xmlns:a16="http://schemas.microsoft.com/office/drawing/2014/main" id="{4BEA2FC7-5B09-4438-BA02-0D833A6D1C91}"/>
              </a:ext>
            </a:extLst>
          </p:cNvPr>
          <p:cNvSpPr>
            <a:spLocks noGrp="1"/>
          </p:cNvSpPr>
          <p:nvPr/>
        </p:nvSpPr>
        <p:spPr>
          <a:xfrm>
            <a:off x="671513" y="3867150"/>
            <a:ext cx="476250" cy="361950"/>
          </a:xfrm>
          <a:prstGeom prst="rect">
            <a:avLst/>
          </a:prstGeom>
          <a:noFill/>
          <a:ln w="0">
            <a:noFill/>
            <a:prstDash val="solid"/>
          </a:ln>
        </p:spPr>
        <p:txBody>
          <a:bodyPr lIns="0" tIns="0" rIns="0" bIns="0" anchor="ctr">
            <a:noAutofit/>
          </a:bodyPr>
          <a:lstStyle/>
          <a:p>
            <a:pPr algn="ctr">
              <a:buNone/>
              <a:defRPr sz="1800" b="1" i="0">
                <a:solidFill>
                  <a:srgbClr val="1F4E79"/>
                </a:solidFill>
              </a:defRPr>
            </a:pPr>
            <a:r>
              <a:rPr sz="1800" b="1" i="0">
                <a:solidFill>
                  <a:srgbClr val="1F4E79"/>
                </a:solidFill>
              </a:rPr>
              <a:t>03</a:t>
            </a:r>
          </a:p>
        </p:txBody>
      </p:sp>
      <p:sp>
        <p:nvSpPr>
          <p:cNvPr id="11" name="surgery-copy-3">
            <a:extLst>
              <a:ext uri="{FF2B5EF4-FFF2-40B4-BE49-F238E27FC236}">
                <a16:creationId xmlns:a16="http://schemas.microsoft.com/office/drawing/2014/main" id="{037D5EC0-26E2-43F0-B32B-637FBED641CC}"/>
              </a:ext>
            </a:extLst>
          </p:cNvPr>
          <p:cNvSpPr>
            <a:spLocks noGrp="1"/>
          </p:cNvSpPr>
          <p:nvPr/>
        </p:nvSpPr>
        <p:spPr>
          <a:xfrm>
            <a:off x="1319213" y="3857625"/>
            <a:ext cx="3905250" cy="400050"/>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Inspect the Canal and </a:t>
            </a:r>
            <a:r>
              <a:rPr sz="1650" b="1">
                <a:solidFill>
                  <a:srgbClr val="111827"/>
                </a:solidFill>
              </a:rPr>
              <a:t>F</a:t>
            </a:r>
            <a:r>
              <a:rPr sz="1650" b="1" i="0">
                <a:solidFill>
                  <a:srgbClr val="111827"/>
                </a:solidFill>
              </a:rPr>
              <a:t>oramen</a:t>
            </a:r>
          </a:p>
        </p:txBody>
      </p:sp>
      <p:sp>
        <p:nvSpPr>
          <p:cNvPr id="12" name="minimum-rule">
            <a:extLst>
              <a:ext uri="{FF2B5EF4-FFF2-40B4-BE49-F238E27FC236}">
                <a16:creationId xmlns:a16="http://schemas.microsoft.com/office/drawing/2014/main" id="{A9C69FE7-24E2-458D-896D-17EFCC928B61}"/>
              </a:ext>
            </a:extLst>
          </p:cNvPr>
          <p:cNvSpPr>
            <a:spLocks noGrp="1"/>
          </p:cNvSpPr>
          <p:nvPr/>
        </p:nvSpPr>
        <p:spPr>
          <a:xfrm>
            <a:off x="671513" y="4772025"/>
            <a:ext cx="4619625" cy="9525"/>
          </a:xfrm>
          <a:prstGeom prst="rect">
            <a:avLst/>
          </a:prstGeom>
          <a:solidFill>
            <a:srgbClr val="E5E7EB"/>
          </a:solidFill>
          <a:ln w="0">
            <a:solidFill>
              <a:srgbClr val="E5E7EB"/>
            </a:solidFill>
            <a:prstDash val="solid"/>
          </a:ln>
        </p:spPr>
        <p:txBody>
          <a:bodyPr/>
          <a:lstStyle/>
          <a:p>
            <a:endParaRPr/>
          </a:p>
        </p:txBody>
      </p:sp>
      <p:sp>
        <p:nvSpPr>
          <p:cNvPr id="14" name="minimum-copy">
            <a:extLst>
              <a:ext uri="{FF2B5EF4-FFF2-40B4-BE49-F238E27FC236}">
                <a16:creationId xmlns:a16="http://schemas.microsoft.com/office/drawing/2014/main" id="{EFF3B80A-11F4-4262-A19C-4B7B4DB0DF09}"/>
              </a:ext>
            </a:extLst>
          </p:cNvPr>
          <p:cNvSpPr>
            <a:spLocks noGrp="1"/>
          </p:cNvSpPr>
          <p:nvPr/>
        </p:nvSpPr>
        <p:spPr>
          <a:xfrm>
            <a:off x="609600" y="5581650"/>
            <a:ext cx="2507512" cy="5524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*Technical </a:t>
            </a:r>
            <a:r>
              <a:rPr sz="1350">
                <a:solidFill>
                  <a:srgbClr val="111827"/>
                </a:solidFill>
              </a:rPr>
              <a:t>V</a:t>
            </a:r>
            <a:r>
              <a:rPr sz="1350" b="0" i="0">
                <a:solidFill>
                  <a:srgbClr val="111827"/>
                </a:solidFill>
              </a:rPr>
              <a:t>ariation was </a:t>
            </a:r>
            <a:r>
              <a:rPr sz="1350">
                <a:solidFill>
                  <a:srgbClr val="111827"/>
                </a:solidFill>
              </a:rPr>
              <a:t>P</a:t>
            </a:r>
            <a:r>
              <a:rPr sz="1350" b="0" i="0">
                <a:solidFill>
                  <a:srgbClr val="111827"/>
                </a:solidFill>
              </a:rPr>
              <a:t>ermitted</a:t>
            </a:r>
          </a:p>
        </p:txBody>
      </p:sp>
      <p:sp>
        <p:nvSpPr>
          <p:cNvPr id="15" name="comparison-center">
            <a:extLst>
              <a:ext uri="{FF2B5EF4-FFF2-40B4-BE49-F238E27FC236}">
                <a16:creationId xmlns:a16="http://schemas.microsoft.com/office/drawing/2014/main" id="{25945153-3EAB-4895-A3CA-AB90C45AEEB1}"/>
              </a:ext>
            </a:extLst>
          </p:cNvPr>
          <p:cNvSpPr>
            <a:spLocks noGrp="1"/>
          </p:cNvSpPr>
          <p:nvPr/>
        </p:nvSpPr>
        <p:spPr>
          <a:xfrm>
            <a:off x="5762625" y="1200150"/>
            <a:ext cx="19050" cy="4572000"/>
          </a:xfrm>
          <a:prstGeom prst="rect">
            <a:avLst/>
          </a:prstGeom>
          <a:solidFill>
            <a:srgbClr val="E5E7EB"/>
          </a:solidFill>
          <a:ln w="0">
            <a:solidFill>
              <a:srgbClr val="E5E7EB"/>
            </a:solidFill>
            <a:prstDash val="solid"/>
          </a:ln>
        </p:spPr>
        <p:txBody>
          <a:bodyPr/>
          <a:lstStyle/>
          <a:p>
            <a:endParaRPr/>
          </a:p>
        </p:txBody>
      </p:sp>
      <p:sp>
        <p:nvSpPr>
          <p:cNvPr id="16" name="nonop-head">
            <a:extLst>
              <a:ext uri="{FF2B5EF4-FFF2-40B4-BE49-F238E27FC236}">
                <a16:creationId xmlns:a16="http://schemas.microsoft.com/office/drawing/2014/main" id="{70997424-A4F1-4C82-AA7D-44FA5B96F96E}"/>
              </a:ext>
            </a:extLst>
          </p:cNvPr>
          <p:cNvSpPr>
            <a:spLocks noGrp="1"/>
          </p:cNvSpPr>
          <p:nvPr/>
        </p:nvSpPr>
        <p:spPr>
          <a:xfrm>
            <a:off x="6191250" y="1309688"/>
            <a:ext cx="5238750" cy="266700"/>
          </a:xfrm>
          <a:prstGeom prst="rect">
            <a:avLst/>
          </a:prstGeom>
          <a:noFill/>
          <a:ln w="0">
            <a:noFill/>
            <a:prstDash val="solid"/>
          </a:ln>
        </p:spPr>
        <p:txBody>
          <a:bodyPr lIns="0" tIns="0" rIns="0" bIns="0" anchor="ctr">
            <a:noAutofit/>
          </a:bodyPr>
          <a:lstStyle/>
          <a:p>
            <a:pPr algn="l">
              <a:buNone/>
              <a:defRPr sz="975" b="1" i="0">
                <a:solidFill>
                  <a:srgbClr val="6B7280"/>
                </a:solidFill>
              </a:defRPr>
            </a:pPr>
            <a:r>
              <a:rPr sz="1200" b="1" i="0">
                <a:solidFill>
                  <a:srgbClr val="6B7280"/>
                </a:solidFill>
              </a:rPr>
              <a:t>NONOPERATIVE CARE</a:t>
            </a:r>
          </a:p>
        </p:txBody>
      </p:sp>
      <p:sp>
        <p:nvSpPr>
          <p:cNvPr id="17" name="minimum-protocol">
            <a:extLst>
              <a:ext uri="{FF2B5EF4-FFF2-40B4-BE49-F238E27FC236}">
                <a16:creationId xmlns:a16="http://schemas.microsoft.com/office/drawing/2014/main" id="{7CC0D56F-5131-4A4D-81EE-68D99C824FD3}"/>
              </a:ext>
            </a:extLst>
          </p:cNvPr>
          <p:cNvSpPr>
            <a:spLocks noGrp="1"/>
          </p:cNvSpPr>
          <p:nvPr/>
        </p:nvSpPr>
        <p:spPr>
          <a:xfrm>
            <a:off x="6191250" y="1628775"/>
            <a:ext cx="5238750" cy="400050"/>
          </a:xfrm>
          <a:prstGeom prst="rect">
            <a:avLst/>
          </a:prstGeom>
          <a:noFill/>
          <a:ln w="0">
            <a:noFill/>
            <a:prstDash val="solid"/>
          </a:ln>
        </p:spPr>
        <p:txBody>
          <a:bodyPr lIns="0" tIns="0" rIns="0" bIns="0" anchor="ctr">
            <a:noAutofit/>
          </a:bodyPr>
          <a:lstStyle/>
          <a:p>
            <a:pPr algn="l">
              <a:buNone/>
              <a:defRPr sz="1350" b="1" i="0">
                <a:solidFill>
                  <a:srgbClr val="111827"/>
                </a:solidFill>
              </a:defRPr>
            </a:pPr>
            <a:r>
              <a:rPr sz="1350" b="1" i="0">
                <a:solidFill>
                  <a:srgbClr val="111827"/>
                </a:solidFill>
              </a:rPr>
              <a:t>Minimum Protocol: </a:t>
            </a:r>
            <a:r>
              <a:rPr sz="1350" b="1">
                <a:solidFill>
                  <a:srgbClr val="111827"/>
                </a:solidFill>
              </a:rPr>
              <a:t>E</a:t>
            </a:r>
            <a:r>
              <a:rPr sz="1350" b="1" i="0">
                <a:solidFill>
                  <a:srgbClr val="111827"/>
                </a:solidFill>
              </a:rPr>
              <a:t>ducation + Physical Therapy + NSAID (if safe)</a:t>
            </a:r>
          </a:p>
        </p:txBody>
      </p:sp>
      <p:sp>
        <p:nvSpPr>
          <p:cNvPr id="18" name="care-label-0">
            <a:extLst>
              <a:ext uri="{FF2B5EF4-FFF2-40B4-BE49-F238E27FC236}">
                <a16:creationId xmlns:a16="http://schemas.microsoft.com/office/drawing/2014/main" id="{85791921-78AE-4C3E-BD0C-C09355B68CA1}"/>
              </a:ext>
            </a:extLst>
          </p:cNvPr>
          <p:cNvSpPr>
            <a:spLocks noGrp="1"/>
          </p:cNvSpPr>
          <p:nvPr/>
        </p:nvSpPr>
        <p:spPr>
          <a:xfrm>
            <a:off x="6191250" y="2266950"/>
            <a:ext cx="1809750" cy="247650"/>
          </a:xfrm>
          <a:prstGeom prst="rect">
            <a:avLst/>
          </a:prstGeom>
          <a:noFill/>
          <a:ln w="0">
            <a:noFill/>
            <a:prstDash val="solid"/>
          </a:ln>
        </p:spPr>
        <p:txBody>
          <a:bodyPr lIns="0" tIns="0" rIns="0" bIns="0" anchor="ctr">
            <a:noAutofit/>
          </a:bodyPr>
          <a:lstStyle/>
          <a:p>
            <a:pPr algn="l">
              <a:buNone/>
              <a:defRPr sz="1125" b="1" i="0">
                <a:solidFill>
                  <a:srgbClr val="111827"/>
                </a:solidFill>
              </a:defRPr>
            </a:pPr>
            <a:r>
              <a:rPr sz="1400" b="1" i="0">
                <a:solidFill>
                  <a:srgbClr val="111827"/>
                </a:solidFill>
              </a:rPr>
              <a:t>Education / counseling</a:t>
            </a:r>
          </a:p>
        </p:txBody>
      </p:sp>
      <p:sp>
        <p:nvSpPr>
          <p:cNvPr id="19" name="care-track-0">
            <a:extLst>
              <a:ext uri="{FF2B5EF4-FFF2-40B4-BE49-F238E27FC236}">
                <a16:creationId xmlns:a16="http://schemas.microsoft.com/office/drawing/2014/main" id="{C8B9BEB9-FAF5-4F23-82B6-5FB6D20AC8D5}"/>
              </a:ext>
            </a:extLst>
          </p:cNvPr>
          <p:cNvSpPr>
            <a:spLocks noGrp="1"/>
          </p:cNvSpPr>
          <p:nvPr/>
        </p:nvSpPr>
        <p:spPr>
          <a:xfrm>
            <a:off x="8096250" y="2314575"/>
            <a:ext cx="2714625" cy="133350"/>
          </a:xfrm>
          <a:prstGeom prst="roundRect">
            <a:avLst>
              <a:gd name="adj" fmla="val 50000"/>
            </a:avLst>
          </a:prstGeom>
          <a:solidFill>
            <a:srgbClr val="E5E7EB"/>
          </a:solidFill>
          <a:ln w="0">
            <a:solidFill>
              <a:srgbClr val="E5E7EB"/>
            </a:solidFill>
            <a:prstDash val="solid"/>
          </a:ln>
        </p:spPr>
        <p:txBody>
          <a:bodyPr/>
          <a:lstStyle/>
          <a:p>
            <a:endParaRPr/>
          </a:p>
        </p:txBody>
      </p:sp>
      <p:sp>
        <p:nvSpPr>
          <p:cNvPr id="20" name="care-bar-0">
            <a:extLst>
              <a:ext uri="{FF2B5EF4-FFF2-40B4-BE49-F238E27FC236}">
                <a16:creationId xmlns:a16="http://schemas.microsoft.com/office/drawing/2014/main" id="{BDB35369-6A45-4D52-A8F1-59D91DC6DFCA}"/>
              </a:ext>
            </a:extLst>
          </p:cNvPr>
          <p:cNvSpPr>
            <a:spLocks noGrp="1"/>
          </p:cNvSpPr>
          <p:nvPr/>
        </p:nvSpPr>
        <p:spPr>
          <a:xfrm>
            <a:off x="8096250" y="2314575"/>
            <a:ext cx="2524601" cy="133350"/>
          </a:xfrm>
          <a:prstGeom prst="roundRect">
            <a:avLst>
              <a:gd name="adj" fmla="val 50000"/>
            </a:avLst>
          </a:prstGeom>
          <a:solidFill>
            <a:srgbClr val="6B7280"/>
          </a:solidFill>
          <a:ln w="0">
            <a:solidFill>
              <a:srgbClr val="6B7280"/>
            </a:solidFill>
            <a:prstDash val="solid"/>
          </a:ln>
        </p:spPr>
        <p:txBody>
          <a:bodyPr/>
          <a:lstStyle/>
          <a:p>
            <a:endParaRPr/>
          </a:p>
        </p:txBody>
      </p:sp>
      <p:sp>
        <p:nvSpPr>
          <p:cNvPr id="21" name="care-pct-0">
            <a:extLst>
              <a:ext uri="{FF2B5EF4-FFF2-40B4-BE49-F238E27FC236}">
                <a16:creationId xmlns:a16="http://schemas.microsoft.com/office/drawing/2014/main" id="{044D966A-C5F1-4A3E-A330-4D0D9E997660}"/>
              </a:ext>
            </a:extLst>
          </p:cNvPr>
          <p:cNvSpPr>
            <a:spLocks noGrp="1"/>
          </p:cNvSpPr>
          <p:nvPr/>
        </p:nvSpPr>
        <p:spPr>
          <a:xfrm>
            <a:off x="10906125" y="2247900"/>
            <a:ext cx="523875" cy="266700"/>
          </a:xfrm>
          <a:prstGeom prst="rect">
            <a:avLst/>
          </a:prstGeom>
          <a:noFill/>
          <a:ln w="0">
            <a:noFill/>
            <a:prstDash val="solid"/>
          </a:ln>
        </p:spPr>
        <p:txBody>
          <a:bodyPr lIns="0" tIns="0" rIns="0" bIns="0" anchor="ctr">
            <a:noAutofit/>
          </a:bodyPr>
          <a:lstStyle/>
          <a:p>
            <a:pPr algn="r">
              <a:buNone/>
              <a:defRPr sz="1200" b="1" i="0">
                <a:solidFill>
                  <a:srgbClr val="6B7280"/>
                </a:solidFill>
              </a:defRPr>
            </a:pPr>
            <a:r>
              <a:rPr sz="1200" b="1" i="0">
                <a:solidFill>
                  <a:srgbClr val="6B7280"/>
                </a:solidFill>
              </a:rPr>
              <a:t>93%</a:t>
            </a:r>
          </a:p>
        </p:txBody>
      </p:sp>
      <p:sp>
        <p:nvSpPr>
          <p:cNvPr id="22" name="care-label-1">
            <a:extLst>
              <a:ext uri="{FF2B5EF4-FFF2-40B4-BE49-F238E27FC236}">
                <a16:creationId xmlns:a16="http://schemas.microsoft.com/office/drawing/2014/main" id="{B8B715CC-F3E8-48DA-BC2F-E7D92283F887}"/>
              </a:ext>
            </a:extLst>
          </p:cNvPr>
          <p:cNvSpPr>
            <a:spLocks noGrp="1"/>
          </p:cNvSpPr>
          <p:nvPr/>
        </p:nvSpPr>
        <p:spPr>
          <a:xfrm>
            <a:off x="6191250" y="2790825"/>
            <a:ext cx="1809750" cy="247650"/>
          </a:xfrm>
          <a:prstGeom prst="rect">
            <a:avLst/>
          </a:prstGeom>
          <a:noFill/>
          <a:ln w="0">
            <a:noFill/>
            <a:prstDash val="solid"/>
          </a:ln>
        </p:spPr>
        <p:txBody>
          <a:bodyPr lIns="0" tIns="0" rIns="0" bIns="0" anchor="ctr">
            <a:noAutofit/>
          </a:bodyPr>
          <a:lstStyle/>
          <a:p>
            <a:pPr algn="l">
              <a:buNone/>
              <a:defRPr sz="1125" b="0" i="0">
                <a:solidFill>
                  <a:srgbClr val="111827"/>
                </a:solidFill>
              </a:defRPr>
            </a:pPr>
            <a:r>
              <a:rPr sz="1400" b="0" i="0">
                <a:solidFill>
                  <a:srgbClr val="111827"/>
                </a:solidFill>
              </a:rPr>
              <a:t>NSAIDs</a:t>
            </a:r>
          </a:p>
        </p:txBody>
      </p:sp>
      <p:sp>
        <p:nvSpPr>
          <p:cNvPr id="23" name="care-track-1">
            <a:extLst>
              <a:ext uri="{FF2B5EF4-FFF2-40B4-BE49-F238E27FC236}">
                <a16:creationId xmlns:a16="http://schemas.microsoft.com/office/drawing/2014/main" id="{9EC456AC-29E4-4472-BDAC-7BE82E6F4C60}"/>
              </a:ext>
            </a:extLst>
          </p:cNvPr>
          <p:cNvSpPr>
            <a:spLocks noGrp="1"/>
          </p:cNvSpPr>
          <p:nvPr/>
        </p:nvSpPr>
        <p:spPr>
          <a:xfrm>
            <a:off x="8096250" y="2838450"/>
            <a:ext cx="2714625" cy="133350"/>
          </a:xfrm>
          <a:prstGeom prst="roundRect">
            <a:avLst>
              <a:gd name="adj" fmla="val 50000"/>
            </a:avLst>
          </a:prstGeom>
          <a:solidFill>
            <a:srgbClr val="E5E7EB"/>
          </a:solidFill>
          <a:ln w="0">
            <a:solidFill>
              <a:srgbClr val="E5E7EB"/>
            </a:solidFill>
            <a:prstDash val="solid"/>
          </a:ln>
        </p:spPr>
        <p:txBody>
          <a:bodyPr/>
          <a:lstStyle/>
          <a:p>
            <a:endParaRPr/>
          </a:p>
        </p:txBody>
      </p:sp>
      <p:sp>
        <p:nvSpPr>
          <p:cNvPr id="24" name="care-bar-1">
            <a:extLst>
              <a:ext uri="{FF2B5EF4-FFF2-40B4-BE49-F238E27FC236}">
                <a16:creationId xmlns:a16="http://schemas.microsoft.com/office/drawing/2014/main" id="{4746F77A-FD07-43FD-8034-A5521FAC92E8}"/>
              </a:ext>
            </a:extLst>
          </p:cNvPr>
          <p:cNvSpPr>
            <a:spLocks noGrp="1"/>
          </p:cNvSpPr>
          <p:nvPr/>
        </p:nvSpPr>
        <p:spPr>
          <a:xfrm>
            <a:off x="8096250" y="2838450"/>
            <a:ext cx="1628775" cy="133350"/>
          </a:xfrm>
          <a:prstGeom prst="roundRect">
            <a:avLst>
              <a:gd name="adj" fmla="val 50000"/>
            </a:avLst>
          </a:prstGeom>
          <a:solidFill>
            <a:srgbClr val="6B7280"/>
          </a:solidFill>
          <a:ln w="0">
            <a:solidFill>
              <a:srgbClr val="6B7280"/>
            </a:solidFill>
            <a:prstDash val="solid"/>
          </a:ln>
        </p:spPr>
        <p:txBody>
          <a:bodyPr/>
          <a:lstStyle/>
          <a:p>
            <a:endParaRPr/>
          </a:p>
        </p:txBody>
      </p:sp>
      <p:sp>
        <p:nvSpPr>
          <p:cNvPr id="25" name="care-pct-1">
            <a:extLst>
              <a:ext uri="{FF2B5EF4-FFF2-40B4-BE49-F238E27FC236}">
                <a16:creationId xmlns:a16="http://schemas.microsoft.com/office/drawing/2014/main" id="{9349ED2F-6C87-4491-8FE9-D554535D7B72}"/>
              </a:ext>
            </a:extLst>
          </p:cNvPr>
          <p:cNvSpPr>
            <a:spLocks noGrp="1"/>
          </p:cNvSpPr>
          <p:nvPr/>
        </p:nvSpPr>
        <p:spPr>
          <a:xfrm>
            <a:off x="10906125" y="2771775"/>
            <a:ext cx="523875" cy="266700"/>
          </a:xfrm>
          <a:prstGeom prst="rect">
            <a:avLst/>
          </a:prstGeom>
          <a:noFill/>
          <a:ln w="0">
            <a:noFill/>
            <a:prstDash val="solid"/>
          </a:ln>
        </p:spPr>
        <p:txBody>
          <a:bodyPr lIns="0" tIns="0" rIns="0" bIns="0" anchor="ctr">
            <a:noAutofit/>
          </a:bodyPr>
          <a:lstStyle/>
          <a:p>
            <a:pPr algn="r">
              <a:buNone/>
              <a:defRPr sz="1200" b="1" i="0">
                <a:solidFill>
                  <a:srgbClr val="6B7280"/>
                </a:solidFill>
              </a:defRPr>
            </a:pPr>
            <a:r>
              <a:rPr sz="1200" b="1" i="0">
                <a:solidFill>
                  <a:srgbClr val="6B7280"/>
                </a:solidFill>
              </a:rPr>
              <a:t>60%</a:t>
            </a:r>
          </a:p>
        </p:txBody>
      </p:sp>
      <p:sp>
        <p:nvSpPr>
          <p:cNvPr id="26" name="care-label-2">
            <a:extLst>
              <a:ext uri="{FF2B5EF4-FFF2-40B4-BE49-F238E27FC236}">
                <a16:creationId xmlns:a16="http://schemas.microsoft.com/office/drawing/2014/main" id="{759A3E6A-D75D-4F7C-AFC1-AAF9DBEAC456}"/>
              </a:ext>
            </a:extLst>
          </p:cNvPr>
          <p:cNvSpPr>
            <a:spLocks noGrp="1"/>
          </p:cNvSpPr>
          <p:nvPr/>
        </p:nvSpPr>
        <p:spPr>
          <a:xfrm>
            <a:off x="6191250" y="3314700"/>
            <a:ext cx="1809750" cy="247650"/>
          </a:xfrm>
          <a:prstGeom prst="rect">
            <a:avLst/>
          </a:prstGeom>
          <a:noFill/>
          <a:ln w="0">
            <a:noFill/>
            <a:prstDash val="solid"/>
          </a:ln>
        </p:spPr>
        <p:txBody>
          <a:bodyPr lIns="0" tIns="0" rIns="0" bIns="0" anchor="ctr">
            <a:noAutofit/>
          </a:bodyPr>
          <a:lstStyle/>
          <a:p>
            <a:pPr algn="l">
              <a:buNone/>
              <a:defRPr sz="1125" b="0" i="0">
                <a:solidFill>
                  <a:srgbClr val="111827"/>
                </a:solidFill>
              </a:defRPr>
            </a:pPr>
            <a:r>
              <a:rPr sz="1400" b="0" i="0">
                <a:solidFill>
                  <a:srgbClr val="111827"/>
                </a:solidFill>
              </a:rPr>
              <a:t>Injections</a:t>
            </a:r>
          </a:p>
        </p:txBody>
      </p:sp>
      <p:sp>
        <p:nvSpPr>
          <p:cNvPr id="27" name="care-track-2">
            <a:extLst>
              <a:ext uri="{FF2B5EF4-FFF2-40B4-BE49-F238E27FC236}">
                <a16:creationId xmlns:a16="http://schemas.microsoft.com/office/drawing/2014/main" id="{C0B3C5A6-F92B-4D2D-91D4-2F1BFC2FC5F8}"/>
              </a:ext>
            </a:extLst>
          </p:cNvPr>
          <p:cNvSpPr>
            <a:spLocks noGrp="1"/>
          </p:cNvSpPr>
          <p:nvPr/>
        </p:nvSpPr>
        <p:spPr>
          <a:xfrm>
            <a:off x="8096250" y="3362325"/>
            <a:ext cx="2714625" cy="133350"/>
          </a:xfrm>
          <a:prstGeom prst="roundRect">
            <a:avLst>
              <a:gd name="adj" fmla="val 50000"/>
            </a:avLst>
          </a:prstGeom>
          <a:solidFill>
            <a:srgbClr val="E5E7EB"/>
          </a:solidFill>
          <a:ln w="0">
            <a:solidFill>
              <a:srgbClr val="E5E7EB"/>
            </a:solidFill>
            <a:prstDash val="solid"/>
          </a:ln>
        </p:spPr>
        <p:txBody>
          <a:bodyPr/>
          <a:lstStyle/>
          <a:p>
            <a:endParaRPr/>
          </a:p>
        </p:txBody>
      </p:sp>
      <p:sp>
        <p:nvSpPr>
          <p:cNvPr id="28" name="care-bar-2">
            <a:extLst>
              <a:ext uri="{FF2B5EF4-FFF2-40B4-BE49-F238E27FC236}">
                <a16:creationId xmlns:a16="http://schemas.microsoft.com/office/drawing/2014/main" id="{0A3F0C96-EBBE-49CD-A144-25F2450DBE00}"/>
              </a:ext>
            </a:extLst>
          </p:cNvPr>
          <p:cNvSpPr>
            <a:spLocks noGrp="1"/>
          </p:cNvSpPr>
          <p:nvPr/>
        </p:nvSpPr>
        <p:spPr>
          <a:xfrm>
            <a:off x="8096250" y="3362325"/>
            <a:ext cx="1520190" cy="133350"/>
          </a:xfrm>
          <a:prstGeom prst="roundRect">
            <a:avLst>
              <a:gd name="adj" fmla="val 50000"/>
            </a:avLst>
          </a:prstGeom>
          <a:solidFill>
            <a:srgbClr val="6B7280"/>
          </a:solidFill>
          <a:ln w="0">
            <a:solidFill>
              <a:srgbClr val="6B7280"/>
            </a:solidFill>
            <a:prstDash val="solid"/>
          </a:ln>
        </p:spPr>
        <p:txBody>
          <a:bodyPr/>
          <a:lstStyle/>
          <a:p>
            <a:endParaRPr/>
          </a:p>
        </p:txBody>
      </p:sp>
      <p:sp>
        <p:nvSpPr>
          <p:cNvPr id="29" name="care-pct-2">
            <a:extLst>
              <a:ext uri="{FF2B5EF4-FFF2-40B4-BE49-F238E27FC236}">
                <a16:creationId xmlns:a16="http://schemas.microsoft.com/office/drawing/2014/main" id="{83D6A8E1-7D11-4939-874E-D8AD58F31A60}"/>
              </a:ext>
            </a:extLst>
          </p:cNvPr>
          <p:cNvSpPr>
            <a:spLocks noGrp="1"/>
          </p:cNvSpPr>
          <p:nvPr/>
        </p:nvSpPr>
        <p:spPr>
          <a:xfrm>
            <a:off x="10906125" y="3295650"/>
            <a:ext cx="523875" cy="266700"/>
          </a:xfrm>
          <a:prstGeom prst="rect">
            <a:avLst/>
          </a:prstGeom>
          <a:noFill/>
          <a:ln w="0">
            <a:noFill/>
            <a:prstDash val="solid"/>
          </a:ln>
        </p:spPr>
        <p:txBody>
          <a:bodyPr lIns="0" tIns="0" rIns="0" bIns="0" anchor="ctr">
            <a:noAutofit/>
          </a:bodyPr>
          <a:lstStyle/>
          <a:p>
            <a:pPr algn="r">
              <a:buNone/>
              <a:defRPr sz="1200" b="1" i="0">
                <a:solidFill>
                  <a:srgbClr val="6B7280"/>
                </a:solidFill>
              </a:defRPr>
            </a:pPr>
            <a:r>
              <a:rPr sz="1200" b="1" i="0">
                <a:solidFill>
                  <a:srgbClr val="6B7280"/>
                </a:solidFill>
              </a:rPr>
              <a:t>56%</a:t>
            </a:r>
          </a:p>
        </p:txBody>
      </p:sp>
      <p:sp>
        <p:nvSpPr>
          <p:cNvPr id="30" name="care-label-3">
            <a:extLst>
              <a:ext uri="{FF2B5EF4-FFF2-40B4-BE49-F238E27FC236}">
                <a16:creationId xmlns:a16="http://schemas.microsoft.com/office/drawing/2014/main" id="{EAC3C0FD-22CF-4C00-997B-44E41426A03E}"/>
              </a:ext>
            </a:extLst>
          </p:cNvPr>
          <p:cNvSpPr>
            <a:spLocks noGrp="1"/>
          </p:cNvSpPr>
          <p:nvPr/>
        </p:nvSpPr>
        <p:spPr>
          <a:xfrm>
            <a:off x="6191250" y="3838575"/>
            <a:ext cx="1809750" cy="247650"/>
          </a:xfrm>
          <a:prstGeom prst="rect">
            <a:avLst/>
          </a:prstGeom>
          <a:noFill/>
          <a:ln w="0">
            <a:noFill/>
            <a:prstDash val="solid"/>
          </a:ln>
        </p:spPr>
        <p:txBody>
          <a:bodyPr lIns="0" tIns="0" rIns="0" bIns="0" anchor="ctr">
            <a:noAutofit/>
          </a:bodyPr>
          <a:lstStyle/>
          <a:p>
            <a:pPr algn="l">
              <a:buNone/>
              <a:defRPr sz="1125" b="0" i="0">
                <a:solidFill>
                  <a:srgbClr val="111827"/>
                </a:solidFill>
              </a:defRPr>
            </a:pPr>
            <a:r>
              <a:rPr sz="1400" b="0" i="0">
                <a:solidFill>
                  <a:srgbClr val="111827"/>
                </a:solidFill>
              </a:rPr>
              <a:t>Opioid analgesics</a:t>
            </a:r>
          </a:p>
        </p:txBody>
      </p:sp>
      <p:sp>
        <p:nvSpPr>
          <p:cNvPr id="31" name="care-track-3">
            <a:extLst>
              <a:ext uri="{FF2B5EF4-FFF2-40B4-BE49-F238E27FC236}">
                <a16:creationId xmlns:a16="http://schemas.microsoft.com/office/drawing/2014/main" id="{DBB03937-CFE9-445C-AB1C-A635520E66E0}"/>
              </a:ext>
            </a:extLst>
          </p:cNvPr>
          <p:cNvSpPr>
            <a:spLocks noGrp="1"/>
          </p:cNvSpPr>
          <p:nvPr/>
        </p:nvSpPr>
        <p:spPr>
          <a:xfrm>
            <a:off x="8096250" y="3886200"/>
            <a:ext cx="2714625" cy="133350"/>
          </a:xfrm>
          <a:prstGeom prst="roundRect">
            <a:avLst>
              <a:gd name="adj" fmla="val 50000"/>
            </a:avLst>
          </a:prstGeom>
          <a:solidFill>
            <a:srgbClr val="E5E7EB"/>
          </a:solidFill>
          <a:ln w="0">
            <a:solidFill>
              <a:srgbClr val="E5E7EB"/>
            </a:solidFill>
            <a:prstDash val="solid"/>
          </a:ln>
        </p:spPr>
        <p:txBody>
          <a:bodyPr/>
          <a:lstStyle/>
          <a:p>
            <a:endParaRPr/>
          </a:p>
        </p:txBody>
      </p:sp>
      <p:sp>
        <p:nvSpPr>
          <p:cNvPr id="32" name="care-bar-3">
            <a:extLst>
              <a:ext uri="{FF2B5EF4-FFF2-40B4-BE49-F238E27FC236}">
                <a16:creationId xmlns:a16="http://schemas.microsoft.com/office/drawing/2014/main" id="{C5C2B7F4-C01C-4E74-9249-B3B2C87B1871}"/>
              </a:ext>
            </a:extLst>
          </p:cNvPr>
          <p:cNvSpPr>
            <a:spLocks noGrp="1"/>
          </p:cNvSpPr>
          <p:nvPr/>
        </p:nvSpPr>
        <p:spPr>
          <a:xfrm>
            <a:off x="8096250" y="3886200"/>
            <a:ext cx="1248728" cy="133350"/>
          </a:xfrm>
          <a:prstGeom prst="roundRect">
            <a:avLst>
              <a:gd name="adj" fmla="val 50000"/>
            </a:avLst>
          </a:prstGeom>
          <a:solidFill>
            <a:srgbClr val="6B7280"/>
          </a:solidFill>
          <a:ln w="0">
            <a:solidFill>
              <a:srgbClr val="6B7280"/>
            </a:solidFill>
            <a:prstDash val="solid"/>
          </a:ln>
        </p:spPr>
        <p:txBody>
          <a:bodyPr/>
          <a:lstStyle/>
          <a:p>
            <a:endParaRPr/>
          </a:p>
        </p:txBody>
      </p:sp>
      <p:sp>
        <p:nvSpPr>
          <p:cNvPr id="33" name="care-pct-3">
            <a:extLst>
              <a:ext uri="{FF2B5EF4-FFF2-40B4-BE49-F238E27FC236}">
                <a16:creationId xmlns:a16="http://schemas.microsoft.com/office/drawing/2014/main" id="{2AF2CE25-ECE1-4BCB-9124-821C234C0599}"/>
              </a:ext>
            </a:extLst>
          </p:cNvPr>
          <p:cNvSpPr>
            <a:spLocks noGrp="1"/>
          </p:cNvSpPr>
          <p:nvPr/>
        </p:nvSpPr>
        <p:spPr>
          <a:xfrm>
            <a:off x="10906125" y="3819525"/>
            <a:ext cx="523875" cy="266700"/>
          </a:xfrm>
          <a:prstGeom prst="rect">
            <a:avLst/>
          </a:prstGeom>
          <a:noFill/>
          <a:ln w="0">
            <a:noFill/>
            <a:prstDash val="solid"/>
          </a:ln>
        </p:spPr>
        <p:txBody>
          <a:bodyPr lIns="0" tIns="0" rIns="0" bIns="0" anchor="ctr">
            <a:noAutofit/>
          </a:bodyPr>
          <a:lstStyle/>
          <a:p>
            <a:pPr algn="r">
              <a:buNone/>
              <a:defRPr sz="1200" b="1" i="0">
                <a:solidFill>
                  <a:srgbClr val="6B7280"/>
                </a:solidFill>
              </a:defRPr>
            </a:pPr>
            <a:r>
              <a:rPr sz="1200" b="1" i="0">
                <a:solidFill>
                  <a:srgbClr val="6B7280"/>
                </a:solidFill>
              </a:rPr>
              <a:t>46%</a:t>
            </a:r>
          </a:p>
        </p:txBody>
      </p:sp>
      <p:sp>
        <p:nvSpPr>
          <p:cNvPr id="34" name="care-label-4">
            <a:extLst>
              <a:ext uri="{FF2B5EF4-FFF2-40B4-BE49-F238E27FC236}">
                <a16:creationId xmlns:a16="http://schemas.microsoft.com/office/drawing/2014/main" id="{B77C100F-156F-4314-826B-347FCC0C0455}"/>
              </a:ext>
            </a:extLst>
          </p:cNvPr>
          <p:cNvSpPr>
            <a:spLocks noGrp="1"/>
          </p:cNvSpPr>
          <p:nvPr/>
        </p:nvSpPr>
        <p:spPr>
          <a:xfrm>
            <a:off x="6191250" y="4362450"/>
            <a:ext cx="1809750" cy="247650"/>
          </a:xfrm>
          <a:prstGeom prst="rect">
            <a:avLst/>
          </a:prstGeom>
          <a:noFill/>
          <a:ln w="0">
            <a:noFill/>
            <a:prstDash val="solid"/>
          </a:ln>
        </p:spPr>
        <p:txBody>
          <a:bodyPr lIns="0" tIns="0" rIns="0" bIns="0" anchor="ctr">
            <a:noAutofit/>
          </a:bodyPr>
          <a:lstStyle/>
          <a:p>
            <a:pPr algn="l">
              <a:buNone/>
              <a:defRPr sz="1125" b="0" i="0">
                <a:solidFill>
                  <a:srgbClr val="111827"/>
                </a:solidFill>
              </a:defRPr>
            </a:pPr>
            <a:r>
              <a:rPr sz="1400" b="0" i="0">
                <a:solidFill>
                  <a:srgbClr val="111827"/>
                </a:solidFill>
              </a:rPr>
              <a:t>Active physical therapy</a:t>
            </a:r>
          </a:p>
        </p:txBody>
      </p:sp>
      <p:sp>
        <p:nvSpPr>
          <p:cNvPr id="35" name="care-track-4">
            <a:extLst>
              <a:ext uri="{FF2B5EF4-FFF2-40B4-BE49-F238E27FC236}">
                <a16:creationId xmlns:a16="http://schemas.microsoft.com/office/drawing/2014/main" id="{63258C85-E54F-439E-925A-936BDBF398F0}"/>
              </a:ext>
            </a:extLst>
          </p:cNvPr>
          <p:cNvSpPr>
            <a:spLocks noGrp="1"/>
          </p:cNvSpPr>
          <p:nvPr/>
        </p:nvSpPr>
        <p:spPr>
          <a:xfrm>
            <a:off x="8096250" y="4410075"/>
            <a:ext cx="2714625" cy="133350"/>
          </a:xfrm>
          <a:prstGeom prst="roundRect">
            <a:avLst>
              <a:gd name="adj" fmla="val 50000"/>
            </a:avLst>
          </a:prstGeom>
          <a:solidFill>
            <a:srgbClr val="E5E7EB"/>
          </a:solidFill>
          <a:ln w="0">
            <a:solidFill>
              <a:srgbClr val="E5E7EB"/>
            </a:solidFill>
            <a:prstDash val="solid"/>
          </a:ln>
        </p:spPr>
        <p:txBody>
          <a:bodyPr/>
          <a:lstStyle/>
          <a:p>
            <a:endParaRPr/>
          </a:p>
        </p:txBody>
      </p:sp>
      <p:sp>
        <p:nvSpPr>
          <p:cNvPr id="36" name="care-bar-4">
            <a:extLst>
              <a:ext uri="{FF2B5EF4-FFF2-40B4-BE49-F238E27FC236}">
                <a16:creationId xmlns:a16="http://schemas.microsoft.com/office/drawing/2014/main" id="{2694715A-9F12-4BF5-97F0-D78B30ECBB5D}"/>
              </a:ext>
            </a:extLst>
          </p:cNvPr>
          <p:cNvSpPr>
            <a:spLocks noGrp="1"/>
          </p:cNvSpPr>
          <p:nvPr/>
        </p:nvSpPr>
        <p:spPr>
          <a:xfrm>
            <a:off x="8096250" y="4410075"/>
            <a:ext cx="1194435" cy="133350"/>
          </a:xfrm>
          <a:prstGeom prst="roundRect">
            <a:avLst>
              <a:gd name="adj" fmla="val 50000"/>
            </a:avLst>
          </a:prstGeom>
          <a:solidFill>
            <a:srgbClr val="6B7280"/>
          </a:solidFill>
          <a:ln w="0">
            <a:solidFill>
              <a:srgbClr val="6B7280"/>
            </a:solidFill>
            <a:prstDash val="solid"/>
          </a:ln>
        </p:spPr>
        <p:txBody>
          <a:bodyPr/>
          <a:lstStyle/>
          <a:p>
            <a:endParaRPr/>
          </a:p>
        </p:txBody>
      </p:sp>
      <p:sp>
        <p:nvSpPr>
          <p:cNvPr id="37" name="care-pct-4">
            <a:extLst>
              <a:ext uri="{FF2B5EF4-FFF2-40B4-BE49-F238E27FC236}">
                <a16:creationId xmlns:a16="http://schemas.microsoft.com/office/drawing/2014/main" id="{8717A3EC-33AD-497D-B71E-A638E5760CC8}"/>
              </a:ext>
            </a:extLst>
          </p:cNvPr>
          <p:cNvSpPr>
            <a:spLocks noGrp="1"/>
          </p:cNvSpPr>
          <p:nvPr/>
        </p:nvSpPr>
        <p:spPr>
          <a:xfrm>
            <a:off x="10906125" y="4343400"/>
            <a:ext cx="523875" cy="266700"/>
          </a:xfrm>
          <a:prstGeom prst="rect">
            <a:avLst/>
          </a:prstGeom>
          <a:noFill/>
          <a:ln w="0">
            <a:noFill/>
            <a:prstDash val="solid"/>
          </a:ln>
        </p:spPr>
        <p:txBody>
          <a:bodyPr lIns="0" tIns="0" rIns="0" bIns="0" anchor="ctr">
            <a:noAutofit/>
          </a:bodyPr>
          <a:lstStyle/>
          <a:p>
            <a:pPr algn="r">
              <a:buNone/>
              <a:defRPr sz="1200" b="1" i="0">
                <a:solidFill>
                  <a:srgbClr val="6B7280"/>
                </a:solidFill>
              </a:defRPr>
            </a:pPr>
            <a:r>
              <a:rPr sz="1200" b="1" i="0">
                <a:solidFill>
                  <a:srgbClr val="6B7280"/>
                </a:solidFill>
              </a:rPr>
              <a:t>44%</a:t>
            </a:r>
          </a:p>
        </p:txBody>
      </p:sp>
      <p:sp>
        <p:nvSpPr>
          <p:cNvPr id="38" name="care-label-5">
            <a:extLst>
              <a:ext uri="{FF2B5EF4-FFF2-40B4-BE49-F238E27FC236}">
                <a16:creationId xmlns:a16="http://schemas.microsoft.com/office/drawing/2014/main" id="{42A2F9F9-26F4-4AF6-9348-CFC3E251E3F9}"/>
              </a:ext>
            </a:extLst>
          </p:cNvPr>
          <p:cNvSpPr>
            <a:spLocks noGrp="1"/>
          </p:cNvSpPr>
          <p:nvPr/>
        </p:nvSpPr>
        <p:spPr>
          <a:xfrm>
            <a:off x="6191250" y="4886325"/>
            <a:ext cx="1809750" cy="247650"/>
          </a:xfrm>
          <a:prstGeom prst="rect">
            <a:avLst/>
          </a:prstGeom>
          <a:noFill/>
          <a:ln w="0">
            <a:noFill/>
            <a:prstDash val="solid"/>
          </a:ln>
        </p:spPr>
        <p:txBody>
          <a:bodyPr lIns="0" tIns="0" rIns="0" bIns="0" anchor="ctr">
            <a:noAutofit/>
          </a:bodyPr>
          <a:lstStyle/>
          <a:p>
            <a:pPr algn="l">
              <a:buNone/>
              <a:defRPr sz="1125" b="0" i="0">
                <a:solidFill>
                  <a:srgbClr val="111827"/>
                </a:solidFill>
              </a:defRPr>
            </a:pPr>
            <a:r>
              <a:rPr sz="1400" b="0" i="0">
                <a:solidFill>
                  <a:srgbClr val="111827"/>
                </a:solidFill>
              </a:rPr>
              <a:t>Oral steroids</a:t>
            </a:r>
          </a:p>
        </p:txBody>
      </p:sp>
      <p:sp>
        <p:nvSpPr>
          <p:cNvPr id="39" name="care-track-5">
            <a:extLst>
              <a:ext uri="{FF2B5EF4-FFF2-40B4-BE49-F238E27FC236}">
                <a16:creationId xmlns:a16="http://schemas.microsoft.com/office/drawing/2014/main" id="{0114FDFD-21D6-458E-8CA0-7B2160B19210}"/>
              </a:ext>
            </a:extLst>
          </p:cNvPr>
          <p:cNvSpPr>
            <a:spLocks noGrp="1"/>
          </p:cNvSpPr>
          <p:nvPr/>
        </p:nvSpPr>
        <p:spPr>
          <a:xfrm>
            <a:off x="8096250" y="4933950"/>
            <a:ext cx="2714625" cy="133350"/>
          </a:xfrm>
          <a:prstGeom prst="roundRect">
            <a:avLst>
              <a:gd name="adj" fmla="val 50000"/>
            </a:avLst>
          </a:prstGeom>
          <a:solidFill>
            <a:srgbClr val="E5E7EB"/>
          </a:solidFill>
          <a:ln w="0">
            <a:solidFill>
              <a:srgbClr val="E5E7EB"/>
            </a:solidFill>
            <a:prstDash val="solid"/>
          </a:ln>
        </p:spPr>
        <p:txBody>
          <a:bodyPr/>
          <a:lstStyle/>
          <a:p>
            <a:endParaRPr/>
          </a:p>
        </p:txBody>
      </p:sp>
      <p:sp>
        <p:nvSpPr>
          <p:cNvPr id="40" name="care-bar-5">
            <a:extLst>
              <a:ext uri="{FF2B5EF4-FFF2-40B4-BE49-F238E27FC236}">
                <a16:creationId xmlns:a16="http://schemas.microsoft.com/office/drawing/2014/main" id="{EE0E6F00-4091-4E49-B253-3B825CE333A0}"/>
              </a:ext>
            </a:extLst>
          </p:cNvPr>
          <p:cNvSpPr>
            <a:spLocks noGrp="1"/>
          </p:cNvSpPr>
          <p:nvPr/>
        </p:nvSpPr>
        <p:spPr>
          <a:xfrm>
            <a:off x="8096250" y="4933950"/>
            <a:ext cx="135731" cy="133350"/>
          </a:xfrm>
          <a:prstGeom prst="roundRect">
            <a:avLst>
              <a:gd name="adj" fmla="val 50000"/>
            </a:avLst>
          </a:prstGeom>
          <a:solidFill>
            <a:srgbClr val="6B7280"/>
          </a:solidFill>
          <a:ln w="0">
            <a:solidFill>
              <a:srgbClr val="6B7280"/>
            </a:solidFill>
            <a:prstDash val="solid"/>
          </a:ln>
        </p:spPr>
        <p:txBody>
          <a:bodyPr/>
          <a:lstStyle/>
          <a:p>
            <a:endParaRPr/>
          </a:p>
        </p:txBody>
      </p:sp>
      <p:sp>
        <p:nvSpPr>
          <p:cNvPr id="41" name="care-pct-5">
            <a:extLst>
              <a:ext uri="{FF2B5EF4-FFF2-40B4-BE49-F238E27FC236}">
                <a16:creationId xmlns:a16="http://schemas.microsoft.com/office/drawing/2014/main" id="{4816A6CD-7E9F-4C53-AAFD-D80659E171E5}"/>
              </a:ext>
            </a:extLst>
          </p:cNvPr>
          <p:cNvSpPr>
            <a:spLocks noGrp="1"/>
          </p:cNvSpPr>
          <p:nvPr/>
        </p:nvSpPr>
        <p:spPr>
          <a:xfrm>
            <a:off x="10906125" y="4867275"/>
            <a:ext cx="523875" cy="266700"/>
          </a:xfrm>
          <a:prstGeom prst="rect">
            <a:avLst/>
          </a:prstGeom>
          <a:noFill/>
          <a:ln w="0">
            <a:noFill/>
            <a:prstDash val="solid"/>
          </a:ln>
        </p:spPr>
        <p:txBody>
          <a:bodyPr lIns="0" tIns="0" rIns="0" bIns="0" anchor="ctr">
            <a:noAutofit/>
          </a:bodyPr>
          <a:lstStyle/>
          <a:p>
            <a:pPr algn="r">
              <a:buNone/>
              <a:defRPr sz="1200" b="1" i="0">
                <a:solidFill>
                  <a:srgbClr val="6B7280"/>
                </a:solidFill>
              </a:defRPr>
            </a:pPr>
            <a:r>
              <a:rPr sz="1200" b="1" i="0">
                <a:solidFill>
                  <a:srgbClr val="6B7280"/>
                </a:solidFill>
              </a:rPr>
              <a:t>5%</a:t>
            </a:r>
          </a:p>
        </p:txBody>
      </p:sp>
      <p:sp>
        <p:nvSpPr>
          <p:cNvPr id="43" name="footer-rule-4">
            <a:extLst>
              <a:ext uri="{FF2B5EF4-FFF2-40B4-BE49-F238E27FC236}">
                <a16:creationId xmlns:a16="http://schemas.microsoft.com/office/drawing/2014/main" id="{69179930-FC2C-4DDC-95D4-3112780AB8AA}"/>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45" name="num-4">
            <a:extLst>
              <a:ext uri="{FF2B5EF4-FFF2-40B4-BE49-F238E27FC236}">
                <a16:creationId xmlns:a16="http://schemas.microsoft.com/office/drawing/2014/main" id="{7107E48E-4C9D-494F-A7F2-6D1CB42EDEAF}"/>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04</a:t>
            </a:r>
          </a:p>
        </p:txBody>
      </p:sp>
    </p:spTree>
    <p:extLst>
      <p:ext uri="{BB962C8B-B14F-4D97-AF65-F5344CB8AC3E}">
        <p14:creationId xmlns:p14="http://schemas.microsoft.com/office/powerpoint/2010/main" val="692754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5">
            <a:extLst>
              <a:ext uri="{FF2B5EF4-FFF2-40B4-BE49-F238E27FC236}">
                <a16:creationId xmlns:a16="http://schemas.microsoft.com/office/drawing/2014/main" id="{665E7E12-E4D3-489E-9905-5DB5354FB4A6}"/>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Treatment Exposure: Surgery</a:t>
            </a:r>
          </a:p>
        </p:txBody>
      </p:sp>
      <p:sp>
        <p:nvSpPr>
          <p:cNvPr id="2" name="title-rule-5">
            <a:extLst>
              <a:ext uri="{FF2B5EF4-FFF2-40B4-BE49-F238E27FC236}">
                <a16:creationId xmlns:a16="http://schemas.microsoft.com/office/drawing/2014/main" id="{8C040A83-B636-4874-96CE-AB92DFCBCC1C}"/>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schedule">
            <a:extLst>
              <a:ext uri="{FF2B5EF4-FFF2-40B4-BE49-F238E27FC236}">
                <a16:creationId xmlns:a16="http://schemas.microsoft.com/office/drawing/2014/main" id="{F3E8751E-4A30-48D2-8617-F3D92A9F72FD}"/>
              </a:ext>
            </a:extLst>
          </p:cNvPr>
          <p:cNvSpPr>
            <a:spLocks noGrp="1"/>
          </p:cNvSpPr>
          <p:nvPr/>
        </p:nvSpPr>
        <p:spPr>
          <a:xfrm>
            <a:off x="609600" y="1200150"/>
            <a:ext cx="8572500" cy="22860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900" b="1" i="0">
                <a:solidFill>
                  <a:srgbClr val="1F4E79"/>
                </a:solidFill>
              </a:rPr>
              <a:t>OUTCOME ASSESSMENTS  ·  6 WEEKS  ·  3 MONTHS  ·  6 MONTHS  ·  1 YEAR  ·  2 YEARS</a:t>
            </a:r>
          </a:p>
        </p:txBody>
      </p:sp>
      <p:graphicFrame>
        <p:nvGraphicFramePr>
          <p:cNvPr id="23" name="Chart"/>
          <p:cNvGraphicFramePr/>
          <p:nvPr/>
        </p:nvGraphicFramePr>
        <p:xfrm>
          <a:off x="523875" y="1571625"/>
          <a:ext cx="809625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5" name="exposure-rail">
            <a:extLst>
              <a:ext uri="{FF2B5EF4-FFF2-40B4-BE49-F238E27FC236}">
                <a16:creationId xmlns:a16="http://schemas.microsoft.com/office/drawing/2014/main" id="{3F745745-6346-4178-A20F-F86C2EF32FE4}"/>
              </a:ext>
            </a:extLst>
          </p:cNvPr>
          <p:cNvSpPr>
            <a:spLocks noGrp="1"/>
          </p:cNvSpPr>
          <p:nvPr/>
        </p:nvSpPr>
        <p:spPr>
          <a:xfrm>
            <a:off x="9048750" y="1619250"/>
            <a:ext cx="9525" cy="4095750"/>
          </a:xfrm>
          <a:prstGeom prst="rect">
            <a:avLst/>
          </a:prstGeom>
          <a:solidFill>
            <a:srgbClr val="E5E7EB"/>
          </a:solidFill>
          <a:ln w="0">
            <a:solidFill>
              <a:srgbClr val="E5E7EB"/>
            </a:solidFill>
            <a:prstDash val="solid"/>
          </a:ln>
        </p:spPr>
        <p:txBody>
          <a:bodyPr/>
          <a:lstStyle/>
          <a:p>
            <a:endParaRPr/>
          </a:p>
        </p:txBody>
      </p:sp>
      <p:sp>
        <p:nvSpPr>
          <p:cNvPr id="6" name="gap-time-0">
            <a:extLst>
              <a:ext uri="{FF2B5EF4-FFF2-40B4-BE49-F238E27FC236}">
                <a16:creationId xmlns:a16="http://schemas.microsoft.com/office/drawing/2014/main" id="{39EB2870-6C72-4629-AEE9-01E0605BB68F}"/>
              </a:ext>
            </a:extLst>
          </p:cNvPr>
          <p:cNvSpPr>
            <a:spLocks noGrp="1"/>
          </p:cNvSpPr>
          <p:nvPr/>
        </p:nvSpPr>
        <p:spPr>
          <a:xfrm>
            <a:off x="9721591" y="2138362"/>
            <a:ext cx="1809750" cy="190500"/>
          </a:xfrm>
          <a:prstGeom prst="rect">
            <a:avLst/>
          </a:prstGeom>
          <a:noFill/>
          <a:ln w="0">
            <a:noFill/>
            <a:prstDash val="solid"/>
          </a:ln>
        </p:spPr>
        <p:txBody>
          <a:bodyPr lIns="0" tIns="0" rIns="0" bIns="0" anchor="ctr">
            <a:noAutofit/>
          </a:bodyPr>
          <a:lstStyle/>
          <a:p>
            <a:pPr algn="ctr">
              <a:buNone/>
              <a:defRPr sz="825" b="1" i="0">
                <a:solidFill>
                  <a:srgbClr val="4B5563"/>
                </a:solidFill>
              </a:defRPr>
            </a:pPr>
            <a:r>
              <a:rPr sz="1200" b="1" i="0">
                <a:solidFill>
                  <a:srgbClr val="4B5563"/>
                </a:solidFill>
              </a:rPr>
              <a:t>6 WEEKS</a:t>
            </a:r>
          </a:p>
        </p:txBody>
      </p:sp>
      <p:sp>
        <p:nvSpPr>
          <p:cNvPr id="7" name="gap-values-0">
            <a:extLst>
              <a:ext uri="{FF2B5EF4-FFF2-40B4-BE49-F238E27FC236}">
                <a16:creationId xmlns:a16="http://schemas.microsoft.com/office/drawing/2014/main" id="{42490D7B-A93D-4D6C-9AFE-BB92B41946A8}"/>
              </a:ext>
            </a:extLst>
          </p:cNvPr>
          <p:cNvSpPr>
            <a:spLocks noGrp="1"/>
          </p:cNvSpPr>
          <p:nvPr/>
        </p:nvSpPr>
        <p:spPr>
          <a:xfrm>
            <a:off x="9721591" y="2366962"/>
            <a:ext cx="2000250" cy="400050"/>
          </a:xfrm>
          <a:prstGeom prst="rect">
            <a:avLst/>
          </a:prstGeom>
          <a:noFill/>
          <a:ln w="0">
            <a:noFill/>
            <a:prstDash val="solid"/>
          </a:ln>
        </p:spPr>
        <p:txBody>
          <a:bodyPr lIns="0" tIns="0" rIns="0" bIns="0" anchor="ctr">
            <a:noAutofit/>
          </a:bodyPr>
          <a:lstStyle/>
          <a:p>
            <a:pPr algn="ctr">
              <a:buNone/>
              <a:defRPr sz="2175" b="1" i="0">
                <a:solidFill>
                  <a:srgbClr val="1F4E79"/>
                </a:solidFill>
              </a:defRPr>
            </a:pPr>
            <a:r>
              <a:rPr sz="2175" b="1" i="0">
                <a:solidFill>
                  <a:srgbClr val="1F4E79"/>
                </a:solidFill>
              </a:rPr>
              <a:t>32% / 18%</a:t>
            </a:r>
          </a:p>
        </p:txBody>
      </p:sp>
      <p:sp>
        <p:nvSpPr>
          <p:cNvPr id="8" name="gap-label-0">
            <a:extLst>
              <a:ext uri="{FF2B5EF4-FFF2-40B4-BE49-F238E27FC236}">
                <a16:creationId xmlns:a16="http://schemas.microsoft.com/office/drawing/2014/main" id="{5F314FE8-E15D-4764-9D10-55470B667CBF}"/>
              </a:ext>
            </a:extLst>
          </p:cNvPr>
          <p:cNvSpPr>
            <a:spLocks noGrp="1"/>
          </p:cNvSpPr>
          <p:nvPr/>
        </p:nvSpPr>
        <p:spPr>
          <a:xfrm>
            <a:off x="9721591" y="2786062"/>
            <a:ext cx="1809750" cy="219075"/>
          </a:xfrm>
          <a:prstGeom prst="rect">
            <a:avLst/>
          </a:prstGeom>
          <a:noFill/>
          <a:ln w="0">
            <a:noFill/>
            <a:prstDash val="solid"/>
          </a:ln>
        </p:spPr>
        <p:txBody>
          <a:bodyPr lIns="0" tIns="0" rIns="0" bIns="0" anchor="ctr">
            <a:noAutofit/>
          </a:bodyPr>
          <a:lstStyle/>
          <a:p>
            <a:pPr algn="ctr">
              <a:buNone/>
              <a:defRPr sz="900" b="1" i="0">
                <a:solidFill>
                  <a:srgbClr val="4B5563"/>
                </a:solidFill>
              </a:defRPr>
            </a:pPr>
            <a:r>
              <a:rPr sz="1000" b="1" i="0">
                <a:solidFill>
                  <a:srgbClr val="4B5563"/>
                </a:solidFill>
              </a:rPr>
              <a:t>14-POINT GAP</a:t>
            </a:r>
          </a:p>
        </p:txBody>
      </p:sp>
      <p:sp>
        <p:nvSpPr>
          <p:cNvPr id="9" name="gap-time-1">
            <a:extLst>
              <a:ext uri="{FF2B5EF4-FFF2-40B4-BE49-F238E27FC236}">
                <a16:creationId xmlns:a16="http://schemas.microsoft.com/office/drawing/2014/main" id="{75D0D045-89FA-4328-B296-C2EBF2CBDD1D}"/>
              </a:ext>
            </a:extLst>
          </p:cNvPr>
          <p:cNvSpPr>
            <a:spLocks noGrp="1"/>
          </p:cNvSpPr>
          <p:nvPr/>
        </p:nvSpPr>
        <p:spPr>
          <a:xfrm>
            <a:off x="9721591" y="3338512"/>
            <a:ext cx="1809750" cy="190500"/>
          </a:xfrm>
          <a:prstGeom prst="rect">
            <a:avLst/>
          </a:prstGeom>
          <a:noFill/>
          <a:ln w="0">
            <a:noFill/>
            <a:prstDash val="solid"/>
          </a:ln>
        </p:spPr>
        <p:txBody>
          <a:bodyPr lIns="0" tIns="0" rIns="0" bIns="0" anchor="ctr">
            <a:noAutofit/>
          </a:bodyPr>
          <a:lstStyle/>
          <a:p>
            <a:pPr algn="ctr">
              <a:buNone/>
              <a:defRPr sz="825" b="1" i="0">
                <a:solidFill>
                  <a:srgbClr val="4B5563"/>
                </a:solidFill>
              </a:defRPr>
            </a:pPr>
            <a:r>
              <a:rPr sz="1200" b="1" i="0">
                <a:solidFill>
                  <a:srgbClr val="4B5563"/>
                </a:solidFill>
              </a:rPr>
              <a:t>3 MONTHS</a:t>
            </a:r>
          </a:p>
        </p:txBody>
      </p:sp>
      <p:sp>
        <p:nvSpPr>
          <p:cNvPr id="10" name="gap-values-1">
            <a:extLst>
              <a:ext uri="{FF2B5EF4-FFF2-40B4-BE49-F238E27FC236}">
                <a16:creationId xmlns:a16="http://schemas.microsoft.com/office/drawing/2014/main" id="{1926B0BF-86C4-4085-AB83-98C3253C6356}"/>
              </a:ext>
            </a:extLst>
          </p:cNvPr>
          <p:cNvSpPr>
            <a:spLocks noGrp="1"/>
          </p:cNvSpPr>
          <p:nvPr/>
        </p:nvSpPr>
        <p:spPr>
          <a:xfrm>
            <a:off x="9721591" y="3567112"/>
            <a:ext cx="2000250" cy="400050"/>
          </a:xfrm>
          <a:prstGeom prst="rect">
            <a:avLst/>
          </a:prstGeom>
          <a:noFill/>
          <a:ln w="0">
            <a:noFill/>
            <a:prstDash val="solid"/>
          </a:ln>
        </p:spPr>
        <p:txBody>
          <a:bodyPr lIns="0" tIns="0" rIns="0" bIns="0" anchor="ctr">
            <a:noAutofit/>
          </a:bodyPr>
          <a:lstStyle/>
          <a:p>
            <a:pPr algn="ctr">
              <a:buNone/>
              <a:defRPr sz="2175" b="1" i="0">
                <a:solidFill>
                  <a:srgbClr val="1F4E79"/>
                </a:solidFill>
              </a:defRPr>
            </a:pPr>
            <a:r>
              <a:rPr sz="2175" b="1" i="0">
                <a:solidFill>
                  <a:srgbClr val="1F4E79"/>
                </a:solidFill>
              </a:rPr>
              <a:t>50% / 30%</a:t>
            </a:r>
          </a:p>
        </p:txBody>
      </p:sp>
      <p:sp>
        <p:nvSpPr>
          <p:cNvPr id="11" name="gap-label-1">
            <a:extLst>
              <a:ext uri="{FF2B5EF4-FFF2-40B4-BE49-F238E27FC236}">
                <a16:creationId xmlns:a16="http://schemas.microsoft.com/office/drawing/2014/main" id="{677460A9-F233-41FC-A07D-B20C3B61EBAF}"/>
              </a:ext>
            </a:extLst>
          </p:cNvPr>
          <p:cNvSpPr>
            <a:spLocks noGrp="1"/>
          </p:cNvSpPr>
          <p:nvPr/>
        </p:nvSpPr>
        <p:spPr>
          <a:xfrm>
            <a:off x="9721591" y="3986212"/>
            <a:ext cx="1809750" cy="219075"/>
          </a:xfrm>
          <a:prstGeom prst="rect">
            <a:avLst/>
          </a:prstGeom>
          <a:noFill/>
          <a:ln w="0">
            <a:noFill/>
            <a:prstDash val="solid"/>
          </a:ln>
        </p:spPr>
        <p:txBody>
          <a:bodyPr lIns="0" tIns="0" rIns="0" bIns="0" anchor="ctr">
            <a:noAutofit/>
          </a:bodyPr>
          <a:lstStyle/>
          <a:p>
            <a:pPr algn="ctr">
              <a:buNone/>
              <a:defRPr sz="900" b="1" i="0">
                <a:solidFill>
                  <a:srgbClr val="4B5563"/>
                </a:solidFill>
              </a:defRPr>
            </a:pPr>
            <a:r>
              <a:rPr sz="1000" b="1" i="0">
                <a:solidFill>
                  <a:srgbClr val="4B5563"/>
                </a:solidFill>
              </a:rPr>
              <a:t>20-POINT GAP</a:t>
            </a:r>
          </a:p>
        </p:txBody>
      </p:sp>
      <p:sp>
        <p:nvSpPr>
          <p:cNvPr id="12" name="gap-time-2">
            <a:extLst>
              <a:ext uri="{FF2B5EF4-FFF2-40B4-BE49-F238E27FC236}">
                <a16:creationId xmlns:a16="http://schemas.microsoft.com/office/drawing/2014/main" id="{65B492C4-C441-4901-B5EE-CD13C26DBD11}"/>
              </a:ext>
            </a:extLst>
          </p:cNvPr>
          <p:cNvSpPr>
            <a:spLocks noGrp="1"/>
          </p:cNvSpPr>
          <p:nvPr/>
        </p:nvSpPr>
        <p:spPr>
          <a:xfrm>
            <a:off x="9721591" y="4538662"/>
            <a:ext cx="1809750" cy="190500"/>
          </a:xfrm>
          <a:prstGeom prst="rect">
            <a:avLst/>
          </a:prstGeom>
          <a:noFill/>
          <a:ln w="0">
            <a:noFill/>
            <a:prstDash val="solid"/>
          </a:ln>
        </p:spPr>
        <p:txBody>
          <a:bodyPr lIns="0" tIns="0" rIns="0" bIns="0" anchor="ctr">
            <a:noAutofit/>
          </a:bodyPr>
          <a:lstStyle/>
          <a:p>
            <a:pPr algn="ctr">
              <a:buNone/>
              <a:defRPr sz="825" b="1" i="0">
                <a:solidFill>
                  <a:srgbClr val="4B5563"/>
                </a:solidFill>
              </a:defRPr>
            </a:pPr>
            <a:r>
              <a:rPr sz="1200" b="1" i="0">
                <a:solidFill>
                  <a:srgbClr val="4B5563"/>
                </a:solidFill>
              </a:rPr>
              <a:t>2 YEARS</a:t>
            </a:r>
          </a:p>
        </p:txBody>
      </p:sp>
      <p:sp>
        <p:nvSpPr>
          <p:cNvPr id="13" name="gap-values-2">
            <a:extLst>
              <a:ext uri="{FF2B5EF4-FFF2-40B4-BE49-F238E27FC236}">
                <a16:creationId xmlns:a16="http://schemas.microsoft.com/office/drawing/2014/main" id="{FAD3C491-D231-407C-A699-191D19EB080C}"/>
              </a:ext>
            </a:extLst>
          </p:cNvPr>
          <p:cNvSpPr>
            <a:spLocks noGrp="1"/>
          </p:cNvSpPr>
          <p:nvPr/>
        </p:nvSpPr>
        <p:spPr>
          <a:xfrm>
            <a:off x="9721591" y="4767262"/>
            <a:ext cx="2000250" cy="400050"/>
          </a:xfrm>
          <a:prstGeom prst="rect">
            <a:avLst/>
          </a:prstGeom>
          <a:noFill/>
          <a:ln w="0">
            <a:noFill/>
            <a:prstDash val="solid"/>
          </a:ln>
        </p:spPr>
        <p:txBody>
          <a:bodyPr lIns="0" tIns="0" rIns="0" bIns="0" anchor="ctr">
            <a:noAutofit/>
          </a:bodyPr>
          <a:lstStyle/>
          <a:p>
            <a:pPr algn="ctr">
              <a:buNone/>
              <a:defRPr sz="2175" b="1" i="0">
                <a:solidFill>
                  <a:srgbClr val="1F4E79"/>
                </a:solidFill>
              </a:defRPr>
            </a:pPr>
            <a:r>
              <a:rPr sz="2175" b="1" i="0">
                <a:solidFill>
                  <a:srgbClr val="1F4E79"/>
                </a:solidFill>
              </a:rPr>
              <a:t>60% / 45%</a:t>
            </a:r>
          </a:p>
        </p:txBody>
      </p:sp>
      <p:sp>
        <p:nvSpPr>
          <p:cNvPr id="14" name="gap-label-2">
            <a:extLst>
              <a:ext uri="{FF2B5EF4-FFF2-40B4-BE49-F238E27FC236}">
                <a16:creationId xmlns:a16="http://schemas.microsoft.com/office/drawing/2014/main" id="{837958DB-79D1-4001-A4D8-7C425BE4EE42}"/>
              </a:ext>
            </a:extLst>
          </p:cNvPr>
          <p:cNvSpPr>
            <a:spLocks noGrp="1"/>
          </p:cNvSpPr>
          <p:nvPr/>
        </p:nvSpPr>
        <p:spPr>
          <a:xfrm>
            <a:off x="9721591" y="5186362"/>
            <a:ext cx="1809750" cy="219075"/>
          </a:xfrm>
          <a:prstGeom prst="rect">
            <a:avLst/>
          </a:prstGeom>
          <a:noFill/>
          <a:ln w="0">
            <a:noFill/>
            <a:prstDash val="solid"/>
          </a:ln>
        </p:spPr>
        <p:txBody>
          <a:bodyPr lIns="0" tIns="0" rIns="0" bIns="0" anchor="ctr">
            <a:noAutofit/>
          </a:bodyPr>
          <a:lstStyle/>
          <a:p>
            <a:pPr algn="ctr">
              <a:buNone/>
              <a:defRPr sz="900" b="1" i="0">
                <a:solidFill>
                  <a:srgbClr val="4B5563"/>
                </a:solidFill>
              </a:defRPr>
            </a:pPr>
            <a:r>
              <a:rPr sz="1000" b="1" i="0">
                <a:solidFill>
                  <a:srgbClr val="4B5563"/>
                </a:solidFill>
              </a:rPr>
              <a:t>15-POINT GAP</a:t>
            </a:r>
          </a:p>
        </p:txBody>
      </p:sp>
      <p:sp>
        <p:nvSpPr>
          <p:cNvPr id="15" name="footer-rule-5">
            <a:extLst>
              <a:ext uri="{FF2B5EF4-FFF2-40B4-BE49-F238E27FC236}">
                <a16:creationId xmlns:a16="http://schemas.microsoft.com/office/drawing/2014/main" id="{0A558CAF-0B77-4D52-9DEF-511CCF9467AF}"/>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17" name="num-5">
            <a:extLst>
              <a:ext uri="{FF2B5EF4-FFF2-40B4-BE49-F238E27FC236}">
                <a16:creationId xmlns:a16="http://schemas.microsoft.com/office/drawing/2014/main" id="{5553A28D-65BB-4DD6-B320-DE215FE2768A}"/>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05</a:t>
            </a:r>
          </a:p>
        </p:txBody>
      </p:sp>
      <p:sp>
        <p:nvSpPr>
          <p:cNvPr id="4" name="gap-values-0">
            <a:extLst>
              <a:ext uri="{FF2B5EF4-FFF2-40B4-BE49-F238E27FC236}">
                <a16:creationId xmlns:a16="http://schemas.microsoft.com/office/drawing/2014/main" id="{E2B68494-4F90-B288-F3C8-6EBC4BD2A0C8}"/>
              </a:ext>
            </a:extLst>
          </p:cNvPr>
          <p:cNvSpPr>
            <a:spLocks noGrp="1"/>
          </p:cNvSpPr>
          <p:nvPr/>
        </p:nvSpPr>
        <p:spPr>
          <a:xfrm>
            <a:off x="9575116" y="1166812"/>
            <a:ext cx="2293200" cy="400050"/>
          </a:xfrm>
          <a:prstGeom prst="rect">
            <a:avLst/>
          </a:prstGeom>
          <a:noFill/>
          <a:ln w="0">
            <a:noFill/>
            <a:prstDash val="solid"/>
          </a:ln>
        </p:spPr>
        <p:txBody>
          <a:bodyPr lIns="0" tIns="0" rIns="0" bIns="0" anchor="ctr">
            <a:noAutofit/>
          </a:bodyPr>
          <a:lstStyle/>
          <a:p>
            <a:pPr algn="ctr">
              <a:buNone/>
              <a:defRPr sz="2175" b="1" i="0">
                <a:solidFill>
                  <a:srgbClr val="1F4E79"/>
                </a:solidFill>
              </a:defRPr>
            </a:pPr>
            <a:r>
              <a:rPr sz="2000" b="1">
                <a:solidFill>
                  <a:srgbClr val="1F4E79"/>
                </a:solidFill>
              </a:rPr>
              <a:t>Surgery Group</a:t>
            </a:r>
            <a:r>
              <a:rPr sz="2000" b="1" i="0">
                <a:solidFill>
                  <a:srgbClr val="1F4E79"/>
                </a:solidFill>
              </a:rPr>
              <a:t> / </a:t>
            </a:r>
          </a:p>
          <a:p>
            <a:pPr algn="ctr">
              <a:buNone/>
              <a:defRPr sz="2175" b="1" i="0">
                <a:solidFill>
                  <a:srgbClr val="1F4E79"/>
                </a:solidFill>
              </a:defRPr>
            </a:pPr>
            <a:r>
              <a:rPr sz="2000" b="1">
                <a:solidFill>
                  <a:srgbClr val="1F4E79"/>
                </a:solidFill>
              </a:rPr>
              <a:t>Conservative Group</a:t>
            </a:r>
          </a:p>
        </p:txBody>
      </p:sp>
    </p:spTree>
    <p:extLst>
      <p:ext uri="{BB962C8B-B14F-4D97-AF65-F5344CB8AC3E}">
        <p14:creationId xmlns:p14="http://schemas.microsoft.com/office/powerpoint/2010/main" val="200195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itle-6">
            <a:extLst>
              <a:ext uri="{FF2B5EF4-FFF2-40B4-BE49-F238E27FC236}">
                <a16:creationId xmlns:a16="http://schemas.microsoft.com/office/drawing/2014/main" id="{AB0F7B79-1C0F-4BE6-8EAD-D53362640773}"/>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Analysis in Bidirectional Crossover</a:t>
            </a:r>
          </a:p>
        </p:txBody>
      </p:sp>
      <p:sp>
        <p:nvSpPr>
          <p:cNvPr id="2" name="title-rule-6">
            <a:extLst>
              <a:ext uri="{FF2B5EF4-FFF2-40B4-BE49-F238E27FC236}">
                <a16:creationId xmlns:a16="http://schemas.microsoft.com/office/drawing/2014/main" id="{F1D2D837-A1B4-432A-89B5-702ADF6C16A5}"/>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n-randomized">
            <a:extLst>
              <a:ext uri="{FF2B5EF4-FFF2-40B4-BE49-F238E27FC236}">
                <a16:creationId xmlns:a16="http://schemas.microsoft.com/office/drawing/2014/main" id="{F7668524-4FBF-40EA-8C24-4F2A287C5192}"/>
              </a:ext>
            </a:extLst>
          </p:cNvPr>
          <p:cNvSpPr>
            <a:spLocks noGrp="1"/>
          </p:cNvSpPr>
          <p:nvPr/>
        </p:nvSpPr>
        <p:spPr>
          <a:xfrm>
            <a:off x="5832844" y="1451902"/>
            <a:ext cx="526312" cy="609599"/>
          </a:xfrm>
          <a:prstGeom prst="rect">
            <a:avLst/>
          </a:prstGeom>
          <a:noFill/>
          <a:ln w="0">
            <a:noFill/>
            <a:prstDash val="solid"/>
          </a:ln>
        </p:spPr>
        <p:txBody>
          <a:bodyPr lIns="0" tIns="0" rIns="0" bIns="0" anchor="ctr">
            <a:noAutofit/>
          </a:bodyPr>
          <a:lstStyle/>
          <a:p>
            <a:pPr algn="l">
              <a:buNone/>
              <a:defRPr sz="1350" b="1" i="0">
                <a:solidFill>
                  <a:srgbClr val="1F4E79"/>
                </a:solidFill>
              </a:defRPr>
            </a:pPr>
            <a:r>
              <a:rPr sz="2500" b="1" i="0">
                <a:solidFill>
                  <a:srgbClr val="1F4E79"/>
                </a:solidFill>
              </a:rPr>
              <a:t>501</a:t>
            </a:r>
          </a:p>
        </p:txBody>
      </p:sp>
      <p:sp>
        <p:nvSpPr>
          <p:cNvPr id="4" name="random-text">
            <a:extLst>
              <a:ext uri="{FF2B5EF4-FFF2-40B4-BE49-F238E27FC236}">
                <a16:creationId xmlns:a16="http://schemas.microsoft.com/office/drawing/2014/main" id="{2BCAA26B-4322-462C-B396-E546AB360B25}"/>
              </a:ext>
            </a:extLst>
          </p:cNvPr>
          <p:cNvSpPr>
            <a:spLocks noGrp="1"/>
          </p:cNvSpPr>
          <p:nvPr/>
        </p:nvSpPr>
        <p:spPr>
          <a:xfrm>
            <a:off x="4095750" y="1933575"/>
            <a:ext cx="4000500" cy="400050"/>
          </a:xfrm>
          <a:prstGeom prst="rect">
            <a:avLst/>
          </a:prstGeom>
          <a:noFill/>
          <a:ln w="0">
            <a:noFill/>
            <a:prstDash val="solid"/>
          </a:ln>
        </p:spPr>
        <p:txBody>
          <a:bodyPr lIns="0" tIns="0" rIns="0" bIns="0" anchor="ctr">
            <a:noAutofit/>
          </a:bodyPr>
          <a:lstStyle/>
          <a:p>
            <a:pPr algn="ctr">
              <a:buNone/>
              <a:defRPr sz="1875" b="1" i="0">
                <a:solidFill>
                  <a:srgbClr val="1F4E79"/>
                </a:solidFill>
              </a:defRPr>
            </a:pPr>
            <a:r>
              <a:rPr sz="1875" b="1" i="0">
                <a:solidFill>
                  <a:srgbClr val="1F4E79"/>
                </a:solidFill>
              </a:rPr>
              <a:t>RANDOMIZED ASSIGNMENT</a:t>
            </a:r>
          </a:p>
        </p:txBody>
      </p:sp>
      <p:sp>
        <p:nvSpPr>
          <p:cNvPr id="5" name="random-underline">
            <a:extLst>
              <a:ext uri="{FF2B5EF4-FFF2-40B4-BE49-F238E27FC236}">
                <a16:creationId xmlns:a16="http://schemas.microsoft.com/office/drawing/2014/main" id="{AF13EDCC-0959-4607-A36A-3964EEC7DB64}"/>
              </a:ext>
            </a:extLst>
          </p:cNvPr>
          <p:cNvSpPr>
            <a:spLocks noGrp="1"/>
          </p:cNvSpPr>
          <p:nvPr/>
        </p:nvSpPr>
        <p:spPr>
          <a:xfrm>
            <a:off x="4953000" y="2457450"/>
            <a:ext cx="2286000" cy="19050"/>
          </a:xfrm>
          <a:prstGeom prst="rect">
            <a:avLst/>
          </a:prstGeom>
          <a:solidFill>
            <a:srgbClr val="1F4E79"/>
          </a:solidFill>
          <a:ln w="0">
            <a:solidFill>
              <a:srgbClr val="1F4E79"/>
            </a:solidFill>
            <a:prstDash val="solid"/>
          </a:ln>
        </p:spPr>
        <p:txBody>
          <a:bodyPr/>
          <a:lstStyle/>
          <a:p>
            <a:endParaRPr/>
          </a:p>
        </p:txBody>
      </p:sp>
      <p:sp>
        <p:nvSpPr>
          <p:cNvPr id="6" name="split-down">
            <a:extLst>
              <a:ext uri="{FF2B5EF4-FFF2-40B4-BE49-F238E27FC236}">
                <a16:creationId xmlns:a16="http://schemas.microsoft.com/office/drawing/2014/main" id="{246B54AB-B582-40C7-AD3A-B4E83CA57EA1}"/>
              </a:ext>
            </a:extLst>
          </p:cNvPr>
          <p:cNvSpPr>
            <a:spLocks noGrp="1"/>
          </p:cNvSpPr>
          <p:nvPr/>
        </p:nvSpPr>
        <p:spPr>
          <a:xfrm>
            <a:off x="6067425" y="2476500"/>
            <a:ext cx="19050" cy="876300"/>
          </a:xfrm>
          <a:prstGeom prst="rect">
            <a:avLst/>
          </a:prstGeom>
          <a:solidFill>
            <a:srgbClr val="E5E7EB"/>
          </a:solidFill>
          <a:ln w="0">
            <a:solidFill>
              <a:srgbClr val="E5E7EB"/>
            </a:solidFill>
            <a:prstDash val="solid"/>
          </a:ln>
        </p:spPr>
        <p:txBody>
          <a:bodyPr/>
          <a:lstStyle/>
          <a:p>
            <a:endParaRPr/>
          </a:p>
        </p:txBody>
      </p:sp>
      <p:sp>
        <p:nvSpPr>
          <p:cNvPr id="7" name="split-wide">
            <a:extLst>
              <a:ext uri="{FF2B5EF4-FFF2-40B4-BE49-F238E27FC236}">
                <a16:creationId xmlns:a16="http://schemas.microsoft.com/office/drawing/2014/main" id="{AAB7D619-960D-46B9-85EE-08B74D55E631}"/>
              </a:ext>
            </a:extLst>
          </p:cNvPr>
          <p:cNvSpPr>
            <a:spLocks noGrp="1"/>
          </p:cNvSpPr>
          <p:nvPr/>
        </p:nvSpPr>
        <p:spPr>
          <a:xfrm>
            <a:off x="2667000" y="3343275"/>
            <a:ext cx="6858000" cy="19050"/>
          </a:xfrm>
          <a:prstGeom prst="rect">
            <a:avLst/>
          </a:prstGeom>
          <a:solidFill>
            <a:srgbClr val="E5E7EB"/>
          </a:solidFill>
          <a:ln w="0">
            <a:solidFill>
              <a:srgbClr val="E5E7EB"/>
            </a:solidFill>
            <a:prstDash val="solid"/>
          </a:ln>
        </p:spPr>
        <p:txBody>
          <a:bodyPr/>
          <a:lstStyle/>
          <a:p>
            <a:endParaRPr/>
          </a:p>
        </p:txBody>
      </p:sp>
      <p:sp>
        <p:nvSpPr>
          <p:cNvPr id="8" name="left-down">
            <a:extLst>
              <a:ext uri="{FF2B5EF4-FFF2-40B4-BE49-F238E27FC236}">
                <a16:creationId xmlns:a16="http://schemas.microsoft.com/office/drawing/2014/main" id="{E1A0A84F-BC25-4FB2-8030-39AEB028A1A5}"/>
              </a:ext>
            </a:extLst>
          </p:cNvPr>
          <p:cNvSpPr>
            <a:spLocks noGrp="1"/>
          </p:cNvSpPr>
          <p:nvPr/>
        </p:nvSpPr>
        <p:spPr>
          <a:xfrm>
            <a:off x="2667000" y="3343275"/>
            <a:ext cx="19050" cy="428625"/>
          </a:xfrm>
          <a:prstGeom prst="rect">
            <a:avLst/>
          </a:prstGeom>
          <a:solidFill>
            <a:srgbClr val="E5E7EB"/>
          </a:solidFill>
          <a:ln w="0">
            <a:solidFill>
              <a:srgbClr val="E5E7EB"/>
            </a:solidFill>
            <a:prstDash val="solid"/>
          </a:ln>
        </p:spPr>
        <p:txBody>
          <a:bodyPr/>
          <a:lstStyle/>
          <a:p>
            <a:endParaRPr/>
          </a:p>
        </p:txBody>
      </p:sp>
      <p:sp>
        <p:nvSpPr>
          <p:cNvPr id="9" name="right-down">
            <a:extLst>
              <a:ext uri="{FF2B5EF4-FFF2-40B4-BE49-F238E27FC236}">
                <a16:creationId xmlns:a16="http://schemas.microsoft.com/office/drawing/2014/main" id="{8466B74B-5A79-44A9-A159-D73C712BE56D}"/>
              </a:ext>
            </a:extLst>
          </p:cNvPr>
          <p:cNvSpPr>
            <a:spLocks noGrp="1"/>
          </p:cNvSpPr>
          <p:nvPr/>
        </p:nvSpPr>
        <p:spPr>
          <a:xfrm>
            <a:off x="9505950" y="3343275"/>
            <a:ext cx="19050" cy="428625"/>
          </a:xfrm>
          <a:prstGeom prst="rect">
            <a:avLst/>
          </a:prstGeom>
          <a:solidFill>
            <a:srgbClr val="E5E7EB"/>
          </a:solidFill>
          <a:ln w="0">
            <a:solidFill>
              <a:srgbClr val="E5E7EB"/>
            </a:solidFill>
            <a:prstDash val="solid"/>
          </a:ln>
        </p:spPr>
        <p:txBody>
          <a:bodyPr/>
          <a:lstStyle/>
          <a:p>
            <a:endParaRPr/>
          </a:p>
        </p:txBody>
      </p:sp>
      <p:sp>
        <p:nvSpPr>
          <p:cNvPr id="10" name="itt-tag">
            <a:extLst>
              <a:ext uri="{FF2B5EF4-FFF2-40B4-BE49-F238E27FC236}">
                <a16:creationId xmlns:a16="http://schemas.microsoft.com/office/drawing/2014/main" id="{B1E70345-C0D2-47B4-A831-6ABED7CB06F4}"/>
              </a:ext>
            </a:extLst>
          </p:cNvPr>
          <p:cNvSpPr>
            <a:spLocks noGrp="1"/>
          </p:cNvSpPr>
          <p:nvPr/>
        </p:nvSpPr>
        <p:spPr>
          <a:xfrm>
            <a:off x="2023065" y="3914775"/>
            <a:ext cx="1541057" cy="352425"/>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400" b="1" i="0">
                <a:solidFill>
                  <a:srgbClr val="1F4E79"/>
                </a:solidFill>
              </a:rPr>
              <a:t>PRIMARY ANALYSIS</a:t>
            </a:r>
          </a:p>
        </p:txBody>
      </p:sp>
      <p:sp>
        <p:nvSpPr>
          <p:cNvPr id="11" name="itt-title">
            <a:extLst>
              <a:ext uri="{FF2B5EF4-FFF2-40B4-BE49-F238E27FC236}">
                <a16:creationId xmlns:a16="http://schemas.microsoft.com/office/drawing/2014/main" id="{64B45C18-C796-4DE9-BAC7-EAC67B3A45FA}"/>
              </a:ext>
            </a:extLst>
          </p:cNvPr>
          <p:cNvSpPr>
            <a:spLocks noGrp="1"/>
          </p:cNvSpPr>
          <p:nvPr/>
        </p:nvSpPr>
        <p:spPr>
          <a:xfrm>
            <a:off x="1605737" y="4234195"/>
            <a:ext cx="2198724" cy="400050"/>
          </a:xfrm>
          <a:prstGeom prst="rect">
            <a:avLst/>
          </a:prstGeom>
          <a:noFill/>
          <a:ln w="0">
            <a:noFill/>
            <a:prstDash val="solid"/>
          </a:ln>
        </p:spPr>
        <p:txBody>
          <a:bodyPr lIns="0" tIns="0" rIns="0" bIns="0" anchor="ctr">
            <a:noAutofit/>
          </a:bodyPr>
          <a:lstStyle/>
          <a:p>
            <a:pPr algn="l">
              <a:buNone/>
              <a:defRPr sz="2175" b="1" i="0">
                <a:solidFill>
                  <a:srgbClr val="111827"/>
                </a:solidFill>
              </a:defRPr>
            </a:pPr>
            <a:r>
              <a:rPr sz="2175" b="1" i="0">
                <a:solidFill>
                  <a:srgbClr val="111827"/>
                </a:solidFill>
              </a:rPr>
              <a:t>Intention-to-Treat</a:t>
            </a:r>
          </a:p>
        </p:txBody>
      </p:sp>
      <p:sp>
        <p:nvSpPr>
          <p:cNvPr id="12" name="itt-question">
            <a:extLst>
              <a:ext uri="{FF2B5EF4-FFF2-40B4-BE49-F238E27FC236}">
                <a16:creationId xmlns:a16="http://schemas.microsoft.com/office/drawing/2014/main" id="{A2E9E482-B2F4-4254-BDEB-8BD83620C7E2}"/>
              </a:ext>
            </a:extLst>
          </p:cNvPr>
          <p:cNvSpPr>
            <a:spLocks noGrp="1"/>
          </p:cNvSpPr>
          <p:nvPr/>
        </p:nvSpPr>
        <p:spPr>
          <a:xfrm>
            <a:off x="628650" y="4781550"/>
            <a:ext cx="4095750" cy="609600"/>
          </a:xfrm>
          <a:prstGeom prst="rect">
            <a:avLst/>
          </a:prstGeom>
          <a:noFill/>
          <a:ln w="0">
            <a:noFill/>
            <a:prstDash val="solid"/>
          </a:ln>
        </p:spPr>
        <p:txBody>
          <a:bodyPr lIns="0" tIns="0" rIns="0" bIns="0" anchor="ctr">
            <a:noAutofit/>
          </a:bodyPr>
          <a:lstStyle/>
          <a:p>
            <a:pPr algn="ctr">
              <a:buNone/>
              <a:defRPr sz="1425" b="0" i="0">
                <a:solidFill>
                  <a:srgbClr val="4B5563"/>
                </a:solidFill>
              </a:defRPr>
            </a:pPr>
            <a:r>
              <a:rPr sz="1425" b="0" i="0">
                <a:solidFill>
                  <a:srgbClr val="4B5563"/>
                </a:solidFill>
              </a:rPr>
              <a:t>Preserves Randomization </a:t>
            </a:r>
          </a:p>
          <a:p>
            <a:pPr algn="ctr">
              <a:buNone/>
              <a:defRPr sz="1425" b="0" i="0">
                <a:solidFill>
                  <a:srgbClr val="4B5563"/>
                </a:solidFill>
              </a:defRPr>
            </a:pPr>
            <a:r>
              <a:rPr sz="1425" b="0" i="0">
                <a:solidFill>
                  <a:srgbClr val="4B5563"/>
                </a:solidFill>
              </a:rPr>
              <a:t>Estimates Effect of Assignment</a:t>
            </a:r>
          </a:p>
        </p:txBody>
      </p:sp>
      <p:sp>
        <p:nvSpPr>
          <p:cNvPr id="14" name="at-tag">
            <a:extLst>
              <a:ext uri="{FF2B5EF4-FFF2-40B4-BE49-F238E27FC236}">
                <a16:creationId xmlns:a16="http://schemas.microsoft.com/office/drawing/2014/main" id="{424FDF66-38BC-498D-A1C7-329F428EA41F}"/>
              </a:ext>
            </a:extLst>
          </p:cNvPr>
          <p:cNvSpPr>
            <a:spLocks noGrp="1"/>
          </p:cNvSpPr>
          <p:nvPr/>
        </p:nvSpPr>
        <p:spPr>
          <a:xfrm>
            <a:off x="8679157" y="3914775"/>
            <a:ext cx="1691685" cy="266700"/>
          </a:xfrm>
          <a:prstGeom prst="rect">
            <a:avLst/>
          </a:prstGeom>
          <a:noFill/>
          <a:ln w="0">
            <a:noFill/>
            <a:prstDash val="solid"/>
          </a:ln>
        </p:spPr>
        <p:txBody>
          <a:bodyPr lIns="0" tIns="0" rIns="0" bIns="0" anchor="ctr">
            <a:noAutofit/>
          </a:bodyPr>
          <a:lstStyle/>
          <a:p>
            <a:pPr algn="l">
              <a:buNone/>
              <a:defRPr sz="900" b="1" i="0">
                <a:solidFill>
                  <a:srgbClr val="4B5563"/>
                </a:solidFill>
              </a:defRPr>
            </a:pPr>
            <a:r>
              <a:rPr sz="1400" b="1" i="0">
                <a:solidFill>
                  <a:srgbClr val="4B5563"/>
                </a:solidFill>
              </a:rPr>
              <a:t>SECONDARY ANALYSIS</a:t>
            </a:r>
          </a:p>
        </p:txBody>
      </p:sp>
      <p:sp>
        <p:nvSpPr>
          <p:cNvPr id="15" name="at-title">
            <a:extLst>
              <a:ext uri="{FF2B5EF4-FFF2-40B4-BE49-F238E27FC236}">
                <a16:creationId xmlns:a16="http://schemas.microsoft.com/office/drawing/2014/main" id="{CBDCE987-4A87-4992-83BC-949394E835AD}"/>
              </a:ext>
            </a:extLst>
          </p:cNvPr>
          <p:cNvSpPr>
            <a:spLocks noGrp="1"/>
          </p:cNvSpPr>
          <p:nvPr/>
        </p:nvSpPr>
        <p:spPr>
          <a:xfrm>
            <a:off x="8317317" y="4291013"/>
            <a:ext cx="2415363" cy="400050"/>
          </a:xfrm>
          <a:prstGeom prst="rect">
            <a:avLst/>
          </a:prstGeom>
          <a:noFill/>
          <a:ln w="0">
            <a:noFill/>
            <a:prstDash val="solid"/>
          </a:ln>
        </p:spPr>
        <p:txBody>
          <a:bodyPr lIns="0" tIns="0" rIns="0" bIns="0" anchor="ctr">
            <a:noAutofit/>
          </a:bodyPr>
          <a:lstStyle/>
          <a:p>
            <a:pPr algn="l">
              <a:buNone/>
              <a:defRPr sz="2175" b="1" i="0">
                <a:solidFill>
                  <a:srgbClr val="111827"/>
                </a:solidFill>
              </a:defRPr>
            </a:pPr>
            <a:r>
              <a:rPr sz="2175" b="1" i="0">
                <a:solidFill>
                  <a:srgbClr val="111827"/>
                </a:solidFill>
              </a:rPr>
              <a:t>Adjusted </a:t>
            </a:r>
            <a:r>
              <a:rPr sz="2175" b="1">
                <a:solidFill>
                  <a:srgbClr val="111827"/>
                </a:solidFill>
              </a:rPr>
              <a:t>A</a:t>
            </a:r>
            <a:r>
              <a:rPr sz="2175" b="1" i="0">
                <a:solidFill>
                  <a:srgbClr val="111827"/>
                </a:solidFill>
              </a:rPr>
              <a:t>s-Treated</a:t>
            </a:r>
          </a:p>
        </p:txBody>
      </p:sp>
      <p:sp>
        <p:nvSpPr>
          <p:cNvPr id="16" name="at-question">
            <a:extLst>
              <a:ext uri="{FF2B5EF4-FFF2-40B4-BE49-F238E27FC236}">
                <a16:creationId xmlns:a16="http://schemas.microsoft.com/office/drawing/2014/main" id="{1F62E88C-4246-437F-9420-A9193CDB48EB}"/>
              </a:ext>
            </a:extLst>
          </p:cNvPr>
          <p:cNvSpPr>
            <a:spLocks noGrp="1"/>
          </p:cNvSpPr>
          <p:nvPr/>
        </p:nvSpPr>
        <p:spPr>
          <a:xfrm>
            <a:off x="7751356" y="4793456"/>
            <a:ext cx="3584944" cy="609600"/>
          </a:xfrm>
          <a:prstGeom prst="rect">
            <a:avLst/>
          </a:prstGeom>
          <a:noFill/>
          <a:ln w="0">
            <a:noFill/>
            <a:prstDash val="solid"/>
          </a:ln>
        </p:spPr>
        <p:txBody>
          <a:bodyPr lIns="0" tIns="0" rIns="0" bIns="0" anchor="ctr">
            <a:noAutofit/>
          </a:bodyPr>
          <a:lstStyle/>
          <a:p>
            <a:pPr algn="l">
              <a:buNone/>
              <a:defRPr sz="1425" b="0" i="0">
                <a:solidFill>
                  <a:srgbClr val="4B5563"/>
                </a:solidFill>
              </a:defRPr>
            </a:pPr>
            <a:r>
              <a:rPr sz="1425" b="0" i="0">
                <a:solidFill>
                  <a:srgbClr val="4B5563"/>
                </a:solidFill>
              </a:rPr>
              <a:t>Estimates Outcomes Associated with Treatment</a:t>
            </a:r>
          </a:p>
        </p:txBody>
      </p:sp>
      <p:sp>
        <p:nvSpPr>
          <p:cNvPr id="18" name="footer-rule-6">
            <a:extLst>
              <a:ext uri="{FF2B5EF4-FFF2-40B4-BE49-F238E27FC236}">
                <a16:creationId xmlns:a16="http://schemas.microsoft.com/office/drawing/2014/main" id="{0D4F3FF3-0FAB-484F-BEDC-9BA452F45F0C}"/>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0" name="num-6">
            <a:extLst>
              <a:ext uri="{FF2B5EF4-FFF2-40B4-BE49-F238E27FC236}">
                <a16:creationId xmlns:a16="http://schemas.microsoft.com/office/drawing/2014/main" id="{D42761C8-0062-4D09-B534-548DCA03B4AD}"/>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06</a:t>
            </a:r>
          </a:p>
        </p:txBody>
      </p:sp>
    </p:spTree>
    <p:extLst>
      <p:ext uri="{BB962C8B-B14F-4D97-AF65-F5344CB8AC3E}">
        <p14:creationId xmlns:p14="http://schemas.microsoft.com/office/powerpoint/2010/main" val="986866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title-7">
            <a:extLst>
              <a:ext uri="{FF2B5EF4-FFF2-40B4-BE49-F238E27FC236}">
                <a16:creationId xmlns:a16="http://schemas.microsoft.com/office/drawing/2014/main" id="{1A77E0AF-4B45-45C0-AB33-BCD4FB3060A2}"/>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Primary Outcomes Over Time</a:t>
            </a:r>
          </a:p>
        </p:txBody>
      </p:sp>
      <p:sp>
        <p:nvSpPr>
          <p:cNvPr id="2" name="title-rule-7">
            <a:extLst>
              <a:ext uri="{FF2B5EF4-FFF2-40B4-BE49-F238E27FC236}">
                <a16:creationId xmlns:a16="http://schemas.microsoft.com/office/drawing/2014/main" id="{A669D055-27AF-4F76-84F9-75D8F693A87A}"/>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primary-kicker">
            <a:extLst>
              <a:ext uri="{FF2B5EF4-FFF2-40B4-BE49-F238E27FC236}">
                <a16:creationId xmlns:a16="http://schemas.microsoft.com/office/drawing/2014/main" id="{99E2C42F-6BD2-4636-A773-D2179972528C}"/>
              </a:ext>
            </a:extLst>
          </p:cNvPr>
          <p:cNvSpPr>
            <a:spLocks noGrp="1"/>
          </p:cNvSpPr>
          <p:nvPr/>
        </p:nvSpPr>
        <p:spPr>
          <a:xfrm>
            <a:off x="609600" y="1200150"/>
            <a:ext cx="4476750" cy="20955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900" b="1" i="0">
                <a:solidFill>
                  <a:srgbClr val="1F4E79"/>
                </a:solidFill>
              </a:rPr>
              <a:t>CHANGE FROM BASELINE  ·  (ASSIGNED SURGERY – ASSIGNED NONOPERATIVE)</a:t>
            </a:r>
          </a:p>
        </p:txBody>
      </p:sp>
      <p:sp>
        <p:nvSpPr>
          <p:cNvPr id="5" name="primary-title-0">
            <a:extLst>
              <a:ext uri="{FF2B5EF4-FFF2-40B4-BE49-F238E27FC236}">
                <a16:creationId xmlns:a16="http://schemas.microsoft.com/office/drawing/2014/main" id="{236455F1-AEAF-4CA8-899D-10014D0A7425}"/>
              </a:ext>
            </a:extLst>
          </p:cNvPr>
          <p:cNvSpPr>
            <a:spLocks noGrp="1"/>
          </p:cNvSpPr>
          <p:nvPr/>
        </p:nvSpPr>
        <p:spPr>
          <a:xfrm>
            <a:off x="609600" y="1562100"/>
            <a:ext cx="3238500" cy="323850"/>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SF-36 Bodily </a:t>
            </a:r>
            <a:r>
              <a:rPr sz="1650" b="1">
                <a:solidFill>
                  <a:srgbClr val="111827"/>
                </a:solidFill>
              </a:rPr>
              <a:t>P</a:t>
            </a:r>
            <a:r>
              <a:rPr sz="1650" b="1" i="0">
                <a:solidFill>
                  <a:srgbClr val="111827"/>
                </a:solidFill>
              </a:rPr>
              <a:t>ain</a:t>
            </a:r>
          </a:p>
        </p:txBody>
      </p:sp>
      <p:graphicFrame>
        <p:nvGraphicFramePr>
          <p:cNvPr id="43" name="Chart"/>
          <p:cNvGraphicFramePr/>
          <p:nvPr/>
        </p:nvGraphicFramePr>
        <p:xfrm>
          <a:off x="533400" y="1924050"/>
          <a:ext cx="3381375"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7" name="primary-axis-mask-0">
            <a:extLst>
              <a:ext uri="{FF2B5EF4-FFF2-40B4-BE49-F238E27FC236}">
                <a16:creationId xmlns:a16="http://schemas.microsoft.com/office/drawing/2014/main" id="{CDC58057-D2D3-4CCF-9FE5-3F4EBD6B457E}"/>
              </a:ext>
            </a:extLst>
          </p:cNvPr>
          <p:cNvSpPr>
            <a:spLocks noGrp="1"/>
          </p:cNvSpPr>
          <p:nvPr/>
        </p:nvSpPr>
        <p:spPr>
          <a:xfrm>
            <a:off x="571500" y="4305300"/>
            <a:ext cx="3352800" cy="371475"/>
          </a:xfrm>
          <a:prstGeom prst="rect">
            <a:avLst/>
          </a:prstGeom>
          <a:solidFill>
            <a:srgbClr val="FFFFFF"/>
          </a:solidFill>
          <a:ln w="0">
            <a:solidFill>
              <a:srgbClr val="FFFFFF"/>
            </a:solidFill>
            <a:prstDash val="solid"/>
          </a:ln>
        </p:spPr>
        <p:txBody>
          <a:bodyPr/>
          <a:lstStyle/>
          <a:p>
            <a:endParaRPr/>
          </a:p>
        </p:txBody>
      </p:sp>
      <p:sp>
        <p:nvSpPr>
          <p:cNvPr id="8" name="primary-time-0-0">
            <a:extLst>
              <a:ext uri="{FF2B5EF4-FFF2-40B4-BE49-F238E27FC236}">
                <a16:creationId xmlns:a16="http://schemas.microsoft.com/office/drawing/2014/main" id="{3CC19C58-AF3B-44FA-A1FE-86808C7CAA65}"/>
              </a:ext>
            </a:extLst>
          </p:cNvPr>
          <p:cNvSpPr>
            <a:spLocks noGrp="1"/>
          </p:cNvSpPr>
          <p:nvPr/>
        </p:nvSpPr>
        <p:spPr>
          <a:xfrm>
            <a:off x="800100"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3 mo</a:t>
            </a:r>
          </a:p>
        </p:txBody>
      </p:sp>
      <p:sp>
        <p:nvSpPr>
          <p:cNvPr id="9" name="primary-time-0-1">
            <a:extLst>
              <a:ext uri="{FF2B5EF4-FFF2-40B4-BE49-F238E27FC236}">
                <a16:creationId xmlns:a16="http://schemas.microsoft.com/office/drawing/2014/main" id="{3B5E93EC-DACC-42B3-AFF5-CEC910262BA1}"/>
              </a:ext>
            </a:extLst>
          </p:cNvPr>
          <p:cNvSpPr>
            <a:spLocks noGrp="1"/>
          </p:cNvSpPr>
          <p:nvPr/>
        </p:nvSpPr>
        <p:spPr>
          <a:xfrm>
            <a:off x="1866900"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1 yr</a:t>
            </a:r>
          </a:p>
        </p:txBody>
      </p:sp>
      <p:sp>
        <p:nvSpPr>
          <p:cNvPr id="10" name="primary-time-0-2">
            <a:extLst>
              <a:ext uri="{FF2B5EF4-FFF2-40B4-BE49-F238E27FC236}">
                <a16:creationId xmlns:a16="http://schemas.microsoft.com/office/drawing/2014/main" id="{1AD1097D-FC21-4C63-BE3B-614FD6083978}"/>
              </a:ext>
            </a:extLst>
          </p:cNvPr>
          <p:cNvSpPr>
            <a:spLocks noGrp="1"/>
          </p:cNvSpPr>
          <p:nvPr/>
        </p:nvSpPr>
        <p:spPr>
          <a:xfrm>
            <a:off x="2933700"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2 yr</a:t>
            </a:r>
          </a:p>
        </p:txBody>
      </p:sp>
      <p:sp>
        <p:nvSpPr>
          <p:cNvPr id="11" name="primary-effect-0">
            <a:extLst>
              <a:ext uri="{FF2B5EF4-FFF2-40B4-BE49-F238E27FC236}">
                <a16:creationId xmlns:a16="http://schemas.microsoft.com/office/drawing/2014/main" id="{B95B8131-71B0-491A-8AB2-F0053369229E}"/>
              </a:ext>
            </a:extLst>
          </p:cNvPr>
          <p:cNvSpPr>
            <a:spLocks noGrp="1"/>
          </p:cNvSpPr>
          <p:nvPr/>
        </p:nvSpPr>
        <p:spPr>
          <a:xfrm>
            <a:off x="609600" y="4762500"/>
            <a:ext cx="3238500" cy="238125"/>
          </a:xfrm>
          <a:prstGeom prst="rect">
            <a:avLst/>
          </a:prstGeom>
          <a:noFill/>
          <a:ln w="0">
            <a:noFill/>
            <a:prstDash val="solid"/>
          </a:ln>
        </p:spPr>
        <p:txBody>
          <a:bodyPr lIns="0" tIns="0" rIns="0" bIns="0" anchor="ctr">
            <a:noAutofit/>
          </a:bodyPr>
          <a:lstStyle/>
          <a:p>
            <a:pPr algn="l">
              <a:buNone/>
              <a:defRPr sz="1200" b="1" i="0">
                <a:solidFill>
                  <a:srgbClr val="1F4E79"/>
                </a:solidFill>
              </a:defRPr>
            </a:pPr>
            <a:r>
              <a:rPr sz="1200" b="1" i="0">
                <a:solidFill>
                  <a:srgbClr val="1F4E79"/>
                </a:solidFill>
              </a:rPr>
              <a:t>EFFECT  +2.9  /  +2.8  /  +3.2</a:t>
            </a:r>
          </a:p>
        </p:txBody>
      </p:sp>
      <p:sp>
        <p:nvSpPr>
          <p:cNvPr id="12" name="primary-p-0">
            <a:extLst>
              <a:ext uri="{FF2B5EF4-FFF2-40B4-BE49-F238E27FC236}">
                <a16:creationId xmlns:a16="http://schemas.microsoft.com/office/drawing/2014/main" id="{178FFC34-9399-4F07-985C-3F72E9B87069}"/>
              </a:ext>
            </a:extLst>
          </p:cNvPr>
          <p:cNvSpPr>
            <a:spLocks noGrp="1"/>
          </p:cNvSpPr>
          <p:nvPr/>
        </p:nvSpPr>
        <p:spPr>
          <a:xfrm>
            <a:off x="609600" y="5048250"/>
            <a:ext cx="3238500" cy="209550"/>
          </a:xfrm>
          <a:prstGeom prst="rect">
            <a:avLst/>
          </a:prstGeom>
          <a:noFill/>
          <a:ln w="0">
            <a:noFill/>
            <a:prstDash val="solid"/>
          </a:ln>
        </p:spPr>
        <p:txBody>
          <a:bodyPr lIns="0" tIns="0" rIns="0" bIns="0" anchor="ctr">
            <a:noAutofit/>
          </a:bodyPr>
          <a:lstStyle/>
          <a:p>
            <a:pPr algn="l">
              <a:buNone/>
              <a:defRPr sz="1125" b="0" i="0">
                <a:solidFill>
                  <a:srgbClr val="4B5563"/>
                </a:solidFill>
              </a:defRPr>
            </a:pPr>
            <a:r>
              <a:rPr sz="1125">
                <a:solidFill>
                  <a:srgbClr val="4B5563"/>
                </a:solidFill>
              </a:rPr>
              <a:t>(p</a:t>
            </a:r>
            <a:r>
              <a:rPr sz="1125" b="0" i="0">
                <a:solidFill>
                  <a:srgbClr val="4B5563"/>
                </a:solidFill>
              </a:rPr>
              <a:t> = 0.74)</a:t>
            </a:r>
          </a:p>
        </p:txBody>
      </p:sp>
      <p:sp>
        <p:nvSpPr>
          <p:cNvPr id="13" name="primary-title-1">
            <a:extLst>
              <a:ext uri="{FF2B5EF4-FFF2-40B4-BE49-F238E27FC236}">
                <a16:creationId xmlns:a16="http://schemas.microsoft.com/office/drawing/2014/main" id="{69D4BDB8-C367-4CB4-9E0D-D0B35E77DBE0}"/>
              </a:ext>
            </a:extLst>
          </p:cNvPr>
          <p:cNvSpPr>
            <a:spLocks noGrp="1"/>
          </p:cNvSpPr>
          <p:nvPr/>
        </p:nvSpPr>
        <p:spPr>
          <a:xfrm>
            <a:off x="4295775" y="1562100"/>
            <a:ext cx="3238500" cy="323850"/>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SF-36 Physical </a:t>
            </a:r>
            <a:r>
              <a:rPr sz="1650" b="1">
                <a:solidFill>
                  <a:srgbClr val="111827"/>
                </a:solidFill>
              </a:rPr>
              <a:t>F</a:t>
            </a:r>
            <a:r>
              <a:rPr sz="1650" b="1" i="0">
                <a:solidFill>
                  <a:srgbClr val="111827"/>
                </a:solidFill>
              </a:rPr>
              <a:t>unction</a:t>
            </a:r>
          </a:p>
        </p:txBody>
      </p:sp>
      <p:graphicFrame>
        <p:nvGraphicFramePr>
          <p:cNvPr id="51" name="Chart"/>
          <p:cNvGraphicFramePr/>
          <p:nvPr/>
        </p:nvGraphicFramePr>
        <p:xfrm>
          <a:off x="4219575" y="1924050"/>
          <a:ext cx="3381375" cy="2667000"/>
        </p:xfrm>
        <a:graphic>
          <a:graphicData uri="http://schemas.openxmlformats.org/drawingml/2006/chart">
            <c:chart xmlns:c="http://schemas.openxmlformats.org/drawingml/2006/chart" xmlns:r="http://schemas.openxmlformats.org/officeDocument/2006/relationships" r:id="rId4"/>
          </a:graphicData>
        </a:graphic>
      </p:graphicFrame>
      <p:sp>
        <p:nvSpPr>
          <p:cNvPr id="15" name="primary-axis-mask-1">
            <a:extLst>
              <a:ext uri="{FF2B5EF4-FFF2-40B4-BE49-F238E27FC236}">
                <a16:creationId xmlns:a16="http://schemas.microsoft.com/office/drawing/2014/main" id="{321A0DB3-1172-404C-86B5-9B46DF0311CC}"/>
              </a:ext>
            </a:extLst>
          </p:cNvPr>
          <p:cNvSpPr>
            <a:spLocks noGrp="1"/>
          </p:cNvSpPr>
          <p:nvPr/>
        </p:nvSpPr>
        <p:spPr>
          <a:xfrm>
            <a:off x="4257675" y="4305300"/>
            <a:ext cx="3352800" cy="371475"/>
          </a:xfrm>
          <a:prstGeom prst="rect">
            <a:avLst/>
          </a:prstGeom>
          <a:solidFill>
            <a:srgbClr val="FFFFFF"/>
          </a:solidFill>
          <a:ln w="0">
            <a:solidFill>
              <a:srgbClr val="FFFFFF"/>
            </a:solidFill>
            <a:prstDash val="solid"/>
          </a:ln>
        </p:spPr>
        <p:txBody>
          <a:bodyPr/>
          <a:lstStyle/>
          <a:p>
            <a:endParaRPr/>
          </a:p>
        </p:txBody>
      </p:sp>
      <p:sp>
        <p:nvSpPr>
          <p:cNvPr id="16" name="primary-time-1-0">
            <a:extLst>
              <a:ext uri="{FF2B5EF4-FFF2-40B4-BE49-F238E27FC236}">
                <a16:creationId xmlns:a16="http://schemas.microsoft.com/office/drawing/2014/main" id="{B6466293-2819-4FF2-A1EE-8D3C68A3A33F}"/>
              </a:ext>
            </a:extLst>
          </p:cNvPr>
          <p:cNvSpPr>
            <a:spLocks noGrp="1"/>
          </p:cNvSpPr>
          <p:nvPr/>
        </p:nvSpPr>
        <p:spPr>
          <a:xfrm>
            <a:off x="4486275"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3 mo</a:t>
            </a:r>
          </a:p>
        </p:txBody>
      </p:sp>
      <p:sp>
        <p:nvSpPr>
          <p:cNvPr id="17" name="primary-time-1-1">
            <a:extLst>
              <a:ext uri="{FF2B5EF4-FFF2-40B4-BE49-F238E27FC236}">
                <a16:creationId xmlns:a16="http://schemas.microsoft.com/office/drawing/2014/main" id="{4EAC050C-E89A-4AB2-919F-C2695DB7E531}"/>
              </a:ext>
            </a:extLst>
          </p:cNvPr>
          <p:cNvSpPr>
            <a:spLocks noGrp="1"/>
          </p:cNvSpPr>
          <p:nvPr/>
        </p:nvSpPr>
        <p:spPr>
          <a:xfrm>
            <a:off x="5553075"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1 yr</a:t>
            </a:r>
          </a:p>
        </p:txBody>
      </p:sp>
      <p:sp>
        <p:nvSpPr>
          <p:cNvPr id="18" name="primary-time-1-2">
            <a:extLst>
              <a:ext uri="{FF2B5EF4-FFF2-40B4-BE49-F238E27FC236}">
                <a16:creationId xmlns:a16="http://schemas.microsoft.com/office/drawing/2014/main" id="{ADCDC53C-D436-4FB3-BB76-3C3446BD7978}"/>
              </a:ext>
            </a:extLst>
          </p:cNvPr>
          <p:cNvSpPr>
            <a:spLocks noGrp="1"/>
          </p:cNvSpPr>
          <p:nvPr/>
        </p:nvSpPr>
        <p:spPr>
          <a:xfrm>
            <a:off x="6619875"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2 yr</a:t>
            </a:r>
          </a:p>
        </p:txBody>
      </p:sp>
      <p:sp>
        <p:nvSpPr>
          <p:cNvPr id="19" name="primary-effect-1">
            <a:extLst>
              <a:ext uri="{FF2B5EF4-FFF2-40B4-BE49-F238E27FC236}">
                <a16:creationId xmlns:a16="http://schemas.microsoft.com/office/drawing/2014/main" id="{E6F16E9E-AE95-45E6-B476-E16B6547EB7B}"/>
              </a:ext>
            </a:extLst>
          </p:cNvPr>
          <p:cNvSpPr>
            <a:spLocks noGrp="1"/>
          </p:cNvSpPr>
          <p:nvPr/>
        </p:nvSpPr>
        <p:spPr>
          <a:xfrm>
            <a:off x="4295775" y="4762500"/>
            <a:ext cx="3238500" cy="238125"/>
          </a:xfrm>
          <a:prstGeom prst="rect">
            <a:avLst/>
          </a:prstGeom>
          <a:noFill/>
          <a:ln w="0">
            <a:noFill/>
            <a:prstDash val="solid"/>
          </a:ln>
        </p:spPr>
        <p:txBody>
          <a:bodyPr lIns="0" tIns="0" rIns="0" bIns="0" anchor="ctr">
            <a:noAutofit/>
          </a:bodyPr>
          <a:lstStyle/>
          <a:p>
            <a:pPr algn="l">
              <a:buNone/>
              <a:defRPr sz="1200" b="1" i="0">
                <a:solidFill>
                  <a:srgbClr val="1F4E79"/>
                </a:solidFill>
              </a:defRPr>
            </a:pPr>
            <a:r>
              <a:rPr sz="1200" b="1" i="0">
                <a:solidFill>
                  <a:srgbClr val="1F4E79"/>
                </a:solidFill>
              </a:rPr>
              <a:t>EFFECT  +2.8  /  +1.2  /  0.0</a:t>
            </a:r>
          </a:p>
        </p:txBody>
      </p:sp>
      <p:sp>
        <p:nvSpPr>
          <p:cNvPr id="20" name="primary-p-1">
            <a:extLst>
              <a:ext uri="{FF2B5EF4-FFF2-40B4-BE49-F238E27FC236}">
                <a16:creationId xmlns:a16="http://schemas.microsoft.com/office/drawing/2014/main" id="{712D4C6B-2675-48B5-946A-BC90097B1E55}"/>
              </a:ext>
            </a:extLst>
          </p:cNvPr>
          <p:cNvSpPr>
            <a:spLocks noGrp="1"/>
          </p:cNvSpPr>
          <p:nvPr/>
        </p:nvSpPr>
        <p:spPr>
          <a:xfrm>
            <a:off x="4295775" y="5048250"/>
            <a:ext cx="3238500" cy="209550"/>
          </a:xfrm>
          <a:prstGeom prst="rect">
            <a:avLst/>
          </a:prstGeom>
          <a:noFill/>
          <a:ln w="0">
            <a:noFill/>
            <a:prstDash val="solid"/>
          </a:ln>
        </p:spPr>
        <p:txBody>
          <a:bodyPr lIns="0" tIns="0" rIns="0" bIns="0" anchor="ctr">
            <a:noAutofit/>
          </a:bodyPr>
          <a:lstStyle/>
          <a:p>
            <a:pPr algn="l">
              <a:buNone/>
              <a:defRPr sz="1125" b="0" i="0">
                <a:solidFill>
                  <a:srgbClr val="4B5563"/>
                </a:solidFill>
              </a:defRPr>
            </a:pPr>
            <a:r>
              <a:rPr sz="1125">
                <a:solidFill>
                  <a:srgbClr val="4B5563"/>
                </a:solidFill>
              </a:rPr>
              <a:t>(p</a:t>
            </a:r>
            <a:r>
              <a:rPr sz="1125" b="0" i="0">
                <a:solidFill>
                  <a:srgbClr val="4B5563"/>
                </a:solidFill>
              </a:rPr>
              <a:t> = 0.71)</a:t>
            </a:r>
          </a:p>
        </p:txBody>
      </p:sp>
      <p:sp>
        <p:nvSpPr>
          <p:cNvPr id="21" name="primary-title-2">
            <a:extLst>
              <a:ext uri="{FF2B5EF4-FFF2-40B4-BE49-F238E27FC236}">
                <a16:creationId xmlns:a16="http://schemas.microsoft.com/office/drawing/2014/main" id="{20584D34-5A11-4F39-972B-EE8B3CCEBA5B}"/>
              </a:ext>
            </a:extLst>
          </p:cNvPr>
          <p:cNvSpPr>
            <a:spLocks noGrp="1"/>
          </p:cNvSpPr>
          <p:nvPr/>
        </p:nvSpPr>
        <p:spPr>
          <a:xfrm>
            <a:off x="7981950" y="1562100"/>
            <a:ext cx="3238500" cy="323850"/>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Oswestry Disability Index (ODI)</a:t>
            </a:r>
          </a:p>
        </p:txBody>
      </p:sp>
      <p:graphicFrame>
        <p:nvGraphicFramePr>
          <p:cNvPr id="59" name="Chart"/>
          <p:cNvGraphicFramePr/>
          <p:nvPr/>
        </p:nvGraphicFramePr>
        <p:xfrm>
          <a:off x="7905750" y="1924050"/>
          <a:ext cx="3381375" cy="2667000"/>
        </p:xfrm>
        <a:graphic>
          <a:graphicData uri="http://schemas.openxmlformats.org/drawingml/2006/chart">
            <c:chart xmlns:c="http://schemas.openxmlformats.org/drawingml/2006/chart" xmlns:r="http://schemas.openxmlformats.org/officeDocument/2006/relationships" r:id="rId5"/>
          </a:graphicData>
        </a:graphic>
      </p:graphicFrame>
      <p:sp>
        <p:nvSpPr>
          <p:cNvPr id="23" name="primary-axis-mask-2">
            <a:extLst>
              <a:ext uri="{FF2B5EF4-FFF2-40B4-BE49-F238E27FC236}">
                <a16:creationId xmlns:a16="http://schemas.microsoft.com/office/drawing/2014/main" id="{5933B608-82C2-4F86-9A07-C0D7ED362F73}"/>
              </a:ext>
            </a:extLst>
          </p:cNvPr>
          <p:cNvSpPr>
            <a:spLocks noGrp="1"/>
          </p:cNvSpPr>
          <p:nvPr/>
        </p:nvSpPr>
        <p:spPr>
          <a:xfrm>
            <a:off x="7943850" y="4305300"/>
            <a:ext cx="3352800" cy="371475"/>
          </a:xfrm>
          <a:prstGeom prst="rect">
            <a:avLst/>
          </a:prstGeom>
          <a:solidFill>
            <a:srgbClr val="FFFFFF"/>
          </a:solidFill>
          <a:ln w="0">
            <a:solidFill>
              <a:srgbClr val="FFFFFF"/>
            </a:solidFill>
            <a:prstDash val="solid"/>
          </a:ln>
        </p:spPr>
        <p:txBody>
          <a:bodyPr/>
          <a:lstStyle/>
          <a:p>
            <a:endParaRPr/>
          </a:p>
        </p:txBody>
      </p:sp>
      <p:sp>
        <p:nvSpPr>
          <p:cNvPr id="24" name="primary-time-2-0">
            <a:extLst>
              <a:ext uri="{FF2B5EF4-FFF2-40B4-BE49-F238E27FC236}">
                <a16:creationId xmlns:a16="http://schemas.microsoft.com/office/drawing/2014/main" id="{279BFFE4-2EBB-4813-825A-1BEEB8F0367C}"/>
              </a:ext>
            </a:extLst>
          </p:cNvPr>
          <p:cNvSpPr>
            <a:spLocks noGrp="1"/>
          </p:cNvSpPr>
          <p:nvPr/>
        </p:nvSpPr>
        <p:spPr>
          <a:xfrm>
            <a:off x="8172450"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3 mo</a:t>
            </a:r>
          </a:p>
        </p:txBody>
      </p:sp>
      <p:sp>
        <p:nvSpPr>
          <p:cNvPr id="25" name="primary-time-2-1">
            <a:extLst>
              <a:ext uri="{FF2B5EF4-FFF2-40B4-BE49-F238E27FC236}">
                <a16:creationId xmlns:a16="http://schemas.microsoft.com/office/drawing/2014/main" id="{11E0C97C-DF99-4005-9721-0077CD517C1E}"/>
              </a:ext>
            </a:extLst>
          </p:cNvPr>
          <p:cNvSpPr>
            <a:spLocks noGrp="1"/>
          </p:cNvSpPr>
          <p:nvPr/>
        </p:nvSpPr>
        <p:spPr>
          <a:xfrm>
            <a:off x="9239250"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1 yr</a:t>
            </a:r>
          </a:p>
        </p:txBody>
      </p:sp>
      <p:sp>
        <p:nvSpPr>
          <p:cNvPr id="26" name="primary-time-2-2">
            <a:extLst>
              <a:ext uri="{FF2B5EF4-FFF2-40B4-BE49-F238E27FC236}">
                <a16:creationId xmlns:a16="http://schemas.microsoft.com/office/drawing/2014/main" id="{3E8B3D67-7BED-4642-AD53-A1E713D89F62}"/>
              </a:ext>
            </a:extLst>
          </p:cNvPr>
          <p:cNvSpPr>
            <a:spLocks noGrp="1"/>
          </p:cNvSpPr>
          <p:nvPr/>
        </p:nvSpPr>
        <p:spPr>
          <a:xfrm>
            <a:off x="10306050" y="4438650"/>
            <a:ext cx="704850" cy="209550"/>
          </a:xfrm>
          <a:prstGeom prst="rect">
            <a:avLst/>
          </a:prstGeom>
          <a:noFill/>
          <a:ln w="0">
            <a:noFill/>
            <a:prstDash val="solid"/>
          </a:ln>
        </p:spPr>
        <p:txBody>
          <a:bodyPr lIns="0" tIns="0" rIns="0" bIns="0" anchor="ctr">
            <a:noAutofit/>
          </a:bodyPr>
          <a:lstStyle/>
          <a:p>
            <a:pPr algn="ctr">
              <a:buNone/>
              <a:defRPr sz="1050" b="0" i="0">
                <a:solidFill>
                  <a:srgbClr val="4B5563"/>
                </a:solidFill>
              </a:defRPr>
            </a:pPr>
            <a:r>
              <a:rPr sz="1050" b="0" i="0">
                <a:solidFill>
                  <a:srgbClr val="4B5563"/>
                </a:solidFill>
              </a:rPr>
              <a:t>2 yr</a:t>
            </a:r>
          </a:p>
        </p:txBody>
      </p:sp>
      <p:sp>
        <p:nvSpPr>
          <p:cNvPr id="27" name="primary-effect-2">
            <a:extLst>
              <a:ext uri="{FF2B5EF4-FFF2-40B4-BE49-F238E27FC236}">
                <a16:creationId xmlns:a16="http://schemas.microsoft.com/office/drawing/2014/main" id="{54EA0115-196E-4E65-8D34-F6564959AB92}"/>
              </a:ext>
            </a:extLst>
          </p:cNvPr>
          <p:cNvSpPr>
            <a:spLocks noGrp="1"/>
          </p:cNvSpPr>
          <p:nvPr/>
        </p:nvSpPr>
        <p:spPr>
          <a:xfrm>
            <a:off x="7981950" y="4762500"/>
            <a:ext cx="3238500" cy="238125"/>
          </a:xfrm>
          <a:prstGeom prst="rect">
            <a:avLst/>
          </a:prstGeom>
          <a:noFill/>
          <a:ln w="0">
            <a:noFill/>
            <a:prstDash val="solid"/>
          </a:ln>
        </p:spPr>
        <p:txBody>
          <a:bodyPr lIns="0" tIns="0" rIns="0" bIns="0" anchor="ctr">
            <a:noAutofit/>
          </a:bodyPr>
          <a:lstStyle/>
          <a:p>
            <a:pPr algn="l">
              <a:buNone/>
              <a:defRPr sz="1200" b="1" i="0">
                <a:solidFill>
                  <a:srgbClr val="1F4E79"/>
                </a:solidFill>
              </a:defRPr>
            </a:pPr>
            <a:r>
              <a:rPr sz="1200" b="1" i="0">
                <a:solidFill>
                  <a:srgbClr val="1F4E79"/>
                </a:solidFill>
              </a:rPr>
              <a:t>EFFECT  −4.7  /  −3.2  /  −2.7</a:t>
            </a:r>
          </a:p>
        </p:txBody>
      </p:sp>
      <p:sp>
        <p:nvSpPr>
          <p:cNvPr id="28" name="primary-p-2">
            <a:extLst>
              <a:ext uri="{FF2B5EF4-FFF2-40B4-BE49-F238E27FC236}">
                <a16:creationId xmlns:a16="http://schemas.microsoft.com/office/drawing/2014/main" id="{420D62F2-6159-45FB-81CC-02E233510FC6}"/>
              </a:ext>
            </a:extLst>
          </p:cNvPr>
          <p:cNvSpPr>
            <a:spLocks noGrp="1"/>
          </p:cNvSpPr>
          <p:nvPr/>
        </p:nvSpPr>
        <p:spPr>
          <a:xfrm>
            <a:off x="7981950" y="5048250"/>
            <a:ext cx="3238500" cy="209550"/>
          </a:xfrm>
          <a:prstGeom prst="rect">
            <a:avLst/>
          </a:prstGeom>
          <a:noFill/>
          <a:ln w="0">
            <a:noFill/>
            <a:prstDash val="solid"/>
          </a:ln>
        </p:spPr>
        <p:txBody>
          <a:bodyPr lIns="0" tIns="0" rIns="0" bIns="0" anchor="ctr">
            <a:noAutofit/>
          </a:bodyPr>
          <a:lstStyle/>
          <a:p>
            <a:pPr algn="l">
              <a:buNone/>
              <a:defRPr sz="1125" b="0" i="0">
                <a:solidFill>
                  <a:srgbClr val="4B5563"/>
                </a:solidFill>
              </a:defRPr>
            </a:pPr>
            <a:r>
              <a:rPr sz="1125">
                <a:solidFill>
                  <a:srgbClr val="4B5563"/>
                </a:solidFill>
              </a:rPr>
              <a:t>(p</a:t>
            </a:r>
            <a:r>
              <a:rPr sz="1125" b="0" i="0">
                <a:solidFill>
                  <a:srgbClr val="4B5563"/>
                </a:solidFill>
              </a:rPr>
              <a:t> = 0.21)</a:t>
            </a:r>
          </a:p>
        </p:txBody>
      </p:sp>
      <p:sp>
        <p:nvSpPr>
          <p:cNvPr id="29" name="primary-bottom-rule">
            <a:extLst>
              <a:ext uri="{FF2B5EF4-FFF2-40B4-BE49-F238E27FC236}">
                <a16:creationId xmlns:a16="http://schemas.microsoft.com/office/drawing/2014/main" id="{A6FAA86F-FFC5-4EB4-AB43-7569DFD7D1A5}"/>
              </a:ext>
            </a:extLst>
          </p:cNvPr>
          <p:cNvSpPr>
            <a:spLocks noGrp="1"/>
          </p:cNvSpPr>
          <p:nvPr/>
        </p:nvSpPr>
        <p:spPr>
          <a:xfrm>
            <a:off x="609600" y="5467350"/>
            <a:ext cx="10668000" cy="9525"/>
          </a:xfrm>
          <a:prstGeom prst="rect">
            <a:avLst/>
          </a:prstGeom>
          <a:solidFill>
            <a:srgbClr val="E5E7EB"/>
          </a:solidFill>
          <a:ln w="0">
            <a:solidFill>
              <a:srgbClr val="E5E7EB"/>
            </a:solidFill>
            <a:prstDash val="solid"/>
          </a:ln>
        </p:spPr>
        <p:txBody>
          <a:bodyPr/>
          <a:lstStyle/>
          <a:p>
            <a:endParaRPr/>
          </a:p>
        </p:txBody>
      </p:sp>
      <p:sp>
        <p:nvSpPr>
          <p:cNvPr id="30" name="primary-bottom-copy">
            <a:extLst>
              <a:ext uri="{FF2B5EF4-FFF2-40B4-BE49-F238E27FC236}">
                <a16:creationId xmlns:a16="http://schemas.microsoft.com/office/drawing/2014/main" id="{6BE9DB30-DB45-4726-9825-CBBC630739B0}"/>
              </a:ext>
            </a:extLst>
          </p:cNvPr>
          <p:cNvSpPr>
            <a:spLocks noGrp="1"/>
          </p:cNvSpPr>
          <p:nvPr/>
        </p:nvSpPr>
        <p:spPr>
          <a:xfrm>
            <a:off x="838200" y="5686425"/>
            <a:ext cx="10191750" cy="266700"/>
          </a:xfrm>
          <a:prstGeom prst="rect">
            <a:avLst/>
          </a:prstGeom>
          <a:noFill/>
          <a:ln w="0">
            <a:noFill/>
            <a:prstDash val="solid"/>
          </a:ln>
        </p:spPr>
        <p:txBody>
          <a:bodyPr lIns="0" tIns="0" rIns="0" bIns="0" anchor="ctr">
            <a:noAutofit/>
          </a:bodyPr>
          <a:lstStyle/>
          <a:p>
            <a:pPr algn="ctr">
              <a:buNone/>
              <a:defRPr sz="1425" b="1" i="0">
                <a:solidFill>
                  <a:srgbClr val="111827"/>
                </a:solidFill>
              </a:defRPr>
            </a:pPr>
            <a:r>
              <a:rPr sz="1425" b="1" i="0">
                <a:solidFill>
                  <a:srgbClr val="111827"/>
                </a:solidFill>
              </a:rPr>
              <a:t>Both Assigned </a:t>
            </a:r>
            <a:r>
              <a:rPr sz="1425" b="1">
                <a:solidFill>
                  <a:srgbClr val="111827"/>
                </a:solidFill>
              </a:rPr>
              <a:t>G</a:t>
            </a:r>
            <a:r>
              <a:rPr sz="1425" b="1" i="0">
                <a:solidFill>
                  <a:srgbClr val="111827"/>
                </a:solidFill>
              </a:rPr>
              <a:t>roups </a:t>
            </a:r>
            <a:r>
              <a:rPr sz="1425" b="1">
                <a:solidFill>
                  <a:srgbClr val="111827"/>
                </a:solidFill>
              </a:rPr>
              <a:t>I</a:t>
            </a:r>
            <a:r>
              <a:rPr sz="1425" b="1" i="0">
                <a:solidFill>
                  <a:srgbClr val="111827"/>
                </a:solidFill>
              </a:rPr>
              <a:t>mproved </a:t>
            </a:r>
            <a:r>
              <a:rPr sz="1425" b="1">
                <a:solidFill>
                  <a:srgbClr val="111827"/>
                </a:solidFill>
              </a:rPr>
              <a:t>S</a:t>
            </a:r>
            <a:r>
              <a:rPr sz="1425" b="1" i="0">
                <a:solidFill>
                  <a:srgbClr val="111827"/>
                </a:solidFill>
              </a:rPr>
              <a:t>ubstantially</a:t>
            </a:r>
          </a:p>
          <a:p>
            <a:pPr algn="ctr">
              <a:buNone/>
              <a:defRPr sz="1425" b="1" i="0">
                <a:solidFill>
                  <a:srgbClr val="111827"/>
                </a:solidFill>
              </a:defRPr>
            </a:pPr>
            <a:r>
              <a:rPr sz="1425" b="1">
                <a:solidFill>
                  <a:srgbClr val="111827"/>
                </a:solidFill>
              </a:rPr>
              <a:t>N</a:t>
            </a:r>
            <a:r>
              <a:rPr sz="1425" b="1" i="0">
                <a:solidFill>
                  <a:srgbClr val="111827"/>
                </a:solidFill>
              </a:rPr>
              <a:t>o Primary </a:t>
            </a:r>
            <a:r>
              <a:rPr sz="1425" b="1">
                <a:solidFill>
                  <a:srgbClr val="111827"/>
                </a:solidFill>
              </a:rPr>
              <a:t>O</a:t>
            </a:r>
            <a:r>
              <a:rPr sz="1425" b="1" i="0">
                <a:solidFill>
                  <a:srgbClr val="111827"/>
                </a:solidFill>
              </a:rPr>
              <a:t>utcome Showed Significance</a:t>
            </a:r>
          </a:p>
        </p:txBody>
      </p:sp>
      <p:sp>
        <p:nvSpPr>
          <p:cNvPr id="31" name="footer-rule-7">
            <a:extLst>
              <a:ext uri="{FF2B5EF4-FFF2-40B4-BE49-F238E27FC236}">
                <a16:creationId xmlns:a16="http://schemas.microsoft.com/office/drawing/2014/main" id="{223F33CB-AED3-48F2-A5EC-044EFF330D39}"/>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33" name="num-7">
            <a:extLst>
              <a:ext uri="{FF2B5EF4-FFF2-40B4-BE49-F238E27FC236}">
                <a16:creationId xmlns:a16="http://schemas.microsoft.com/office/drawing/2014/main" id="{790668DF-1CAA-4FCA-B8A0-F9FBC8AA21A4}"/>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07</a:t>
            </a:r>
          </a:p>
        </p:txBody>
      </p:sp>
      <p:pic>
        <p:nvPicPr>
          <p:cNvPr id="70" name="Picture 35"/>
          <p:cNvPicPr>
            <a:picLocks noChangeAspect="1"/>
          </p:cNvPicPr>
          <p:nvPr/>
        </p:nvPicPr>
        <p:blipFill>
          <a:blip r:embed="rId6"/>
          <a:stretch>
            <a:fillRect/>
          </a:stretch>
        </p:blipFill>
        <p:spPr>
          <a:xfrm>
            <a:off x="4861885" y="1129329"/>
            <a:ext cx="3081965" cy="361334"/>
          </a:xfrm>
          <a:prstGeom prst="rect">
            <a:avLst/>
          </a:prstGeom>
        </p:spPr>
      </p:pic>
    </p:spTree>
    <p:extLst>
      <p:ext uri="{BB962C8B-B14F-4D97-AF65-F5344CB8AC3E}">
        <p14:creationId xmlns:p14="http://schemas.microsoft.com/office/powerpoint/2010/main" val="169565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itle-8">
            <a:extLst>
              <a:ext uri="{FF2B5EF4-FFF2-40B4-BE49-F238E27FC236}">
                <a16:creationId xmlns:a16="http://schemas.microsoft.com/office/drawing/2014/main" id="{9AC0763E-5278-480A-A0F3-6EC7308A2C88}"/>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Secondary Clinical Outcomes</a:t>
            </a:r>
          </a:p>
        </p:txBody>
      </p:sp>
      <p:sp>
        <p:nvSpPr>
          <p:cNvPr id="2" name="title-rule-8">
            <a:extLst>
              <a:ext uri="{FF2B5EF4-FFF2-40B4-BE49-F238E27FC236}">
                <a16:creationId xmlns:a16="http://schemas.microsoft.com/office/drawing/2014/main" id="{861CA317-2F50-47B7-B96D-9119182C1FED}"/>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secondary-kicker">
            <a:extLst>
              <a:ext uri="{FF2B5EF4-FFF2-40B4-BE49-F238E27FC236}">
                <a16:creationId xmlns:a16="http://schemas.microsoft.com/office/drawing/2014/main" id="{6D4932F7-88DF-4D70-BC4C-9EC32F42DD28}"/>
              </a:ext>
            </a:extLst>
          </p:cNvPr>
          <p:cNvSpPr>
            <a:spLocks noGrp="1"/>
          </p:cNvSpPr>
          <p:nvPr/>
        </p:nvSpPr>
        <p:spPr>
          <a:xfrm>
            <a:off x="609600" y="1200150"/>
            <a:ext cx="6191250" cy="20955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200" b="1" i="0">
                <a:solidFill>
                  <a:srgbClr val="1F4E79"/>
                </a:solidFill>
              </a:rPr>
              <a:t>SCIATICA BOTHERSOMENESS  ·  (ASSIGNED SURGERY - ASSIGNED NONOPERATIVE)</a:t>
            </a:r>
          </a:p>
        </p:txBody>
      </p:sp>
      <p:sp>
        <p:nvSpPr>
          <p:cNvPr id="4" name="secondary-separator-a">
            <a:extLst>
              <a:ext uri="{FF2B5EF4-FFF2-40B4-BE49-F238E27FC236}">
                <a16:creationId xmlns:a16="http://schemas.microsoft.com/office/drawing/2014/main" id="{669972A5-33C0-4E8B-9BAB-E26F1E83F939}"/>
              </a:ext>
            </a:extLst>
          </p:cNvPr>
          <p:cNvSpPr>
            <a:spLocks noGrp="1"/>
          </p:cNvSpPr>
          <p:nvPr/>
        </p:nvSpPr>
        <p:spPr>
          <a:xfrm>
            <a:off x="4048125" y="1638300"/>
            <a:ext cx="19050" cy="1952625"/>
          </a:xfrm>
          <a:prstGeom prst="rect">
            <a:avLst/>
          </a:prstGeom>
          <a:solidFill>
            <a:srgbClr val="E5E7EB"/>
          </a:solidFill>
          <a:ln w="0">
            <a:solidFill>
              <a:srgbClr val="E5E7EB"/>
            </a:solidFill>
            <a:prstDash val="solid"/>
          </a:ln>
        </p:spPr>
        <p:txBody>
          <a:bodyPr/>
          <a:lstStyle/>
          <a:p>
            <a:endParaRPr/>
          </a:p>
        </p:txBody>
      </p:sp>
      <p:sp>
        <p:nvSpPr>
          <p:cNvPr id="5" name="secondary-separator-b">
            <a:extLst>
              <a:ext uri="{FF2B5EF4-FFF2-40B4-BE49-F238E27FC236}">
                <a16:creationId xmlns:a16="http://schemas.microsoft.com/office/drawing/2014/main" id="{AC1325FD-4AFF-4695-8A18-24AC6E952FF7}"/>
              </a:ext>
            </a:extLst>
          </p:cNvPr>
          <p:cNvSpPr>
            <a:spLocks noGrp="1"/>
          </p:cNvSpPr>
          <p:nvPr/>
        </p:nvSpPr>
        <p:spPr>
          <a:xfrm>
            <a:off x="7743825" y="1638300"/>
            <a:ext cx="19050" cy="1952625"/>
          </a:xfrm>
          <a:prstGeom prst="rect">
            <a:avLst/>
          </a:prstGeom>
          <a:solidFill>
            <a:srgbClr val="E5E7EB"/>
          </a:solidFill>
          <a:ln w="0">
            <a:solidFill>
              <a:srgbClr val="E5E7EB"/>
            </a:solidFill>
            <a:prstDash val="solid"/>
          </a:ln>
        </p:spPr>
        <p:txBody>
          <a:bodyPr/>
          <a:lstStyle/>
          <a:p>
            <a:endParaRPr/>
          </a:p>
        </p:txBody>
      </p:sp>
      <p:sp>
        <p:nvSpPr>
          <p:cNvPr id="6" name="secondary-time-0">
            <a:extLst>
              <a:ext uri="{FF2B5EF4-FFF2-40B4-BE49-F238E27FC236}">
                <a16:creationId xmlns:a16="http://schemas.microsoft.com/office/drawing/2014/main" id="{DA2C313A-AA9E-4D29-A28B-2FC37E3989C2}"/>
              </a:ext>
            </a:extLst>
          </p:cNvPr>
          <p:cNvSpPr>
            <a:spLocks noGrp="1"/>
          </p:cNvSpPr>
          <p:nvPr/>
        </p:nvSpPr>
        <p:spPr>
          <a:xfrm>
            <a:off x="609600" y="1714500"/>
            <a:ext cx="3333750" cy="266700"/>
          </a:xfrm>
          <a:prstGeom prst="rect">
            <a:avLst/>
          </a:prstGeom>
          <a:noFill/>
          <a:ln w="0">
            <a:noFill/>
            <a:prstDash val="solid"/>
          </a:ln>
        </p:spPr>
        <p:txBody>
          <a:bodyPr lIns="0" tIns="0" rIns="0" bIns="0" anchor="ctr">
            <a:noAutofit/>
          </a:bodyPr>
          <a:lstStyle/>
          <a:p>
            <a:pPr algn="ctr">
              <a:buNone/>
              <a:defRPr sz="1050" b="1" i="0">
                <a:solidFill>
                  <a:srgbClr val="4B5563"/>
                </a:solidFill>
              </a:defRPr>
            </a:pPr>
            <a:r>
              <a:rPr sz="1600" b="1" i="0">
                <a:solidFill>
                  <a:srgbClr val="4B5563"/>
                </a:solidFill>
              </a:rPr>
              <a:t>3 MONTHS</a:t>
            </a:r>
          </a:p>
        </p:txBody>
      </p:sp>
      <p:sp>
        <p:nvSpPr>
          <p:cNvPr id="7" name="secondary-effect-0">
            <a:extLst>
              <a:ext uri="{FF2B5EF4-FFF2-40B4-BE49-F238E27FC236}">
                <a16:creationId xmlns:a16="http://schemas.microsoft.com/office/drawing/2014/main" id="{9EA4FA80-C344-4338-BB96-795BBCE0E8CB}"/>
              </a:ext>
            </a:extLst>
          </p:cNvPr>
          <p:cNvSpPr>
            <a:spLocks noGrp="1"/>
          </p:cNvSpPr>
          <p:nvPr/>
        </p:nvSpPr>
        <p:spPr>
          <a:xfrm>
            <a:off x="609600" y="2143125"/>
            <a:ext cx="3333750" cy="685800"/>
          </a:xfrm>
          <a:prstGeom prst="rect">
            <a:avLst/>
          </a:prstGeom>
          <a:noFill/>
          <a:ln w="0">
            <a:noFill/>
            <a:prstDash val="solid"/>
          </a:ln>
        </p:spPr>
        <p:txBody>
          <a:bodyPr lIns="0" tIns="0" rIns="0" bIns="0" anchor="ctr">
            <a:noAutofit/>
          </a:bodyPr>
          <a:lstStyle/>
          <a:p>
            <a:pPr algn="ctr">
              <a:buNone/>
              <a:defRPr sz="3450" b="1" i="0">
                <a:solidFill>
                  <a:srgbClr val="1F4E79"/>
                </a:solidFill>
              </a:defRPr>
            </a:pPr>
            <a:r>
              <a:rPr sz="3450" b="1" i="0">
                <a:solidFill>
                  <a:srgbClr val="1F4E79"/>
                </a:solidFill>
              </a:rPr>
              <a:t>−2.1</a:t>
            </a:r>
          </a:p>
        </p:txBody>
      </p:sp>
      <p:sp>
        <p:nvSpPr>
          <p:cNvPr id="8" name="secondary-ci-0">
            <a:extLst>
              <a:ext uri="{FF2B5EF4-FFF2-40B4-BE49-F238E27FC236}">
                <a16:creationId xmlns:a16="http://schemas.microsoft.com/office/drawing/2014/main" id="{048082D3-8400-4A74-B871-9A86245C06DC}"/>
              </a:ext>
            </a:extLst>
          </p:cNvPr>
          <p:cNvSpPr>
            <a:spLocks noGrp="1"/>
          </p:cNvSpPr>
          <p:nvPr/>
        </p:nvSpPr>
        <p:spPr>
          <a:xfrm>
            <a:off x="609600" y="2905125"/>
            <a:ext cx="3333750" cy="285750"/>
          </a:xfrm>
          <a:prstGeom prst="rect">
            <a:avLst/>
          </a:prstGeom>
          <a:noFill/>
          <a:ln w="0">
            <a:noFill/>
            <a:prstDash val="solid"/>
          </a:ln>
        </p:spPr>
        <p:txBody>
          <a:bodyPr lIns="0" tIns="0" rIns="0" bIns="0" anchor="ctr">
            <a:noAutofit/>
          </a:bodyPr>
          <a:lstStyle/>
          <a:p>
            <a:pPr algn="ctr">
              <a:buNone/>
              <a:defRPr sz="1350" b="0" i="0">
                <a:solidFill>
                  <a:srgbClr val="111827"/>
                </a:solidFill>
              </a:defRPr>
            </a:pPr>
            <a:r>
              <a:rPr sz="1350" b="0" i="0">
                <a:solidFill>
                  <a:srgbClr val="111827"/>
                </a:solidFill>
              </a:rPr>
              <a:t>95% CI −3.4 to −0.9</a:t>
            </a:r>
          </a:p>
        </p:txBody>
      </p:sp>
      <p:sp>
        <p:nvSpPr>
          <p:cNvPr id="9" name="secondary-time-1">
            <a:extLst>
              <a:ext uri="{FF2B5EF4-FFF2-40B4-BE49-F238E27FC236}">
                <a16:creationId xmlns:a16="http://schemas.microsoft.com/office/drawing/2014/main" id="{09A232F4-3149-4FAF-A436-A5941BF0633A}"/>
              </a:ext>
            </a:extLst>
          </p:cNvPr>
          <p:cNvSpPr>
            <a:spLocks noGrp="1"/>
          </p:cNvSpPr>
          <p:nvPr/>
        </p:nvSpPr>
        <p:spPr>
          <a:xfrm>
            <a:off x="4305300" y="1714500"/>
            <a:ext cx="3333750" cy="266700"/>
          </a:xfrm>
          <a:prstGeom prst="rect">
            <a:avLst/>
          </a:prstGeom>
          <a:noFill/>
          <a:ln w="0">
            <a:noFill/>
            <a:prstDash val="solid"/>
          </a:ln>
        </p:spPr>
        <p:txBody>
          <a:bodyPr lIns="0" tIns="0" rIns="0" bIns="0" anchor="ctr">
            <a:noAutofit/>
          </a:bodyPr>
          <a:lstStyle/>
          <a:p>
            <a:pPr algn="ctr">
              <a:buNone/>
              <a:defRPr sz="1050" b="1" i="0">
                <a:solidFill>
                  <a:srgbClr val="4B5563"/>
                </a:solidFill>
              </a:defRPr>
            </a:pPr>
            <a:r>
              <a:rPr sz="1600" b="1" i="0">
                <a:solidFill>
                  <a:srgbClr val="4B5563"/>
                </a:solidFill>
              </a:rPr>
              <a:t>1 YEAR</a:t>
            </a:r>
          </a:p>
        </p:txBody>
      </p:sp>
      <p:sp>
        <p:nvSpPr>
          <p:cNvPr id="10" name="secondary-effect-1">
            <a:extLst>
              <a:ext uri="{FF2B5EF4-FFF2-40B4-BE49-F238E27FC236}">
                <a16:creationId xmlns:a16="http://schemas.microsoft.com/office/drawing/2014/main" id="{11088A5F-080D-4D07-A5BC-E87F3CA6DA6E}"/>
              </a:ext>
            </a:extLst>
          </p:cNvPr>
          <p:cNvSpPr>
            <a:spLocks noGrp="1"/>
          </p:cNvSpPr>
          <p:nvPr/>
        </p:nvSpPr>
        <p:spPr>
          <a:xfrm>
            <a:off x="4305300" y="2143125"/>
            <a:ext cx="3333750" cy="685800"/>
          </a:xfrm>
          <a:prstGeom prst="rect">
            <a:avLst/>
          </a:prstGeom>
          <a:noFill/>
          <a:ln w="0">
            <a:noFill/>
            <a:prstDash val="solid"/>
          </a:ln>
        </p:spPr>
        <p:txBody>
          <a:bodyPr lIns="0" tIns="0" rIns="0" bIns="0" anchor="ctr">
            <a:noAutofit/>
          </a:bodyPr>
          <a:lstStyle/>
          <a:p>
            <a:pPr algn="ctr">
              <a:buNone/>
              <a:defRPr sz="3450" b="1" i="0">
                <a:solidFill>
                  <a:srgbClr val="1F4E79"/>
                </a:solidFill>
              </a:defRPr>
            </a:pPr>
            <a:r>
              <a:rPr sz="3450" b="1" i="0">
                <a:solidFill>
                  <a:srgbClr val="1F4E79"/>
                </a:solidFill>
              </a:rPr>
              <a:t>−1.6</a:t>
            </a:r>
          </a:p>
        </p:txBody>
      </p:sp>
      <p:sp>
        <p:nvSpPr>
          <p:cNvPr id="11" name="secondary-ci-1">
            <a:extLst>
              <a:ext uri="{FF2B5EF4-FFF2-40B4-BE49-F238E27FC236}">
                <a16:creationId xmlns:a16="http://schemas.microsoft.com/office/drawing/2014/main" id="{8C4A8F5F-5105-47D6-BDD0-27AEBA28618D}"/>
              </a:ext>
            </a:extLst>
          </p:cNvPr>
          <p:cNvSpPr>
            <a:spLocks noGrp="1"/>
          </p:cNvSpPr>
          <p:nvPr/>
        </p:nvSpPr>
        <p:spPr>
          <a:xfrm>
            <a:off x="4305300" y="2905125"/>
            <a:ext cx="3333750" cy="285750"/>
          </a:xfrm>
          <a:prstGeom prst="rect">
            <a:avLst/>
          </a:prstGeom>
          <a:noFill/>
          <a:ln w="0">
            <a:noFill/>
            <a:prstDash val="solid"/>
          </a:ln>
        </p:spPr>
        <p:txBody>
          <a:bodyPr lIns="0" tIns="0" rIns="0" bIns="0" anchor="ctr">
            <a:noAutofit/>
          </a:bodyPr>
          <a:lstStyle/>
          <a:p>
            <a:pPr algn="ctr">
              <a:buNone/>
              <a:defRPr sz="1350" b="0" i="0">
                <a:solidFill>
                  <a:srgbClr val="111827"/>
                </a:solidFill>
              </a:defRPr>
            </a:pPr>
            <a:r>
              <a:rPr sz="1350" b="0" i="0">
                <a:solidFill>
                  <a:srgbClr val="111827"/>
                </a:solidFill>
              </a:rPr>
              <a:t>95% CI −2.9 to −0.4</a:t>
            </a:r>
          </a:p>
        </p:txBody>
      </p:sp>
      <p:sp>
        <p:nvSpPr>
          <p:cNvPr id="12" name="secondary-time-2">
            <a:extLst>
              <a:ext uri="{FF2B5EF4-FFF2-40B4-BE49-F238E27FC236}">
                <a16:creationId xmlns:a16="http://schemas.microsoft.com/office/drawing/2014/main" id="{C5797D09-88EC-4153-96C4-F72E57A1D6AE}"/>
              </a:ext>
            </a:extLst>
          </p:cNvPr>
          <p:cNvSpPr>
            <a:spLocks noGrp="1"/>
          </p:cNvSpPr>
          <p:nvPr/>
        </p:nvSpPr>
        <p:spPr>
          <a:xfrm>
            <a:off x="8001000" y="1714500"/>
            <a:ext cx="3333750" cy="266700"/>
          </a:xfrm>
          <a:prstGeom prst="rect">
            <a:avLst/>
          </a:prstGeom>
          <a:noFill/>
          <a:ln w="0">
            <a:noFill/>
            <a:prstDash val="solid"/>
          </a:ln>
        </p:spPr>
        <p:txBody>
          <a:bodyPr lIns="0" tIns="0" rIns="0" bIns="0" anchor="ctr">
            <a:noAutofit/>
          </a:bodyPr>
          <a:lstStyle/>
          <a:p>
            <a:pPr algn="ctr">
              <a:buNone/>
              <a:defRPr sz="1050" b="1" i="0">
                <a:solidFill>
                  <a:srgbClr val="4B5563"/>
                </a:solidFill>
              </a:defRPr>
            </a:pPr>
            <a:r>
              <a:rPr sz="1600" b="1" i="0">
                <a:solidFill>
                  <a:srgbClr val="4B5563"/>
                </a:solidFill>
              </a:rPr>
              <a:t>2 YEARS</a:t>
            </a:r>
          </a:p>
        </p:txBody>
      </p:sp>
      <p:sp>
        <p:nvSpPr>
          <p:cNvPr id="13" name="secondary-effect-2">
            <a:extLst>
              <a:ext uri="{FF2B5EF4-FFF2-40B4-BE49-F238E27FC236}">
                <a16:creationId xmlns:a16="http://schemas.microsoft.com/office/drawing/2014/main" id="{FA264D30-199D-45F6-B073-AED915AD3DB0}"/>
              </a:ext>
            </a:extLst>
          </p:cNvPr>
          <p:cNvSpPr>
            <a:spLocks noGrp="1"/>
          </p:cNvSpPr>
          <p:nvPr/>
        </p:nvSpPr>
        <p:spPr>
          <a:xfrm>
            <a:off x="8001000" y="2143125"/>
            <a:ext cx="3333750" cy="685800"/>
          </a:xfrm>
          <a:prstGeom prst="rect">
            <a:avLst/>
          </a:prstGeom>
          <a:noFill/>
          <a:ln w="0">
            <a:noFill/>
            <a:prstDash val="solid"/>
          </a:ln>
        </p:spPr>
        <p:txBody>
          <a:bodyPr lIns="0" tIns="0" rIns="0" bIns="0" anchor="ctr">
            <a:noAutofit/>
          </a:bodyPr>
          <a:lstStyle/>
          <a:p>
            <a:pPr algn="ctr">
              <a:buNone/>
              <a:defRPr sz="3450" b="1" i="0">
                <a:solidFill>
                  <a:srgbClr val="1F4E79"/>
                </a:solidFill>
              </a:defRPr>
            </a:pPr>
            <a:r>
              <a:rPr sz="3450" b="1" i="0">
                <a:solidFill>
                  <a:srgbClr val="1F4E79"/>
                </a:solidFill>
              </a:rPr>
              <a:t>−1.6</a:t>
            </a:r>
          </a:p>
        </p:txBody>
      </p:sp>
      <p:sp>
        <p:nvSpPr>
          <p:cNvPr id="14" name="secondary-ci-2">
            <a:extLst>
              <a:ext uri="{FF2B5EF4-FFF2-40B4-BE49-F238E27FC236}">
                <a16:creationId xmlns:a16="http://schemas.microsoft.com/office/drawing/2014/main" id="{EC5FBE69-A928-4055-A36A-4E9B89549FC9}"/>
              </a:ext>
            </a:extLst>
          </p:cNvPr>
          <p:cNvSpPr>
            <a:spLocks noGrp="1"/>
          </p:cNvSpPr>
          <p:nvPr/>
        </p:nvSpPr>
        <p:spPr>
          <a:xfrm>
            <a:off x="8001000" y="2905125"/>
            <a:ext cx="3333750" cy="285750"/>
          </a:xfrm>
          <a:prstGeom prst="rect">
            <a:avLst/>
          </a:prstGeom>
          <a:noFill/>
          <a:ln w="0">
            <a:noFill/>
            <a:prstDash val="solid"/>
          </a:ln>
        </p:spPr>
        <p:txBody>
          <a:bodyPr lIns="0" tIns="0" rIns="0" bIns="0" anchor="ctr">
            <a:noAutofit/>
          </a:bodyPr>
          <a:lstStyle/>
          <a:p>
            <a:pPr algn="ctr">
              <a:buNone/>
              <a:defRPr sz="1350" b="0" i="0">
                <a:solidFill>
                  <a:srgbClr val="111827"/>
                </a:solidFill>
              </a:defRPr>
            </a:pPr>
            <a:r>
              <a:rPr sz="1350" b="0" i="0">
                <a:solidFill>
                  <a:srgbClr val="111827"/>
                </a:solidFill>
              </a:rPr>
              <a:t>95% CI −2.9 to −0.3</a:t>
            </a:r>
          </a:p>
        </p:txBody>
      </p:sp>
      <p:sp>
        <p:nvSpPr>
          <p:cNvPr id="16" name="secondary-rule">
            <a:extLst>
              <a:ext uri="{FF2B5EF4-FFF2-40B4-BE49-F238E27FC236}">
                <a16:creationId xmlns:a16="http://schemas.microsoft.com/office/drawing/2014/main" id="{9B663437-A134-4886-862B-D4218CA50AC5}"/>
              </a:ext>
            </a:extLst>
          </p:cNvPr>
          <p:cNvSpPr>
            <a:spLocks noGrp="1"/>
          </p:cNvSpPr>
          <p:nvPr/>
        </p:nvSpPr>
        <p:spPr>
          <a:xfrm>
            <a:off x="609600" y="3886200"/>
            <a:ext cx="10668000" cy="19050"/>
          </a:xfrm>
          <a:prstGeom prst="rect">
            <a:avLst/>
          </a:prstGeom>
          <a:solidFill>
            <a:srgbClr val="E5E7EB"/>
          </a:solidFill>
          <a:ln w="0">
            <a:solidFill>
              <a:srgbClr val="E5E7EB"/>
            </a:solidFill>
            <a:prstDash val="solid"/>
          </a:ln>
        </p:spPr>
        <p:txBody>
          <a:bodyPr/>
          <a:lstStyle/>
          <a:p>
            <a:endParaRPr/>
          </a:p>
        </p:txBody>
      </p:sp>
      <p:sp>
        <p:nvSpPr>
          <p:cNvPr id="17" name="major-label">
            <a:extLst>
              <a:ext uri="{FF2B5EF4-FFF2-40B4-BE49-F238E27FC236}">
                <a16:creationId xmlns:a16="http://schemas.microsoft.com/office/drawing/2014/main" id="{5E8551C2-DE51-4999-8C38-0821D6FF632A}"/>
              </a:ext>
            </a:extLst>
          </p:cNvPr>
          <p:cNvSpPr>
            <a:spLocks noGrp="1"/>
          </p:cNvSpPr>
          <p:nvPr/>
        </p:nvSpPr>
        <p:spPr>
          <a:xfrm>
            <a:off x="1047750" y="4181475"/>
            <a:ext cx="4762500" cy="228600"/>
          </a:xfrm>
          <a:prstGeom prst="rect">
            <a:avLst/>
          </a:prstGeom>
          <a:noFill/>
          <a:ln w="0">
            <a:noFill/>
            <a:prstDash val="solid"/>
          </a:ln>
        </p:spPr>
        <p:txBody>
          <a:bodyPr lIns="0" tIns="0" rIns="0" bIns="0" anchor="ctr">
            <a:noAutofit/>
          </a:bodyPr>
          <a:lstStyle/>
          <a:p>
            <a:pPr algn="l">
              <a:buNone/>
              <a:defRPr sz="975" b="1" i="0">
                <a:solidFill>
                  <a:srgbClr val="1F4E79"/>
                </a:solidFill>
              </a:defRPr>
            </a:pPr>
            <a:r>
              <a:rPr sz="1200" b="1" i="0">
                <a:solidFill>
                  <a:srgbClr val="1F4E79"/>
                </a:solidFill>
              </a:rPr>
              <a:t>SELF-RATED MAJOR IMPROVEMENT  ·  1 YEAR</a:t>
            </a:r>
          </a:p>
        </p:txBody>
      </p:sp>
      <p:sp>
        <p:nvSpPr>
          <p:cNvPr id="18" name="major-effect">
            <a:extLst>
              <a:ext uri="{FF2B5EF4-FFF2-40B4-BE49-F238E27FC236}">
                <a16:creationId xmlns:a16="http://schemas.microsoft.com/office/drawing/2014/main" id="{E4493883-9383-4950-8D32-54DFD2789012}"/>
              </a:ext>
            </a:extLst>
          </p:cNvPr>
          <p:cNvSpPr>
            <a:spLocks noGrp="1"/>
          </p:cNvSpPr>
          <p:nvPr/>
        </p:nvSpPr>
        <p:spPr>
          <a:xfrm>
            <a:off x="1047750" y="4514850"/>
            <a:ext cx="4762500" cy="457200"/>
          </a:xfrm>
          <a:prstGeom prst="rect">
            <a:avLst/>
          </a:prstGeom>
          <a:noFill/>
          <a:ln w="0">
            <a:noFill/>
            <a:prstDash val="solid"/>
          </a:ln>
        </p:spPr>
        <p:txBody>
          <a:bodyPr lIns="0" tIns="0" rIns="0" bIns="0" anchor="ctr">
            <a:noAutofit/>
          </a:bodyPr>
          <a:lstStyle/>
          <a:p>
            <a:pPr algn="l">
              <a:buNone/>
              <a:defRPr sz="2325" b="1" i="0">
                <a:solidFill>
                  <a:srgbClr val="1F4E79"/>
                </a:solidFill>
              </a:defRPr>
            </a:pPr>
            <a:r>
              <a:rPr sz="2325" b="1" i="0">
                <a:solidFill>
                  <a:srgbClr val="1F4E79"/>
                </a:solidFill>
              </a:rPr>
              <a:t>+9</a:t>
            </a:r>
            <a:r>
              <a:rPr sz="2325" b="1">
                <a:solidFill>
                  <a:srgbClr val="1F4E79"/>
                </a:solidFill>
              </a:rPr>
              <a:t> % Improvement</a:t>
            </a:r>
          </a:p>
        </p:txBody>
      </p:sp>
      <p:sp>
        <p:nvSpPr>
          <p:cNvPr id="19" name="major-ci">
            <a:extLst>
              <a:ext uri="{FF2B5EF4-FFF2-40B4-BE49-F238E27FC236}">
                <a16:creationId xmlns:a16="http://schemas.microsoft.com/office/drawing/2014/main" id="{BE858264-8352-4C38-AE77-A65D3FA58221}"/>
              </a:ext>
            </a:extLst>
          </p:cNvPr>
          <p:cNvSpPr>
            <a:spLocks noGrp="1"/>
          </p:cNvSpPr>
          <p:nvPr/>
        </p:nvSpPr>
        <p:spPr>
          <a:xfrm>
            <a:off x="1047750" y="5048250"/>
            <a:ext cx="3619500" cy="2857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95% CI 0.3 to 17.6</a:t>
            </a:r>
          </a:p>
        </p:txBody>
      </p:sp>
      <p:sp>
        <p:nvSpPr>
          <p:cNvPr id="20" name="secondary-bottom-separator">
            <a:extLst>
              <a:ext uri="{FF2B5EF4-FFF2-40B4-BE49-F238E27FC236}">
                <a16:creationId xmlns:a16="http://schemas.microsoft.com/office/drawing/2014/main" id="{C621E1F5-A818-4AEA-A1D3-7FB0280E197D}"/>
              </a:ext>
            </a:extLst>
          </p:cNvPr>
          <p:cNvSpPr>
            <a:spLocks noGrp="1"/>
          </p:cNvSpPr>
          <p:nvPr/>
        </p:nvSpPr>
        <p:spPr>
          <a:xfrm>
            <a:off x="5810250" y="4191000"/>
            <a:ext cx="19050" cy="1285875"/>
          </a:xfrm>
          <a:prstGeom prst="rect">
            <a:avLst/>
          </a:prstGeom>
          <a:solidFill>
            <a:srgbClr val="E5E7EB"/>
          </a:solidFill>
          <a:ln w="0">
            <a:solidFill>
              <a:srgbClr val="E5E7EB"/>
            </a:solidFill>
            <a:prstDash val="solid"/>
          </a:ln>
        </p:spPr>
        <p:txBody>
          <a:bodyPr/>
          <a:lstStyle/>
          <a:p>
            <a:endParaRPr/>
          </a:p>
        </p:txBody>
      </p:sp>
      <p:sp>
        <p:nvSpPr>
          <p:cNvPr id="21" name="work-label">
            <a:extLst>
              <a:ext uri="{FF2B5EF4-FFF2-40B4-BE49-F238E27FC236}">
                <a16:creationId xmlns:a16="http://schemas.microsoft.com/office/drawing/2014/main" id="{BB68B509-7700-4799-8F80-D8D7ABF5F8BF}"/>
              </a:ext>
            </a:extLst>
          </p:cNvPr>
          <p:cNvSpPr>
            <a:spLocks noGrp="1"/>
          </p:cNvSpPr>
          <p:nvPr/>
        </p:nvSpPr>
        <p:spPr>
          <a:xfrm>
            <a:off x="6991350" y="4200525"/>
            <a:ext cx="4476750" cy="228600"/>
          </a:xfrm>
          <a:prstGeom prst="rect">
            <a:avLst/>
          </a:prstGeom>
          <a:noFill/>
          <a:ln w="0">
            <a:noFill/>
            <a:prstDash val="solid"/>
          </a:ln>
        </p:spPr>
        <p:txBody>
          <a:bodyPr lIns="0" tIns="0" rIns="0" bIns="0" anchor="ctr">
            <a:noAutofit/>
          </a:bodyPr>
          <a:lstStyle/>
          <a:p>
            <a:pPr algn="l">
              <a:buNone/>
              <a:defRPr sz="975" b="1" i="0">
                <a:solidFill>
                  <a:srgbClr val="4B5563"/>
                </a:solidFill>
              </a:defRPr>
            </a:pPr>
            <a:r>
              <a:rPr sz="1200" b="1" i="0">
                <a:solidFill>
                  <a:srgbClr val="4B5563"/>
                </a:solidFill>
              </a:rPr>
              <a:t>WORK STATUS  ·  2 YEARS</a:t>
            </a:r>
          </a:p>
        </p:txBody>
      </p:sp>
      <p:sp>
        <p:nvSpPr>
          <p:cNvPr id="22" name="work-effect">
            <a:extLst>
              <a:ext uri="{FF2B5EF4-FFF2-40B4-BE49-F238E27FC236}">
                <a16:creationId xmlns:a16="http://schemas.microsoft.com/office/drawing/2014/main" id="{E69FC561-7E52-44D7-9D43-EA58F2885597}"/>
              </a:ext>
            </a:extLst>
          </p:cNvPr>
          <p:cNvSpPr>
            <a:spLocks noGrp="1"/>
          </p:cNvSpPr>
          <p:nvPr/>
        </p:nvSpPr>
        <p:spPr>
          <a:xfrm>
            <a:off x="6991350" y="4533900"/>
            <a:ext cx="4762500" cy="457200"/>
          </a:xfrm>
          <a:prstGeom prst="rect">
            <a:avLst/>
          </a:prstGeom>
          <a:noFill/>
          <a:ln w="0">
            <a:noFill/>
            <a:prstDash val="solid"/>
          </a:ln>
        </p:spPr>
        <p:txBody>
          <a:bodyPr lIns="0" tIns="0" rIns="0" bIns="0" anchor="ctr">
            <a:noAutofit/>
          </a:bodyPr>
          <a:lstStyle/>
          <a:p>
            <a:pPr algn="l">
              <a:buNone/>
              <a:defRPr sz="2325" b="1" i="0">
                <a:solidFill>
                  <a:srgbClr val="4B5563"/>
                </a:solidFill>
              </a:defRPr>
            </a:pPr>
            <a:r>
              <a:rPr sz="2325" b="1" i="0">
                <a:solidFill>
                  <a:srgbClr val="4B5563"/>
                </a:solidFill>
              </a:rPr>
              <a:t>−2.2 % Back to Work</a:t>
            </a:r>
          </a:p>
        </p:txBody>
      </p:sp>
      <p:sp>
        <p:nvSpPr>
          <p:cNvPr id="23" name="work-ci">
            <a:extLst>
              <a:ext uri="{FF2B5EF4-FFF2-40B4-BE49-F238E27FC236}">
                <a16:creationId xmlns:a16="http://schemas.microsoft.com/office/drawing/2014/main" id="{83F987CD-393B-4D0E-AF03-8C0063F5C476}"/>
              </a:ext>
            </a:extLst>
          </p:cNvPr>
          <p:cNvSpPr>
            <a:spLocks noGrp="1"/>
          </p:cNvSpPr>
          <p:nvPr/>
        </p:nvSpPr>
        <p:spPr>
          <a:xfrm>
            <a:off x="6991350" y="5067300"/>
            <a:ext cx="3619500" cy="2857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95% CI −10.4 to 6.0</a:t>
            </a:r>
          </a:p>
        </p:txBody>
      </p:sp>
      <p:sp>
        <p:nvSpPr>
          <p:cNvPr id="24" name="footer-rule-8">
            <a:extLst>
              <a:ext uri="{FF2B5EF4-FFF2-40B4-BE49-F238E27FC236}">
                <a16:creationId xmlns:a16="http://schemas.microsoft.com/office/drawing/2014/main" id="{DFC757B6-643C-4F36-9C6A-CAD399B18A16}"/>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5" name="cite-8">
            <a:extLst>
              <a:ext uri="{FF2B5EF4-FFF2-40B4-BE49-F238E27FC236}">
                <a16:creationId xmlns:a16="http://schemas.microsoft.com/office/drawing/2014/main" id="{CD442DD5-C356-4DD1-B1D0-8D0AF52943E1}"/>
              </a:ext>
            </a:extLst>
          </p:cNvPr>
          <p:cNvSpPr>
            <a:spLocks noGrp="1"/>
          </p:cNvSpPr>
          <p:nvPr/>
        </p:nvSpPr>
        <p:spPr>
          <a:xfrm>
            <a:off x="609600" y="6267450"/>
            <a:ext cx="10334625" cy="171450"/>
          </a:xfrm>
          <a:prstGeom prst="rect">
            <a:avLst/>
          </a:prstGeom>
          <a:noFill/>
          <a:ln w="0">
            <a:noFill/>
            <a:prstDash val="solid"/>
          </a:ln>
        </p:spPr>
        <p:txBody>
          <a:bodyPr lIns="0" tIns="0" rIns="0" bIns="0" anchor="ctr">
            <a:noAutofit/>
          </a:bodyPr>
          <a:lstStyle/>
          <a:p>
            <a:pPr algn="l">
              <a:buNone/>
              <a:defRPr sz="750" b="0" i="0">
                <a:solidFill>
                  <a:srgbClr val="4B5563"/>
                </a:solidFill>
              </a:defRPr>
            </a:pPr>
            <a:r>
              <a:rPr sz="750" b="0" i="0">
                <a:solidFill>
                  <a:srgbClr val="4B5563"/>
                </a:solidFill>
              </a:rPr>
              <a:t>SPORT randomized trial, Table 5; p 2447.</a:t>
            </a:r>
          </a:p>
        </p:txBody>
      </p:sp>
      <p:sp>
        <p:nvSpPr>
          <p:cNvPr id="26" name="num-8">
            <a:extLst>
              <a:ext uri="{FF2B5EF4-FFF2-40B4-BE49-F238E27FC236}">
                <a16:creationId xmlns:a16="http://schemas.microsoft.com/office/drawing/2014/main" id="{755F070A-24B5-4323-AF1F-798AAC852B9B}"/>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08</a:t>
            </a:r>
          </a:p>
        </p:txBody>
      </p:sp>
    </p:spTree>
    <p:extLst>
      <p:ext uri="{BB962C8B-B14F-4D97-AF65-F5344CB8AC3E}">
        <p14:creationId xmlns:p14="http://schemas.microsoft.com/office/powerpoint/2010/main" val="598215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title-9">
            <a:extLst>
              <a:ext uri="{FF2B5EF4-FFF2-40B4-BE49-F238E27FC236}">
                <a16:creationId xmlns:a16="http://schemas.microsoft.com/office/drawing/2014/main" id="{F7D68B27-C438-4C3F-A55F-1FB60895D4D3}"/>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Disability: Assigned vs. </a:t>
            </a:r>
            <a:r>
              <a:rPr sz="2850" b="1">
                <a:solidFill>
                  <a:srgbClr val="111827"/>
                </a:solidFill>
              </a:rPr>
              <a:t>As-Treated</a:t>
            </a:r>
          </a:p>
        </p:txBody>
      </p:sp>
      <p:sp>
        <p:nvSpPr>
          <p:cNvPr id="2" name="title-rule-9">
            <a:extLst>
              <a:ext uri="{FF2B5EF4-FFF2-40B4-BE49-F238E27FC236}">
                <a16:creationId xmlns:a16="http://schemas.microsoft.com/office/drawing/2014/main" id="{EC7F98DD-BA6A-4429-97EA-B73DA24628BF}"/>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triangulation-kicker">
            <a:extLst>
              <a:ext uri="{FF2B5EF4-FFF2-40B4-BE49-F238E27FC236}">
                <a16:creationId xmlns:a16="http://schemas.microsoft.com/office/drawing/2014/main" id="{828CAD95-D039-466E-8D8E-7F9FF6D41350}"/>
              </a:ext>
            </a:extLst>
          </p:cNvPr>
          <p:cNvSpPr>
            <a:spLocks noGrp="1"/>
          </p:cNvSpPr>
          <p:nvPr/>
        </p:nvSpPr>
        <p:spPr>
          <a:xfrm>
            <a:off x="609599" y="1228725"/>
            <a:ext cx="6153815" cy="32385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600" b="1" i="0">
                <a:solidFill>
                  <a:srgbClr val="1F4E79"/>
                </a:solidFill>
              </a:rPr>
              <a:t>OSWESTRY DISABILITY INDEX (ODI)    </a:t>
            </a:r>
          </a:p>
        </p:txBody>
      </p:sp>
      <p:sp>
        <p:nvSpPr>
          <p:cNvPr id="4" name="tri-separator-a">
            <a:extLst>
              <a:ext uri="{FF2B5EF4-FFF2-40B4-BE49-F238E27FC236}">
                <a16:creationId xmlns:a16="http://schemas.microsoft.com/office/drawing/2014/main" id="{ECBD76DB-4674-4F14-A254-F433B9312E95}"/>
              </a:ext>
            </a:extLst>
          </p:cNvPr>
          <p:cNvSpPr>
            <a:spLocks noGrp="1"/>
          </p:cNvSpPr>
          <p:nvPr/>
        </p:nvSpPr>
        <p:spPr>
          <a:xfrm>
            <a:off x="4162425" y="1666875"/>
            <a:ext cx="9525" cy="3457575"/>
          </a:xfrm>
          <a:prstGeom prst="rect">
            <a:avLst/>
          </a:prstGeom>
          <a:solidFill>
            <a:srgbClr val="E5E7EB"/>
          </a:solidFill>
          <a:ln w="0">
            <a:solidFill>
              <a:srgbClr val="E5E7EB"/>
            </a:solidFill>
            <a:prstDash val="solid"/>
          </a:ln>
        </p:spPr>
        <p:txBody>
          <a:bodyPr/>
          <a:lstStyle/>
          <a:p>
            <a:endParaRPr/>
          </a:p>
        </p:txBody>
      </p:sp>
      <p:sp>
        <p:nvSpPr>
          <p:cNvPr id="5" name="tri-separator-b">
            <a:extLst>
              <a:ext uri="{FF2B5EF4-FFF2-40B4-BE49-F238E27FC236}">
                <a16:creationId xmlns:a16="http://schemas.microsoft.com/office/drawing/2014/main" id="{3260ADDF-7FA2-45DF-A664-13972467FAE9}"/>
              </a:ext>
            </a:extLst>
          </p:cNvPr>
          <p:cNvSpPr>
            <a:spLocks noGrp="1"/>
          </p:cNvSpPr>
          <p:nvPr/>
        </p:nvSpPr>
        <p:spPr>
          <a:xfrm>
            <a:off x="8029575" y="1666875"/>
            <a:ext cx="9525" cy="3457575"/>
          </a:xfrm>
          <a:prstGeom prst="rect">
            <a:avLst/>
          </a:prstGeom>
          <a:solidFill>
            <a:srgbClr val="E5E7EB"/>
          </a:solidFill>
          <a:ln w="0">
            <a:solidFill>
              <a:srgbClr val="E5E7EB"/>
            </a:solidFill>
            <a:prstDash val="solid"/>
          </a:ln>
        </p:spPr>
        <p:txBody>
          <a:bodyPr/>
          <a:lstStyle/>
          <a:p>
            <a:endParaRPr/>
          </a:p>
        </p:txBody>
      </p:sp>
      <p:sp>
        <p:nvSpPr>
          <p:cNvPr id="6" name="tri-label-0">
            <a:extLst>
              <a:ext uri="{FF2B5EF4-FFF2-40B4-BE49-F238E27FC236}">
                <a16:creationId xmlns:a16="http://schemas.microsoft.com/office/drawing/2014/main" id="{FDB55BCF-ABC8-4DC4-A144-32A2C188BC0C}"/>
              </a:ext>
            </a:extLst>
          </p:cNvPr>
          <p:cNvSpPr>
            <a:spLocks noGrp="1"/>
          </p:cNvSpPr>
          <p:nvPr/>
        </p:nvSpPr>
        <p:spPr>
          <a:xfrm>
            <a:off x="1282663" y="1800225"/>
            <a:ext cx="2141575" cy="342900"/>
          </a:xfrm>
          <a:prstGeom prst="rect">
            <a:avLst/>
          </a:prstGeom>
          <a:noFill/>
          <a:ln w="0">
            <a:noFill/>
            <a:prstDash val="solid"/>
          </a:ln>
        </p:spPr>
        <p:txBody>
          <a:bodyPr lIns="0" tIns="0" rIns="0" bIns="0" anchor="ctr">
            <a:noAutofit/>
          </a:bodyPr>
          <a:lstStyle/>
          <a:p>
            <a:pPr algn="l">
              <a:buNone/>
              <a:defRPr sz="975" b="1" i="0">
                <a:solidFill>
                  <a:srgbClr val="1F4E79"/>
                </a:solidFill>
              </a:defRPr>
            </a:pPr>
            <a:r>
              <a:rPr sz="1400" b="1" i="0">
                <a:solidFill>
                  <a:srgbClr val="1F4E79"/>
                </a:solidFill>
              </a:rPr>
              <a:t>RANDOMIZED ITT  ·  2 YEARS</a:t>
            </a:r>
          </a:p>
        </p:txBody>
      </p:sp>
      <p:sp>
        <p:nvSpPr>
          <p:cNvPr id="7" name="tri-effect-0">
            <a:extLst>
              <a:ext uri="{FF2B5EF4-FFF2-40B4-BE49-F238E27FC236}">
                <a16:creationId xmlns:a16="http://schemas.microsoft.com/office/drawing/2014/main" id="{79E6AB13-0B79-4698-AB7E-765F6251569F}"/>
              </a:ext>
            </a:extLst>
          </p:cNvPr>
          <p:cNvSpPr>
            <a:spLocks noGrp="1"/>
          </p:cNvSpPr>
          <p:nvPr/>
        </p:nvSpPr>
        <p:spPr>
          <a:xfrm>
            <a:off x="1795684" y="2400300"/>
            <a:ext cx="866332" cy="666750"/>
          </a:xfrm>
          <a:prstGeom prst="rect">
            <a:avLst/>
          </a:prstGeom>
          <a:noFill/>
          <a:ln w="0">
            <a:noFill/>
            <a:prstDash val="solid"/>
          </a:ln>
        </p:spPr>
        <p:txBody>
          <a:bodyPr lIns="0" tIns="0" rIns="0" bIns="0" anchor="ctr">
            <a:noAutofit/>
          </a:bodyPr>
          <a:lstStyle/>
          <a:p>
            <a:pPr algn="l">
              <a:buNone/>
              <a:defRPr sz="3600" b="1" i="0">
                <a:solidFill>
                  <a:srgbClr val="1F4E79"/>
                </a:solidFill>
              </a:defRPr>
            </a:pPr>
            <a:r>
              <a:rPr sz="3600" b="1" i="0">
                <a:solidFill>
                  <a:srgbClr val="1F4E79"/>
                </a:solidFill>
              </a:rPr>
              <a:t>−2.7</a:t>
            </a:r>
          </a:p>
        </p:txBody>
      </p:sp>
      <p:sp>
        <p:nvSpPr>
          <p:cNvPr id="8" name="tri-ci-0">
            <a:extLst>
              <a:ext uri="{FF2B5EF4-FFF2-40B4-BE49-F238E27FC236}">
                <a16:creationId xmlns:a16="http://schemas.microsoft.com/office/drawing/2014/main" id="{D97BE53D-0D97-41DD-9605-072B49ADDE40}"/>
              </a:ext>
            </a:extLst>
          </p:cNvPr>
          <p:cNvSpPr>
            <a:spLocks noGrp="1"/>
          </p:cNvSpPr>
          <p:nvPr/>
        </p:nvSpPr>
        <p:spPr>
          <a:xfrm>
            <a:off x="1567749" y="3095625"/>
            <a:ext cx="1331728" cy="26670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95% CI −7.4 to 1.9</a:t>
            </a:r>
          </a:p>
        </p:txBody>
      </p:sp>
      <p:sp>
        <p:nvSpPr>
          <p:cNvPr id="9" name="tri-rule-0">
            <a:extLst>
              <a:ext uri="{FF2B5EF4-FFF2-40B4-BE49-F238E27FC236}">
                <a16:creationId xmlns:a16="http://schemas.microsoft.com/office/drawing/2014/main" id="{D80FF52B-6D7B-4A60-9C22-B6F90621732F}"/>
              </a:ext>
            </a:extLst>
          </p:cNvPr>
          <p:cNvSpPr>
            <a:spLocks noGrp="1"/>
          </p:cNvSpPr>
          <p:nvPr/>
        </p:nvSpPr>
        <p:spPr>
          <a:xfrm>
            <a:off x="838200" y="3552825"/>
            <a:ext cx="2781300" cy="9525"/>
          </a:xfrm>
          <a:prstGeom prst="rect">
            <a:avLst/>
          </a:prstGeom>
          <a:solidFill>
            <a:srgbClr val="E5E7EB"/>
          </a:solidFill>
          <a:ln w="0">
            <a:solidFill>
              <a:srgbClr val="E5E7EB"/>
            </a:solidFill>
            <a:prstDash val="solid"/>
          </a:ln>
        </p:spPr>
        <p:txBody>
          <a:bodyPr/>
          <a:lstStyle/>
          <a:p>
            <a:endParaRPr/>
          </a:p>
        </p:txBody>
      </p:sp>
      <p:sp>
        <p:nvSpPr>
          <p:cNvPr id="10" name="tri-head-0">
            <a:extLst>
              <a:ext uri="{FF2B5EF4-FFF2-40B4-BE49-F238E27FC236}">
                <a16:creationId xmlns:a16="http://schemas.microsoft.com/office/drawing/2014/main" id="{3C0D6BEC-1096-4DFC-80F4-69334501996A}"/>
              </a:ext>
            </a:extLst>
          </p:cNvPr>
          <p:cNvSpPr>
            <a:spLocks noGrp="1"/>
          </p:cNvSpPr>
          <p:nvPr/>
        </p:nvSpPr>
        <p:spPr>
          <a:xfrm>
            <a:off x="1411805" y="3781425"/>
            <a:ext cx="1643616" cy="428625"/>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Assignment Effect</a:t>
            </a:r>
          </a:p>
        </p:txBody>
      </p:sp>
      <p:sp>
        <p:nvSpPr>
          <p:cNvPr id="11" name="tri-copy-0">
            <a:extLst>
              <a:ext uri="{FF2B5EF4-FFF2-40B4-BE49-F238E27FC236}">
                <a16:creationId xmlns:a16="http://schemas.microsoft.com/office/drawing/2014/main" id="{F886F29B-20A5-437B-ACE5-100A4E15556E}"/>
              </a:ext>
            </a:extLst>
          </p:cNvPr>
          <p:cNvSpPr>
            <a:spLocks noGrp="1"/>
          </p:cNvSpPr>
          <p:nvPr/>
        </p:nvSpPr>
        <p:spPr>
          <a:xfrm>
            <a:off x="1062037" y="4190114"/>
            <a:ext cx="2566988" cy="64770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Weak </a:t>
            </a:r>
            <a:r>
              <a:rPr sz="1350">
                <a:solidFill>
                  <a:srgbClr val="111827"/>
                </a:solidFill>
              </a:rPr>
              <a:t>T</a:t>
            </a:r>
            <a:r>
              <a:rPr sz="1350" b="0" i="0">
                <a:solidFill>
                  <a:srgbClr val="111827"/>
                </a:solidFill>
              </a:rPr>
              <a:t>reatment-Exposure Analysis</a:t>
            </a:r>
          </a:p>
        </p:txBody>
      </p:sp>
      <p:sp>
        <p:nvSpPr>
          <p:cNvPr id="12" name="tri-label-1">
            <a:extLst>
              <a:ext uri="{FF2B5EF4-FFF2-40B4-BE49-F238E27FC236}">
                <a16:creationId xmlns:a16="http://schemas.microsoft.com/office/drawing/2014/main" id="{2620E334-1381-402A-B07C-88AD566AAE1F}"/>
              </a:ext>
            </a:extLst>
          </p:cNvPr>
          <p:cNvSpPr>
            <a:spLocks noGrp="1"/>
          </p:cNvSpPr>
          <p:nvPr/>
        </p:nvSpPr>
        <p:spPr>
          <a:xfrm>
            <a:off x="5086017" y="1800225"/>
            <a:ext cx="2176796" cy="342900"/>
          </a:xfrm>
          <a:prstGeom prst="rect">
            <a:avLst/>
          </a:prstGeom>
          <a:noFill/>
          <a:ln w="0">
            <a:noFill/>
            <a:prstDash val="solid"/>
          </a:ln>
        </p:spPr>
        <p:txBody>
          <a:bodyPr lIns="0" tIns="0" rIns="0" bIns="0" anchor="ctr">
            <a:noAutofit/>
          </a:bodyPr>
          <a:lstStyle/>
          <a:p>
            <a:pPr algn="l">
              <a:buNone/>
              <a:defRPr sz="975" b="1" i="0">
                <a:solidFill>
                  <a:srgbClr val="4B5563"/>
                </a:solidFill>
              </a:defRPr>
            </a:pPr>
            <a:r>
              <a:rPr sz="1400" b="1" i="0">
                <a:solidFill>
                  <a:srgbClr val="4B5563"/>
                </a:solidFill>
              </a:rPr>
              <a:t>OBSERVATIONAL  ·  2 YEARS</a:t>
            </a:r>
          </a:p>
        </p:txBody>
      </p:sp>
      <p:sp>
        <p:nvSpPr>
          <p:cNvPr id="13" name="tri-effect-1">
            <a:extLst>
              <a:ext uri="{FF2B5EF4-FFF2-40B4-BE49-F238E27FC236}">
                <a16:creationId xmlns:a16="http://schemas.microsoft.com/office/drawing/2014/main" id="{3DA94894-4E58-4F0F-A697-7F43B32671C0}"/>
              </a:ext>
            </a:extLst>
          </p:cNvPr>
          <p:cNvSpPr>
            <a:spLocks noGrp="1"/>
          </p:cNvSpPr>
          <p:nvPr/>
        </p:nvSpPr>
        <p:spPr>
          <a:xfrm>
            <a:off x="5514975" y="2400300"/>
            <a:ext cx="1171575" cy="666750"/>
          </a:xfrm>
          <a:prstGeom prst="rect">
            <a:avLst/>
          </a:prstGeom>
          <a:noFill/>
          <a:ln w="0">
            <a:noFill/>
            <a:prstDash val="solid"/>
          </a:ln>
        </p:spPr>
        <p:txBody>
          <a:bodyPr lIns="0" tIns="0" rIns="0" bIns="0" anchor="ctr">
            <a:noAutofit/>
          </a:bodyPr>
          <a:lstStyle/>
          <a:p>
            <a:pPr algn="l">
              <a:buNone/>
              <a:defRPr sz="3600" b="1" i="0">
                <a:solidFill>
                  <a:srgbClr val="4B5563"/>
                </a:solidFill>
              </a:defRPr>
            </a:pPr>
            <a:r>
              <a:rPr sz="3600" b="1" i="0">
                <a:solidFill>
                  <a:srgbClr val="4B5563"/>
                </a:solidFill>
              </a:rPr>
              <a:t>−13.4</a:t>
            </a:r>
          </a:p>
        </p:txBody>
      </p:sp>
      <p:sp>
        <p:nvSpPr>
          <p:cNvPr id="14" name="tri-ci-1">
            <a:extLst>
              <a:ext uri="{FF2B5EF4-FFF2-40B4-BE49-F238E27FC236}">
                <a16:creationId xmlns:a16="http://schemas.microsoft.com/office/drawing/2014/main" id="{9510AA4D-ED26-44D3-ABBB-4B13DCEB5140}"/>
              </a:ext>
            </a:extLst>
          </p:cNvPr>
          <p:cNvSpPr>
            <a:spLocks noGrp="1"/>
          </p:cNvSpPr>
          <p:nvPr/>
        </p:nvSpPr>
        <p:spPr>
          <a:xfrm>
            <a:off x="5368334" y="3106701"/>
            <a:ext cx="1464856" cy="26670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95% CI −17.0 to −9.7</a:t>
            </a:r>
          </a:p>
        </p:txBody>
      </p:sp>
      <p:sp>
        <p:nvSpPr>
          <p:cNvPr id="15" name="tri-rule-1">
            <a:extLst>
              <a:ext uri="{FF2B5EF4-FFF2-40B4-BE49-F238E27FC236}">
                <a16:creationId xmlns:a16="http://schemas.microsoft.com/office/drawing/2014/main" id="{55CA0594-F46D-49E0-BB1E-C7E497A2AC32}"/>
              </a:ext>
            </a:extLst>
          </p:cNvPr>
          <p:cNvSpPr>
            <a:spLocks noGrp="1"/>
          </p:cNvSpPr>
          <p:nvPr/>
        </p:nvSpPr>
        <p:spPr>
          <a:xfrm>
            <a:off x="4705350" y="3552825"/>
            <a:ext cx="2781300" cy="9525"/>
          </a:xfrm>
          <a:prstGeom prst="rect">
            <a:avLst/>
          </a:prstGeom>
          <a:solidFill>
            <a:srgbClr val="E5E7EB"/>
          </a:solidFill>
          <a:ln w="0">
            <a:solidFill>
              <a:srgbClr val="E5E7EB"/>
            </a:solidFill>
            <a:prstDash val="solid"/>
          </a:ln>
        </p:spPr>
        <p:txBody>
          <a:bodyPr/>
          <a:lstStyle/>
          <a:p>
            <a:endParaRPr/>
          </a:p>
        </p:txBody>
      </p:sp>
      <p:sp>
        <p:nvSpPr>
          <p:cNvPr id="16" name="tri-head-1">
            <a:extLst>
              <a:ext uri="{FF2B5EF4-FFF2-40B4-BE49-F238E27FC236}">
                <a16:creationId xmlns:a16="http://schemas.microsoft.com/office/drawing/2014/main" id="{36F3A53C-65D0-4A4A-AB9B-AB59F15DE861}"/>
              </a:ext>
            </a:extLst>
          </p:cNvPr>
          <p:cNvSpPr>
            <a:spLocks noGrp="1"/>
          </p:cNvSpPr>
          <p:nvPr/>
        </p:nvSpPr>
        <p:spPr>
          <a:xfrm>
            <a:off x="4981409" y="3795602"/>
            <a:ext cx="2229182" cy="428625"/>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Patient Preference Effect</a:t>
            </a:r>
          </a:p>
        </p:txBody>
      </p:sp>
      <p:sp>
        <p:nvSpPr>
          <p:cNvPr id="17" name="tri-copy-1">
            <a:extLst>
              <a:ext uri="{FF2B5EF4-FFF2-40B4-BE49-F238E27FC236}">
                <a16:creationId xmlns:a16="http://schemas.microsoft.com/office/drawing/2014/main" id="{71C6FDAD-BBC4-46D6-AB8C-CFAB6457F2E1}"/>
              </a:ext>
            </a:extLst>
          </p:cNvPr>
          <p:cNvSpPr>
            <a:spLocks noGrp="1"/>
          </p:cNvSpPr>
          <p:nvPr/>
        </p:nvSpPr>
        <p:spPr>
          <a:xfrm>
            <a:off x="4705350" y="4305300"/>
            <a:ext cx="2781300" cy="647700"/>
          </a:xfrm>
          <a:prstGeom prst="rect">
            <a:avLst/>
          </a:prstGeom>
          <a:noFill/>
          <a:ln w="0">
            <a:noFill/>
            <a:prstDash val="solid"/>
          </a:ln>
        </p:spPr>
        <p:txBody>
          <a:bodyPr lIns="0" tIns="0" rIns="0" bIns="0" anchor="ctr">
            <a:noAutofit/>
          </a:bodyPr>
          <a:lstStyle/>
          <a:p>
            <a:pPr algn="ctr">
              <a:buNone/>
              <a:defRPr sz="1350" b="0" i="0">
                <a:solidFill>
                  <a:srgbClr val="111827"/>
                </a:solidFill>
              </a:defRPr>
            </a:pPr>
            <a:r>
              <a:rPr sz="1350" b="0" i="0">
                <a:solidFill>
                  <a:srgbClr val="111827"/>
                </a:solidFill>
              </a:rPr>
              <a:t>Patients Who Choose Treatment Rarely Crossover</a:t>
            </a:r>
          </a:p>
        </p:txBody>
      </p:sp>
      <p:sp>
        <p:nvSpPr>
          <p:cNvPr id="18" name="tri-label-2">
            <a:extLst>
              <a:ext uri="{FF2B5EF4-FFF2-40B4-BE49-F238E27FC236}">
                <a16:creationId xmlns:a16="http://schemas.microsoft.com/office/drawing/2014/main" id="{6617E073-1986-416D-9386-2255641383B0}"/>
              </a:ext>
            </a:extLst>
          </p:cNvPr>
          <p:cNvSpPr>
            <a:spLocks noGrp="1"/>
          </p:cNvSpPr>
          <p:nvPr/>
        </p:nvSpPr>
        <p:spPr>
          <a:xfrm>
            <a:off x="8777287" y="1800225"/>
            <a:ext cx="2805113" cy="342900"/>
          </a:xfrm>
          <a:prstGeom prst="rect">
            <a:avLst/>
          </a:prstGeom>
          <a:noFill/>
          <a:ln w="0">
            <a:noFill/>
            <a:prstDash val="solid"/>
          </a:ln>
        </p:spPr>
        <p:txBody>
          <a:bodyPr lIns="0" tIns="0" rIns="0" bIns="0" anchor="ctr">
            <a:noAutofit/>
          </a:bodyPr>
          <a:lstStyle/>
          <a:p>
            <a:pPr algn="l">
              <a:buNone/>
              <a:defRPr sz="975" b="1" i="0">
                <a:solidFill>
                  <a:srgbClr val="4B5563"/>
                </a:solidFill>
              </a:defRPr>
            </a:pPr>
            <a:r>
              <a:rPr sz="1400" b="1" i="0">
                <a:solidFill>
                  <a:srgbClr val="4B5563"/>
                </a:solidFill>
              </a:rPr>
              <a:t>RANDOMIZED AS-TREATED  ·  1 YEAR</a:t>
            </a:r>
          </a:p>
        </p:txBody>
      </p:sp>
      <p:sp>
        <p:nvSpPr>
          <p:cNvPr id="19" name="tri-effect-2">
            <a:extLst>
              <a:ext uri="{FF2B5EF4-FFF2-40B4-BE49-F238E27FC236}">
                <a16:creationId xmlns:a16="http://schemas.microsoft.com/office/drawing/2014/main" id="{CCD34A8D-5521-40EF-B9F1-D8A2A203B17A}"/>
              </a:ext>
            </a:extLst>
          </p:cNvPr>
          <p:cNvSpPr>
            <a:spLocks noGrp="1"/>
          </p:cNvSpPr>
          <p:nvPr/>
        </p:nvSpPr>
        <p:spPr>
          <a:xfrm>
            <a:off x="9382125" y="2400300"/>
            <a:ext cx="1163822" cy="666750"/>
          </a:xfrm>
          <a:prstGeom prst="rect">
            <a:avLst/>
          </a:prstGeom>
          <a:noFill/>
          <a:ln w="0">
            <a:noFill/>
            <a:prstDash val="solid"/>
          </a:ln>
        </p:spPr>
        <p:txBody>
          <a:bodyPr lIns="0" tIns="0" rIns="0" bIns="0" anchor="ctr">
            <a:noAutofit/>
          </a:bodyPr>
          <a:lstStyle/>
          <a:p>
            <a:pPr algn="l">
              <a:buNone/>
              <a:defRPr sz="3600" b="1" i="0">
                <a:solidFill>
                  <a:srgbClr val="4B5563"/>
                </a:solidFill>
              </a:defRPr>
            </a:pPr>
            <a:r>
              <a:rPr sz="3600" b="1" i="0">
                <a:solidFill>
                  <a:srgbClr val="4B5563"/>
                </a:solidFill>
              </a:rPr>
              <a:t>−15.0</a:t>
            </a:r>
          </a:p>
        </p:txBody>
      </p:sp>
      <p:sp>
        <p:nvSpPr>
          <p:cNvPr id="20" name="tri-ci-2">
            <a:extLst>
              <a:ext uri="{FF2B5EF4-FFF2-40B4-BE49-F238E27FC236}">
                <a16:creationId xmlns:a16="http://schemas.microsoft.com/office/drawing/2014/main" id="{D7981A99-4CBF-465F-AAFF-7DDBFB943B33}"/>
              </a:ext>
            </a:extLst>
          </p:cNvPr>
          <p:cNvSpPr>
            <a:spLocks noGrp="1"/>
          </p:cNvSpPr>
          <p:nvPr/>
        </p:nvSpPr>
        <p:spPr>
          <a:xfrm>
            <a:off x="9132702" y="3106701"/>
            <a:ext cx="1660894" cy="26670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95% CI −18.3 to −11.7</a:t>
            </a:r>
          </a:p>
        </p:txBody>
      </p:sp>
      <p:sp>
        <p:nvSpPr>
          <p:cNvPr id="21" name="tri-rule-2">
            <a:extLst>
              <a:ext uri="{FF2B5EF4-FFF2-40B4-BE49-F238E27FC236}">
                <a16:creationId xmlns:a16="http://schemas.microsoft.com/office/drawing/2014/main" id="{C2938C7E-FEA7-4BC1-B44B-36BE8E6E6356}"/>
              </a:ext>
            </a:extLst>
          </p:cNvPr>
          <p:cNvSpPr>
            <a:spLocks noGrp="1"/>
          </p:cNvSpPr>
          <p:nvPr/>
        </p:nvSpPr>
        <p:spPr>
          <a:xfrm>
            <a:off x="8572500" y="3552825"/>
            <a:ext cx="2781300" cy="9525"/>
          </a:xfrm>
          <a:prstGeom prst="rect">
            <a:avLst/>
          </a:prstGeom>
          <a:solidFill>
            <a:srgbClr val="E5E7EB"/>
          </a:solidFill>
          <a:ln w="0">
            <a:solidFill>
              <a:srgbClr val="E5E7EB"/>
            </a:solidFill>
            <a:prstDash val="solid"/>
          </a:ln>
        </p:spPr>
        <p:txBody>
          <a:bodyPr/>
          <a:lstStyle/>
          <a:p>
            <a:endParaRPr/>
          </a:p>
        </p:txBody>
      </p:sp>
      <p:sp>
        <p:nvSpPr>
          <p:cNvPr id="22" name="tri-head-2">
            <a:extLst>
              <a:ext uri="{FF2B5EF4-FFF2-40B4-BE49-F238E27FC236}">
                <a16:creationId xmlns:a16="http://schemas.microsoft.com/office/drawing/2014/main" id="{6D51DE56-26BF-4F2D-9BED-221ED3347BD0}"/>
              </a:ext>
            </a:extLst>
          </p:cNvPr>
          <p:cNvSpPr>
            <a:spLocks noGrp="1"/>
          </p:cNvSpPr>
          <p:nvPr/>
        </p:nvSpPr>
        <p:spPr>
          <a:xfrm>
            <a:off x="9197051" y="3784969"/>
            <a:ext cx="1532196" cy="428625"/>
          </a:xfrm>
          <a:prstGeom prst="rect">
            <a:avLst/>
          </a:prstGeom>
          <a:noFill/>
          <a:ln w="0">
            <a:noFill/>
            <a:prstDash val="solid"/>
          </a:ln>
        </p:spPr>
        <p:txBody>
          <a:bodyPr lIns="0" tIns="0" rIns="0" bIns="0" anchor="ctr">
            <a:noAutofit/>
          </a:bodyPr>
          <a:lstStyle/>
          <a:p>
            <a:pPr algn="l">
              <a:buNone/>
              <a:defRPr sz="1650" b="1" i="0">
                <a:solidFill>
                  <a:srgbClr val="111827"/>
                </a:solidFill>
              </a:defRPr>
            </a:pPr>
            <a:r>
              <a:rPr sz="1650" b="1" i="0">
                <a:solidFill>
                  <a:srgbClr val="111827"/>
                </a:solidFill>
              </a:rPr>
              <a:t>Treatment Effect</a:t>
            </a:r>
          </a:p>
        </p:txBody>
      </p:sp>
      <p:sp>
        <p:nvSpPr>
          <p:cNvPr id="23" name="tri-copy-2">
            <a:extLst>
              <a:ext uri="{FF2B5EF4-FFF2-40B4-BE49-F238E27FC236}">
                <a16:creationId xmlns:a16="http://schemas.microsoft.com/office/drawing/2014/main" id="{64E03618-5E61-46BA-BF24-0C57C03BBA44}"/>
              </a:ext>
            </a:extLst>
          </p:cNvPr>
          <p:cNvSpPr>
            <a:spLocks noGrp="1"/>
          </p:cNvSpPr>
          <p:nvPr/>
        </p:nvSpPr>
        <p:spPr>
          <a:xfrm>
            <a:off x="8946681" y="4305300"/>
            <a:ext cx="2032936" cy="647700"/>
          </a:xfrm>
          <a:prstGeom prst="rect">
            <a:avLst/>
          </a:prstGeom>
          <a:noFill/>
          <a:ln w="0">
            <a:noFill/>
            <a:prstDash val="solid"/>
          </a:ln>
        </p:spPr>
        <p:txBody>
          <a:bodyPr lIns="0" tIns="0" rIns="0" bIns="0" anchor="ctr">
            <a:noAutofit/>
          </a:bodyPr>
          <a:lstStyle/>
          <a:p>
            <a:pPr algn="ctr">
              <a:buNone/>
              <a:defRPr sz="1350" b="0" i="0">
                <a:solidFill>
                  <a:srgbClr val="111827"/>
                </a:solidFill>
              </a:defRPr>
            </a:pPr>
            <a:r>
              <a:rPr sz="1350" b="0" i="0">
                <a:solidFill>
                  <a:srgbClr val="111827"/>
                </a:solidFill>
              </a:rPr>
              <a:t>Exposure Determines Group, </a:t>
            </a:r>
          </a:p>
          <a:p>
            <a:pPr algn="ctr">
              <a:buNone/>
              <a:defRPr sz="1350" b="0" i="0">
                <a:solidFill>
                  <a:srgbClr val="111827"/>
                </a:solidFill>
              </a:defRPr>
            </a:pPr>
            <a:r>
              <a:rPr sz="1350" b="0" i="0">
                <a:solidFill>
                  <a:srgbClr val="111827"/>
                </a:solidFill>
              </a:rPr>
              <a:t>Not Assignment</a:t>
            </a:r>
          </a:p>
        </p:txBody>
      </p:sp>
      <p:sp>
        <p:nvSpPr>
          <p:cNvPr id="25" name="footer-rule-9">
            <a:extLst>
              <a:ext uri="{FF2B5EF4-FFF2-40B4-BE49-F238E27FC236}">
                <a16:creationId xmlns:a16="http://schemas.microsoft.com/office/drawing/2014/main" id="{841FF668-34BA-46D7-8A20-3D994DDA38D0}"/>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7" name="num-9">
            <a:extLst>
              <a:ext uri="{FF2B5EF4-FFF2-40B4-BE49-F238E27FC236}">
                <a16:creationId xmlns:a16="http://schemas.microsoft.com/office/drawing/2014/main" id="{A78A4429-0E90-4FF9-9816-7DCA2DE2E5AF}"/>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09</a:t>
            </a:r>
          </a:p>
        </p:txBody>
      </p:sp>
    </p:spTree>
    <p:extLst>
      <p:ext uri="{BB962C8B-B14F-4D97-AF65-F5344CB8AC3E}">
        <p14:creationId xmlns:p14="http://schemas.microsoft.com/office/powerpoint/2010/main" val="21679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itle-8-year">
            <a:extLst>
              <a:ext uri="{FF2B5EF4-FFF2-40B4-BE49-F238E27FC236}">
                <a16:creationId xmlns:a16="http://schemas.microsoft.com/office/drawing/2014/main" id="{17D17047-25A3-4415-88BD-B0702640D467}"/>
              </a:ext>
            </a:extLst>
          </p:cNvPr>
          <p:cNvSpPr>
            <a:spLocks noGrp="1"/>
          </p:cNvSpPr>
          <p:nvPr/>
        </p:nvSpPr>
        <p:spPr>
          <a:xfrm>
            <a:off x="609600" y="295275"/>
            <a:ext cx="10858500" cy="552450"/>
          </a:xfrm>
          <a:prstGeom prst="rect">
            <a:avLst/>
          </a:prstGeom>
          <a:noFill/>
          <a:ln w="0">
            <a:noFill/>
            <a:prstDash val="solid"/>
          </a:ln>
        </p:spPr>
        <p:txBody>
          <a:bodyPr lIns="0" tIns="0" rIns="0" bIns="0" anchor="ctr"/>
          <a:lstStyle/>
          <a:p>
            <a:pPr algn="l">
              <a:defRPr sz="2850" b="1">
                <a:solidFill>
                  <a:srgbClr val="111827"/>
                </a:solidFill>
              </a:defRPr>
            </a:pPr>
            <a:r>
              <a:rPr sz="2850" b="1" dirty="0">
                <a:solidFill>
                  <a:srgbClr val="111827"/>
                </a:solidFill>
              </a:rPr>
              <a:t>Eight-Year As-Treated Outcomes</a:t>
            </a:r>
          </a:p>
        </p:txBody>
      </p:sp>
      <p:sp>
        <p:nvSpPr>
          <p:cNvPr id="2" name="title-rule-8-year">
            <a:extLst>
              <a:ext uri="{FF2B5EF4-FFF2-40B4-BE49-F238E27FC236}">
                <a16:creationId xmlns:a16="http://schemas.microsoft.com/office/drawing/2014/main" id="{05AD50F6-C237-482E-9397-D201543A0D36}"/>
              </a:ext>
            </a:extLst>
          </p:cNvPr>
          <p:cNvSpPr>
            <a:spLocks noGrp="1"/>
          </p:cNvSpPr>
          <p:nvPr/>
        </p:nvSpPr>
        <p:spPr>
          <a:xfrm>
            <a:off x="609600" y="904875"/>
            <a:ext cx="876300" cy="0"/>
          </a:xfrm>
          <a:prstGeom prst="line">
            <a:avLst/>
          </a:prstGeom>
          <a:noFill/>
          <a:ln w="38100">
            <a:solidFill>
              <a:srgbClr val="1F4E79"/>
            </a:solidFill>
            <a:prstDash val="solid"/>
          </a:ln>
        </p:spPr>
        <p:txBody>
          <a:bodyPr/>
          <a:lstStyle/>
          <a:p>
            <a:endParaRPr lang="en-US"/>
          </a:p>
        </p:txBody>
      </p:sp>
      <p:sp>
        <p:nvSpPr>
          <p:cNvPr id="3" name="kicker-8-year">
            <a:extLst>
              <a:ext uri="{FF2B5EF4-FFF2-40B4-BE49-F238E27FC236}">
                <a16:creationId xmlns:a16="http://schemas.microsoft.com/office/drawing/2014/main" id="{D192C103-2E3F-4FCE-827D-B0513AB4F484}"/>
              </a:ext>
            </a:extLst>
          </p:cNvPr>
          <p:cNvSpPr>
            <a:spLocks noGrp="1"/>
          </p:cNvSpPr>
          <p:nvPr/>
        </p:nvSpPr>
        <p:spPr>
          <a:xfrm>
            <a:off x="609600" y="1200150"/>
            <a:ext cx="4762500" cy="247650"/>
          </a:xfrm>
          <a:prstGeom prst="rect">
            <a:avLst/>
          </a:prstGeom>
          <a:noFill/>
          <a:ln w="0">
            <a:noFill/>
            <a:prstDash val="solid"/>
          </a:ln>
        </p:spPr>
        <p:txBody>
          <a:bodyPr lIns="0" tIns="0" rIns="0" bIns="0" anchor="ctr"/>
          <a:lstStyle/>
          <a:p>
            <a:pPr algn="l">
              <a:defRPr sz="975" b="1">
                <a:solidFill>
                  <a:srgbClr val="1F4E79"/>
                </a:solidFill>
              </a:defRPr>
            </a:pPr>
            <a:r>
              <a:rPr sz="975" b="1">
                <a:solidFill>
                  <a:srgbClr val="1F4E79"/>
                </a:solidFill>
              </a:rPr>
              <a:t>CHANGE FROM BASELINE  ·  ADJUSTED AS-TREATED (COMBINED COHORTS)</a:t>
            </a:r>
          </a:p>
        </p:txBody>
      </p:sp>
      <p:sp>
        <p:nvSpPr>
          <p:cNvPr id="10" name="panel-title-0">
            <a:extLst>
              <a:ext uri="{FF2B5EF4-FFF2-40B4-BE49-F238E27FC236}">
                <a16:creationId xmlns:a16="http://schemas.microsoft.com/office/drawing/2014/main" id="{34166C85-7390-41C1-B2A1-6713D30AA741}"/>
              </a:ext>
            </a:extLst>
          </p:cNvPr>
          <p:cNvSpPr>
            <a:spLocks noGrp="1"/>
          </p:cNvSpPr>
          <p:nvPr/>
        </p:nvSpPr>
        <p:spPr>
          <a:xfrm>
            <a:off x="609600" y="1562100"/>
            <a:ext cx="3238500" cy="323850"/>
          </a:xfrm>
          <a:prstGeom prst="rect">
            <a:avLst/>
          </a:prstGeom>
          <a:noFill/>
          <a:ln w="0">
            <a:noFill/>
            <a:prstDash val="solid"/>
          </a:ln>
        </p:spPr>
        <p:txBody>
          <a:bodyPr lIns="0" tIns="0" rIns="0" bIns="0" anchor="ctr"/>
          <a:lstStyle/>
          <a:p>
            <a:pPr algn="l">
              <a:defRPr sz="1500" b="1">
                <a:solidFill>
                  <a:srgbClr val="111827"/>
                </a:solidFill>
              </a:defRPr>
            </a:pPr>
            <a:r>
              <a:rPr sz="1500" b="1">
                <a:solidFill>
                  <a:srgbClr val="111827"/>
                </a:solidFill>
              </a:rPr>
              <a:t>SF-36 Bodily Pain</a:t>
            </a:r>
          </a:p>
        </p:txBody>
      </p:sp>
      <p:graphicFrame>
        <p:nvGraphicFramePr>
          <p:cNvPr id="37" name="Chart"/>
          <p:cNvGraphicFramePr/>
          <p:nvPr/>
        </p:nvGraphicFramePr>
        <p:xfrm>
          <a:off x="533400" y="1924050"/>
          <a:ext cx="3381375"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effect-0">
            <a:extLst>
              <a:ext uri="{FF2B5EF4-FFF2-40B4-BE49-F238E27FC236}">
                <a16:creationId xmlns:a16="http://schemas.microsoft.com/office/drawing/2014/main" id="{1A266FD9-43E6-4E2F-AB74-77D8EC311D8C}"/>
              </a:ext>
            </a:extLst>
          </p:cNvPr>
          <p:cNvSpPr>
            <a:spLocks noGrp="1"/>
          </p:cNvSpPr>
          <p:nvPr/>
        </p:nvSpPr>
        <p:spPr>
          <a:xfrm>
            <a:off x="609600" y="4762500"/>
            <a:ext cx="3333750" cy="238125"/>
          </a:xfrm>
          <a:prstGeom prst="rect">
            <a:avLst/>
          </a:prstGeom>
          <a:noFill/>
          <a:ln w="0">
            <a:noFill/>
            <a:prstDash val="solid"/>
          </a:ln>
        </p:spPr>
        <p:txBody>
          <a:bodyPr lIns="0" tIns="0" rIns="0" bIns="0" anchor="ctr"/>
          <a:lstStyle/>
          <a:p>
            <a:pPr algn="l">
              <a:defRPr sz="1125" b="1">
                <a:solidFill>
                  <a:srgbClr val="1F4E79"/>
                </a:solidFill>
              </a:defRPr>
            </a:pPr>
            <a:r>
              <a:rPr sz="1125" b="1">
                <a:solidFill>
                  <a:srgbClr val="1F4E79"/>
                </a:solidFill>
              </a:rPr>
              <a:t>EFFECT  +10.0  /  +14.0  /  +10.9</a:t>
            </a:r>
          </a:p>
        </p:txBody>
      </p:sp>
      <p:sp>
        <p:nvSpPr>
          <p:cNvPr id="13" name="ci-0">
            <a:extLst>
              <a:ext uri="{FF2B5EF4-FFF2-40B4-BE49-F238E27FC236}">
                <a16:creationId xmlns:a16="http://schemas.microsoft.com/office/drawing/2014/main" id="{341AF14C-F4D2-4E03-BD5B-B9EDF13EFF39}"/>
              </a:ext>
            </a:extLst>
          </p:cNvPr>
          <p:cNvSpPr>
            <a:spLocks noGrp="1"/>
          </p:cNvSpPr>
          <p:nvPr/>
        </p:nvSpPr>
        <p:spPr>
          <a:xfrm>
            <a:off x="609600" y="5048250"/>
            <a:ext cx="3333750" cy="209550"/>
          </a:xfrm>
          <a:prstGeom prst="rect">
            <a:avLst/>
          </a:prstGeom>
          <a:noFill/>
          <a:ln w="0">
            <a:noFill/>
            <a:prstDash val="solid"/>
          </a:ln>
        </p:spPr>
        <p:txBody>
          <a:bodyPr lIns="0" tIns="0" rIns="0" bIns="0" anchor="ctr"/>
          <a:lstStyle/>
          <a:p>
            <a:pPr algn="l">
              <a:defRPr sz="900">
                <a:solidFill>
                  <a:srgbClr val="475569"/>
                </a:solidFill>
              </a:defRPr>
            </a:pPr>
            <a:r>
              <a:rPr sz="900">
                <a:solidFill>
                  <a:srgbClr val="475569"/>
                </a:solidFill>
              </a:rPr>
              <a:t>8-year 95% CI  7.7 to 14.0</a:t>
            </a:r>
          </a:p>
        </p:txBody>
      </p:sp>
      <p:sp>
        <p:nvSpPr>
          <p:cNvPr id="14" name="panel-title-1">
            <a:extLst>
              <a:ext uri="{FF2B5EF4-FFF2-40B4-BE49-F238E27FC236}">
                <a16:creationId xmlns:a16="http://schemas.microsoft.com/office/drawing/2014/main" id="{5D43DEA0-E969-4887-AF5D-A01F7F5CC3AF}"/>
              </a:ext>
            </a:extLst>
          </p:cNvPr>
          <p:cNvSpPr>
            <a:spLocks noGrp="1"/>
          </p:cNvSpPr>
          <p:nvPr/>
        </p:nvSpPr>
        <p:spPr>
          <a:xfrm>
            <a:off x="4295775" y="1562100"/>
            <a:ext cx="3238500" cy="323850"/>
          </a:xfrm>
          <a:prstGeom prst="rect">
            <a:avLst/>
          </a:prstGeom>
          <a:noFill/>
          <a:ln w="0">
            <a:noFill/>
            <a:prstDash val="solid"/>
          </a:ln>
        </p:spPr>
        <p:txBody>
          <a:bodyPr lIns="0" tIns="0" rIns="0" bIns="0" anchor="ctr"/>
          <a:lstStyle/>
          <a:p>
            <a:pPr algn="l">
              <a:defRPr sz="1500" b="1">
                <a:solidFill>
                  <a:srgbClr val="111827"/>
                </a:solidFill>
              </a:defRPr>
            </a:pPr>
            <a:r>
              <a:rPr sz="1500" b="1">
                <a:solidFill>
                  <a:srgbClr val="111827"/>
                </a:solidFill>
              </a:rPr>
              <a:t>SF-36 Physical Function</a:t>
            </a:r>
          </a:p>
        </p:txBody>
      </p:sp>
      <p:graphicFrame>
        <p:nvGraphicFramePr>
          <p:cNvPr id="41" name="Chart"/>
          <p:cNvGraphicFramePr/>
          <p:nvPr/>
        </p:nvGraphicFramePr>
        <p:xfrm>
          <a:off x="4219575" y="1924050"/>
          <a:ext cx="3381375" cy="2667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effect-1">
            <a:extLst>
              <a:ext uri="{FF2B5EF4-FFF2-40B4-BE49-F238E27FC236}">
                <a16:creationId xmlns:a16="http://schemas.microsoft.com/office/drawing/2014/main" id="{A0AA55E3-973A-4B6A-90A4-8155A38251D3}"/>
              </a:ext>
            </a:extLst>
          </p:cNvPr>
          <p:cNvSpPr>
            <a:spLocks noGrp="1"/>
          </p:cNvSpPr>
          <p:nvPr/>
        </p:nvSpPr>
        <p:spPr>
          <a:xfrm>
            <a:off x="4295775" y="4762500"/>
            <a:ext cx="3333750" cy="238125"/>
          </a:xfrm>
          <a:prstGeom prst="rect">
            <a:avLst/>
          </a:prstGeom>
          <a:noFill/>
          <a:ln w="0">
            <a:noFill/>
            <a:prstDash val="solid"/>
          </a:ln>
        </p:spPr>
        <p:txBody>
          <a:bodyPr lIns="0" tIns="0" rIns="0" bIns="0" anchor="ctr"/>
          <a:lstStyle/>
          <a:p>
            <a:pPr algn="l">
              <a:defRPr sz="1125" b="1">
                <a:solidFill>
                  <a:srgbClr val="1F4E79"/>
                </a:solidFill>
              </a:defRPr>
            </a:pPr>
            <a:r>
              <a:rPr sz="1125" b="1">
                <a:solidFill>
                  <a:srgbClr val="1F4E79"/>
                </a:solidFill>
              </a:rPr>
              <a:t>EFFECT  +10.0  /  +12.0  /  +10.6</a:t>
            </a:r>
          </a:p>
        </p:txBody>
      </p:sp>
      <p:sp>
        <p:nvSpPr>
          <p:cNvPr id="17" name="ci-1">
            <a:extLst>
              <a:ext uri="{FF2B5EF4-FFF2-40B4-BE49-F238E27FC236}">
                <a16:creationId xmlns:a16="http://schemas.microsoft.com/office/drawing/2014/main" id="{71591502-F794-49C5-BACF-E6E107FF2C04}"/>
              </a:ext>
            </a:extLst>
          </p:cNvPr>
          <p:cNvSpPr>
            <a:spLocks noGrp="1"/>
          </p:cNvSpPr>
          <p:nvPr/>
        </p:nvSpPr>
        <p:spPr>
          <a:xfrm>
            <a:off x="4295775" y="5048250"/>
            <a:ext cx="3333750" cy="209550"/>
          </a:xfrm>
          <a:prstGeom prst="rect">
            <a:avLst/>
          </a:prstGeom>
          <a:noFill/>
          <a:ln w="0">
            <a:noFill/>
            <a:prstDash val="solid"/>
          </a:ln>
        </p:spPr>
        <p:txBody>
          <a:bodyPr lIns="0" tIns="0" rIns="0" bIns="0" anchor="ctr"/>
          <a:lstStyle/>
          <a:p>
            <a:pPr algn="l">
              <a:defRPr sz="900">
                <a:solidFill>
                  <a:srgbClr val="475569"/>
                </a:solidFill>
              </a:defRPr>
            </a:pPr>
            <a:r>
              <a:rPr sz="900">
                <a:solidFill>
                  <a:srgbClr val="475569"/>
                </a:solidFill>
              </a:rPr>
              <a:t>8-year 95% CI  7.7 to 13.5</a:t>
            </a:r>
          </a:p>
        </p:txBody>
      </p:sp>
      <p:sp>
        <p:nvSpPr>
          <p:cNvPr id="18" name="panel-title-2">
            <a:extLst>
              <a:ext uri="{FF2B5EF4-FFF2-40B4-BE49-F238E27FC236}">
                <a16:creationId xmlns:a16="http://schemas.microsoft.com/office/drawing/2014/main" id="{5884B862-4332-40AC-88A5-9D9107BAD27C}"/>
              </a:ext>
            </a:extLst>
          </p:cNvPr>
          <p:cNvSpPr>
            <a:spLocks noGrp="1"/>
          </p:cNvSpPr>
          <p:nvPr/>
        </p:nvSpPr>
        <p:spPr>
          <a:xfrm>
            <a:off x="7981950" y="1562100"/>
            <a:ext cx="3238500" cy="323850"/>
          </a:xfrm>
          <a:prstGeom prst="rect">
            <a:avLst/>
          </a:prstGeom>
          <a:noFill/>
          <a:ln w="0">
            <a:noFill/>
            <a:prstDash val="solid"/>
          </a:ln>
        </p:spPr>
        <p:txBody>
          <a:bodyPr lIns="0" tIns="0" rIns="0" bIns="0" anchor="ctr"/>
          <a:lstStyle/>
          <a:p>
            <a:pPr algn="l">
              <a:defRPr sz="1500" b="1">
                <a:solidFill>
                  <a:srgbClr val="111827"/>
                </a:solidFill>
              </a:defRPr>
            </a:pPr>
            <a:r>
              <a:rPr sz="1500" b="1">
                <a:solidFill>
                  <a:srgbClr val="111827"/>
                </a:solidFill>
              </a:rPr>
              <a:t>Oswestry Disability Index (ODI)</a:t>
            </a:r>
          </a:p>
        </p:txBody>
      </p:sp>
      <p:graphicFrame>
        <p:nvGraphicFramePr>
          <p:cNvPr id="45" name="Chart"/>
          <p:cNvGraphicFramePr/>
          <p:nvPr/>
        </p:nvGraphicFramePr>
        <p:xfrm>
          <a:off x="7905750" y="1924050"/>
          <a:ext cx="3381375" cy="2667000"/>
        </p:xfrm>
        <a:graphic>
          <a:graphicData uri="http://schemas.openxmlformats.org/drawingml/2006/chart">
            <c:chart xmlns:c="http://schemas.openxmlformats.org/drawingml/2006/chart" xmlns:r="http://schemas.openxmlformats.org/officeDocument/2006/relationships" r:id="rId5"/>
          </a:graphicData>
        </a:graphic>
      </p:graphicFrame>
      <p:sp>
        <p:nvSpPr>
          <p:cNvPr id="20" name="effect-2">
            <a:extLst>
              <a:ext uri="{FF2B5EF4-FFF2-40B4-BE49-F238E27FC236}">
                <a16:creationId xmlns:a16="http://schemas.microsoft.com/office/drawing/2014/main" id="{323916A5-E3BD-4402-9BCB-EC437B32ABDD}"/>
              </a:ext>
            </a:extLst>
          </p:cNvPr>
          <p:cNvSpPr>
            <a:spLocks noGrp="1"/>
          </p:cNvSpPr>
          <p:nvPr/>
        </p:nvSpPr>
        <p:spPr>
          <a:xfrm>
            <a:off x="7981950" y="4762500"/>
            <a:ext cx="3333750" cy="238125"/>
          </a:xfrm>
          <a:prstGeom prst="rect">
            <a:avLst/>
          </a:prstGeom>
          <a:noFill/>
          <a:ln w="0">
            <a:noFill/>
            <a:prstDash val="solid"/>
          </a:ln>
        </p:spPr>
        <p:txBody>
          <a:bodyPr lIns="0" tIns="0" rIns="0" bIns="0" anchor="ctr"/>
          <a:lstStyle/>
          <a:p>
            <a:pPr algn="l">
              <a:defRPr sz="1125" b="1">
                <a:solidFill>
                  <a:srgbClr val="1F4E79"/>
                </a:solidFill>
              </a:defRPr>
            </a:pPr>
            <a:r>
              <a:rPr sz="1125" b="1">
                <a:solidFill>
                  <a:srgbClr val="1F4E79"/>
                </a:solidFill>
              </a:rPr>
              <a:t>EFFECT  −10.2  /  −11.4  /  −11.3</a:t>
            </a:r>
          </a:p>
        </p:txBody>
      </p:sp>
      <p:sp>
        <p:nvSpPr>
          <p:cNvPr id="21" name="ci-2">
            <a:extLst>
              <a:ext uri="{FF2B5EF4-FFF2-40B4-BE49-F238E27FC236}">
                <a16:creationId xmlns:a16="http://schemas.microsoft.com/office/drawing/2014/main" id="{DC77E4BC-6C2D-422E-A97C-BEFFA9022807}"/>
              </a:ext>
            </a:extLst>
          </p:cNvPr>
          <p:cNvSpPr>
            <a:spLocks noGrp="1"/>
          </p:cNvSpPr>
          <p:nvPr/>
        </p:nvSpPr>
        <p:spPr>
          <a:xfrm>
            <a:off x="7981950" y="5048250"/>
            <a:ext cx="3333750" cy="209550"/>
          </a:xfrm>
          <a:prstGeom prst="rect">
            <a:avLst/>
          </a:prstGeom>
          <a:noFill/>
          <a:ln w="0">
            <a:noFill/>
            <a:prstDash val="solid"/>
          </a:ln>
        </p:spPr>
        <p:txBody>
          <a:bodyPr lIns="0" tIns="0" rIns="0" bIns="0" anchor="ctr"/>
          <a:lstStyle/>
          <a:p>
            <a:pPr algn="l">
              <a:defRPr sz="900">
                <a:solidFill>
                  <a:srgbClr val="475569"/>
                </a:solidFill>
              </a:defRPr>
            </a:pPr>
            <a:r>
              <a:rPr sz="900">
                <a:solidFill>
                  <a:srgbClr val="475569"/>
                </a:solidFill>
              </a:rPr>
              <a:t>8-year 95% CI  −13.6 to −9.1</a:t>
            </a:r>
          </a:p>
        </p:txBody>
      </p:sp>
      <p:sp>
        <p:nvSpPr>
          <p:cNvPr id="24" name="footer-rule-8-year">
            <a:extLst>
              <a:ext uri="{FF2B5EF4-FFF2-40B4-BE49-F238E27FC236}">
                <a16:creationId xmlns:a16="http://schemas.microsoft.com/office/drawing/2014/main" id="{47416CAA-78F8-4D68-AE11-147FAAFC3B46}"/>
              </a:ext>
            </a:extLst>
          </p:cNvPr>
          <p:cNvSpPr>
            <a:spLocks noGrp="1"/>
          </p:cNvSpPr>
          <p:nvPr/>
        </p:nvSpPr>
        <p:spPr>
          <a:xfrm>
            <a:off x="609600" y="6115050"/>
            <a:ext cx="10972800" cy="0"/>
          </a:xfrm>
          <a:prstGeom prst="line">
            <a:avLst/>
          </a:prstGeom>
          <a:noFill/>
          <a:ln w="9525">
            <a:solidFill>
              <a:srgbClr val="DCE3E8"/>
            </a:solidFill>
            <a:prstDash val="solid"/>
          </a:ln>
        </p:spPr>
        <p:txBody>
          <a:bodyPr/>
          <a:lstStyle/>
          <a:p>
            <a:endParaRPr lang="en-US"/>
          </a:p>
        </p:txBody>
      </p:sp>
      <p:sp>
        <p:nvSpPr>
          <p:cNvPr id="26" name="num-8-year">
            <a:extLst>
              <a:ext uri="{FF2B5EF4-FFF2-40B4-BE49-F238E27FC236}">
                <a16:creationId xmlns:a16="http://schemas.microsoft.com/office/drawing/2014/main" id="{367D481B-D3AE-4557-83AB-CE5F2CE9925A}"/>
              </a:ext>
            </a:extLst>
          </p:cNvPr>
          <p:cNvSpPr>
            <a:spLocks noGrp="1"/>
          </p:cNvSpPr>
          <p:nvPr/>
        </p:nvSpPr>
        <p:spPr>
          <a:xfrm>
            <a:off x="11049000" y="6267450"/>
            <a:ext cx="523875" cy="171450"/>
          </a:xfrm>
          <a:prstGeom prst="rect">
            <a:avLst/>
          </a:prstGeom>
          <a:noFill/>
          <a:ln w="0">
            <a:noFill/>
            <a:prstDash val="solid"/>
          </a:ln>
        </p:spPr>
        <p:txBody>
          <a:bodyPr lIns="0" tIns="0" rIns="0" bIns="0" anchor="ctr"/>
          <a:lstStyle/>
          <a:p>
            <a:pPr algn="r">
              <a:defRPr sz="750">
                <a:solidFill>
                  <a:srgbClr val="475569"/>
                </a:solidFill>
              </a:defRPr>
            </a:pPr>
            <a:r>
              <a:rPr sz="750">
                <a:solidFill>
                  <a:srgbClr val="475569"/>
                </a:solidFill>
              </a:rPr>
              <a:t>10</a:t>
            </a:r>
          </a:p>
        </p:txBody>
      </p:sp>
      <p:pic>
        <p:nvPicPr>
          <p:cNvPr id="11" name="Picture 35">
            <a:extLst>
              <a:ext uri="{FF2B5EF4-FFF2-40B4-BE49-F238E27FC236}">
                <a16:creationId xmlns:a16="http://schemas.microsoft.com/office/drawing/2014/main" id="{BE0D6588-83FA-6D2C-E08C-1517621A535E}"/>
              </a:ext>
            </a:extLst>
          </p:cNvPr>
          <p:cNvPicPr>
            <a:picLocks noChangeAspect="1"/>
          </p:cNvPicPr>
          <p:nvPr/>
        </p:nvPicPr>
        <p:blipFill>
          <a:blip r:embed="rId6"/>
          <a:stretch>
            <a:fillRect/>
          </a:stretch>
        </p:blipFill>
        <p:spPr>
          <a:xfrm>
            <a:off x="5372100" y="1126233"/>
            <a:ext cx="3081965" cy="361334"/>
          </a:xfrm>
          <a:prstGeom prst="rect">
            <a:avLst/>
          </a:prstGeom>
        </p:spPr>
      </p:pic>
    </p:spTree>
    <p:extLst>
      <p:ext uri="{BB962C8B-B14F-4D97-AF65-F5344CB8AC3E}">
        <p14:creationId xmlns:p14="http://schemas.microsoft.com/office/powerpoint/2010/main" val="175879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itle-10">
            <a:extLst>
              <a:ext uri="{FF2B5EF4-FFF2-40B4-BE49-F238E27FC236}">
                <a16:creationId xmlns:a16="http://schemas.microsoft.com/office/drawing/2014/main" id="{61FBDF6A-3404-4449-89AB-728F86535313}"/>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Informative Crossover and Follow-up</a:t>
            </a:r>
          </a:p>
        </p:txBody>
      </p:sp>
      <p:sp>
        <p:nvSpPr>
          <p:cNvPr id="2" name="title-rule-10">
            <a:extLst>
              <a:ext uri="{FF2B5EF4-FFF2-40B4-BE49-F238E27FC236}">
                <a16:creationId xmlns:a16="http://schemas.microsoft.com/office/drawing/2014/main" id="{FA6AB8CA-E7CE-40FE-85C0-430C3B6330AF}"/>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4" name="cross-column-separator">
            <a:extLst>
              <a:ext uri="{FF2B5EF4-FFF2-40B4-BE49-F238E27FC236}">
                <a16:creationId xmlns:a16="http://schemas.microsoft.com/office/drawing/2014/main" id="{01B6B7FD-06F7-4079-BB21-BD83D56DBC1A}"/>
              </a:ext>
            </a:extLst>
          </p:cNvPr>
          <p:cNvSpPr>
            <a:spLocks noGrp="1"/>
          </p:cNvSpPr>
          <p:nvPr/>
        </p:nvSpPr>
        <p:spPr>
          <a:xfrm>
            <a:off x="5876925" y="1619250"/>
            <a:ext cx="9525" cy="3143250"/>
          </a:xfrm>
          <a:prstGeom prst="rect">
            <a:avLst/>
          </a:prstGeom>
          <a:solidFill>
            <a:srgbClr val="E5E7EB"/>
          </a:solidFill>
          <a:ln w="0">
            <a:solidFill>
              <a:srgbClr val="E5E7EB"/>
            </a:solidFill>
            <a:prstDash val="solid"/>
          </a:ln>
        </p:spPr>
        <p:txBody>
          <a:bodyPr/>
          <a:lstStyle/>
          <a:p>
            <a:endParaRPr/>
          </a:p>
        </p:txBody>
      </p:sp>
      <p:sp>
        <p:nvSpPr>
          <p:cNvPr id="5" name="cross-surgery-label">
            <a:extLst>
              <a:ext uri="{FF2B5EF4-FFF2-40B4-BE49-F238E27FC236}">
                <a16:creationId xmlns:a16="http://schemas.microsoft.com/office/drawing/2014/main" id="{8695BD3D-4BFF-474A-A925-0C5D183741F6}"/>
              </a:ext>
            </a:extLst>
          </p:cNvPr>
          <p:cNvSpPr>
            <a:spLocks noGrp="1"/>
          </p:cNvSpPr>
          <p:nvPr/>
        </p:nvSpPr>
        <p:spPr>
          <a:xfrm>
            <a:off x="876300" y="1828800"/>
            <a:ext cx="4286250" cy="24765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400" b="1" i="0">
                <a:solidFill>
                  <a:srgbClr val="1F4E79"/>
                </a:solidFill>
              </a:rPr>
              <a:t>ASSIGNED NONOPERATIVE  →  RECEIVED SURGERY</a:t>
            </a:r>
          </a:p>
        </p:txBody>
      </p:sp>
      <p:sp>
        <p:nvSpPr>
          <p:cNvPr id="6" name="cross-surgery-odi-label">
            <a:extLst>
              <a:ext uri="{FF2B5EF4-FFF2-40B4-BE49-F238E27FC236}">
                <a16:creationId xmlns:a16="http://schemas.microsoft.com/office/drawing/2014/main" id="{430915E0-1353-4577-B7C1-5416B4DE8D57}"/>
              </a:ext>
            </a:extLst>
          </p:cNvPr>
          <p:cNvSpPr>
            <a:spLocks noGrp="1"/>
          </p:cNvSpPr>
          <p:nvPr/>
        </p:nvSpPr>
        <p:spPr>
          <a:xfrm>
            <a:off x="876300" y="2343150"/>
            <a:ext cx="1619250" cy="209550"/>
          </a:xfrm>
          <a:prstGeom prst="rect">
            <a:avLst/>
          </a:prstGeom>
          <a:noFill/>
          <a:ln w="0">
            <a:noFill/>
            <a:prstDash val="solid"/>
          </a:ln>
        </p:spPr>
        <p:txBody>
          <a:bodyPr lIns="0" tIns="0" rIns="0" bIns="0" anchor="ctr">
            <a:noAutofit/>
          </a:bodyPr>
          <a:lstStyle/>
          <a:p>
            <a:pPr algn="l">
              <a:buNone/>
              <a:defRPr sz="825" b="1" i="0">
                <a:solidFill>
                  <a:srgbClr val="4B5563"/>
                </a:solidFill>
              </a:defRPr>
            </a:pPr>
            <a:r>
              <a:rPr sz="1200" b="1" i="0">
                <a:solidFill>
                  <a:srgbClr val="4B5563"/>
                </a:solidFill>
              </a:rPr>
              <a:t>BASELINE ODI</a:t>
            </a:r>
          </a:p>
        </p:txBody>
      </p:sp>
      <p:sp>
        <p:nvSpPr>
          <p:cNvPr id="7" name="cross-surgery-odi">
            <a:extLst>
              <a:ext uri="{FF2B5EF4-FFF2-40B4-BE49-F238E27FC236}">
                <a16:creationId xmlns:a16="http://schemas.microsoft.com/office/drawing/2014/main" id="{887C429E-05BE-407E-9395-1A4FF3217B42}"/>
              </a:ext>
            </a:extLst>
          </p:cNvPr>
          <p:cNvSpPr>
            <a:spLocks noGrp="1"/>
          </p:cNvSpPr>
          <p:nvPr/>
        </p:nvSpPr>
        <p:spPr>
          <a:xfrm>
            <a:off x="876300" y="2600325"/>
            <a:ext cx="3905250" cy="514350"/>
          </a:xfrm>
          <a:prstGeom prst="rect">
            <a:avLst/>
          </a:prstGeom>
          <a:noFill/>
          <a:ln w="0">
            <a:noFill/>
            <a:prstDash val="solid"/>
          </a:ln>
        </p:spPr>
        <p:txBody>
          <a:bodyPr lIns="0" tIns="0" rIns="0" bIns="0" anchor="ctr">
            <a:noAutofit/>
          </a:bodyPr>
          <a:lstStyle/>
          <a:p>
            <a:pPr algn="l">
              <a:buNone/>
              <a:defRPr sz="2700" b="1" i="0">
                <a:solidFill>
                  <a:srgbClr val="1F4E79"/>
                </a:solidFill>
              </a:defRPr>
            </a:pPr>
            <a:r>
              <a:rPr sz="2700" b="1" i="0">
                <a:solidFill>
                  <a:srgbClr val="1F4E79"/>
                </a:solidFill>
              </a:rPr>
              <a:t>52.1  vs  41.6</a:t>
            </a:r>
          </a:p>
        </p:txBody>
      </p:sp>
      <p:sp>
        <p:nvSpPr>
          <p:cNvPr id="8" name="cross-surgery-worse-label">
            <a:extLst>
              <a:ext uri="{FF2B5EF4-FFF2-40B4-BE49-F238E27FC236}">
                <a16:creationId xmlns:a16="http://schemas.microsoft.com/office/drawing/2014/main" id="{7B538FA3-6714-4FBA-B493-E036247DEAC0}"/>
              </a:ext>
            </a:extLst>
          </p:cNvPr>
          <p:cNvSpPr>
            <a:spLocks noGrp="1"/>
          </p:cNvSpPr>
          <p:nvPr/>
        </p:nvSpPr>
        <p:spPr>
          <a:xfrm>
            <a:off x="876300" y="3692545"/>
            <a:ext cx="2095500" cy="209550"/>
          </a:xfrm>
          <a:prstGeom prst="rect">
            <a:avLst/>
          </a:prstGeom>
          <a:noFill/>
          <a:ln w="0">
            <a:noFill/>
            <a:prstDash val="solid"/>
          </a:ln>
        </p:spPr>
        <p:txBody>
          <a:bodyPr lIns="0" tIns="0" rIns="0" bIns="0" anchor="ctr">
            <a:noAutofit/>
          </a:bodyPr>
          <a:lstStyle/>
          <a:p>
            <a:pPr algn="l">
              <a:buNone/>
              <a:defRPr sz="825" b="1" i="0">
                <a:solidFill>
                  <a:srgbClr val="4B5563"/>
                </a:solidFill>
              </a:defRPr>
            </a:pPr>
            <a:r>
              <a:rPr sz="1200" b="1" i="0">
                <a:solidFill>
                  <a:srgbClr val="4B5563"/>
                </a:solidFill>
              </a:rPr>
              <a:t>PERCEIVED WORSENING</a:t>
            </a:r>
          </a:p>
        </p:txBody>
      </p:sp>
      <p:sp>
        <p:nvSpPr>
          <p:cNvPr id="9" name="cross-surgery-worse">
            <a:extLst>
              <a:ext uri="{FF2B5EF4-FFF2-40B4-BE49-F238E27FC236}">
                <a16:creationId xmlns:a16="http://schemas.microsoft.com/office/drawing/2014/main" id="{B0C08A6F-0E7C-4864-BB51-C8D5AC86EBCC}"/>
              </a:ext>
            </a:extLst>
          </p:cNvPr>
          <p:cNvSpPr>
            <a:spLocks noGrp="1"/>
          </p:cNvSpPr>
          <p:nvPr/>
        </p:nvSpPr>
        <p:spPr>
          <a:xfrm>
            <a:off x="876300" y="3878282"/>
            <a:ext cx="3905250" cy="514350"/>
          </a:xfrm>
          <a:prstGeom prst="rect">
            <a:avLst/>
          </a:prstGeom>
          <a:noFill/>
          <a:ln w="0">
            <a:noFill/>
            <a:prstDash val="solid"/>
          </a:ln>
        </p:spPr>
        <p:txBody>
          <a:bodyPr lIns="0" tIns="0" rIns="0" bIns="0" anchor="ctr">
            <a:noAutofit/>
          </a:bodyPr>
          <a:lstStyle/>
          <a:p>
            <a:pPr algn="l">
              <a:buNone/>
              <a:defRPr sz="2550" b="1" i="0">
                <a:solidFill>
                  <a:srgbClr val="1F4E79"/>
                </a:solidFill>
              </a:defRPr>
            </a:pPr>
            <a:r>
              <a:rPr sz="2550" b="1" i="0">
                <a:solidFill>
                  <a:srgbClr val="1F4E79"/>
                </a:solidFill>
              </a:rPr>
              <a:t>41%  vs  26%</a:t>
            </a:r>
          </a:p>
        </p:txBody>
      </p:sp>
      <p:sp>
        <p:nvSpPr>
          <p:cNvPr id="11" name="cross-defer-label">
            <a:extLst>
              <a:ext uri="{FF2B5EF4-FFF2-40B4-BE49-F238E27FC236}">
                <a16:creationId xmlns:a16="http://schemas.microsoft.com/office/drawing/2014/main" id="{3CF6D12A-05F4-4C06-ADC2-70F331AC0C69}"/>
              </a:ext>
            </a:extLst>
          </p:cNvPr>
          <p:cNvSpPr>
            <a:spLocks noGrp="1"/>
          </p:cNvSpPr>
          <p:nvPr/>
        </p:nvSpPr>
        <p:spPr>
          <a:xfrm>
            <a:off x="6457950" y="1828800"/>
            <a:ext cx="4381500" cy="247650"/>
          </a:xfrm>
          <a:prstGeom prst="rect">
            <a:avLst/>
          </a:prstGeom>
          <a:noFill/>
          <a:ln w="0">
            <a:noFill/>
            <a:prstDash val="solid"/>
          </a:ln>
        </p:spPr>
        <p:txBody>
          <a:bodyPr lIns="0" tIns="0" rIns="0" bIns="0" anchor="ctr">
            <a:noAutofit/>
          </a:bodyPr>
          <a:lstStyle/>
          <a:p>
            <a:pPr algn="l">
              <a:buNone/>
              <a:defRPr sz="900" b="1" i="0">
                <a:solidFill>
                  <a:srgbClr val="6B7280"/>
                </a:solidFill>
              </a:defRPr>
            </a:pPr>
            <a:r>
              <a:rPr sz="1400" b="1" i="0">
                <a:solidFill>
                  <a:srgbClr val="6B7280"/>
                </a:solidFill>
              </a:rPr>
              <a:t>ASSIGNED SURGERY  →  RECEIVED CONSERVATIVE</a:t>
            </a:r>
          </a:p>
        </p:txBody>
      </p:sp>
      <p:sp>
        <p:nvSpPr>
          <p:cNvPr id="16" name="retention-rule">
            <a:extLst>
              <a:ext uri="{FF2B5EF4-FFF2-40B4-BE49-F238E27FC236}">
                <a16:creationId xmlns:a16="http://schemas.microsoft.com/office/drawing/2014/main" id="{81CAE118-3D7D-4097-B8EF-4569FEE790AF}"/>
              </a:ext>
            </a:extLst>
          </p:cNvPr>
          <p:cNvSpPr>
            <a:spLocks noGrp="1"/>
          </p:cNvSpPr>
          <p:nvPr/>
        </p:nvSpPr>
        <p:spPr>
          <a:xfrm>
            <a:off x="609600" y="5010150"/>
            <a:ext cx="10668000" cy="9525"/>
          </a:xfrm>
          <a:prstGeom prst="rect">
            <a:avLst/>
          </a:prstGeom>
          <a:solidFill>
            <a:srgbClr val="E5E7EB"/>
          </a:solidFill>
          <a:ln w="0">
            <a:solidFill>
              <a:srgbClr val="E5E7EB"/>
            </a:solidFill>
            <a:prstDash val="solid"/>
          </a:ln>
        </p:spPr>
        <p:txBody>
          <a:bodyPr/>
          <a:lstStyle/>
          <a:p>
            <a:endParaRPr/>
          </a:p>
        </p:txBody>
      </p:sp>
      <p:sp>
        <p:nvSpPr>
          <p:cNvPr id="18" name="retention-values">
            <a:extLst>
              <a:ext uri="{FF2B5EF4-FFF2-40B4-BE49-F238E27FC236}">
                <a16:creationId xmlns:a16="http://schemas.microsoft.com/office/drawing/2014/main" id="{68C6CFBD-8181-48F7-B0E9-3D7E0EAB5DAB}"/>
              </a:ext>
            </a:extLst>
          </p:cNvPr>
          <p:cNvSpPr>
            <a:spLocks noGrp="1"/>
          </p:cNvSpPr>
          <p:nvPr/>
        </p:nvSpPr>
        <p:spPr>
          <a:xfrm>
            <a:off x="3407089" y="5372100"/>
            <a:ext cx="4939672" cy="285750"/>
          </a:xfrm>
          <a:prstGeom prst="rect">
            <a:avLst/>
          </a:prstGeom>
          <a:noFill/>
          <a:ln w="0">
            <a:noFill/>
            <a:prstDash val="solid"/>
          </a:ln>
        </p:spPr>
        <p:txBody>
          <a:bodyPr lIns="0" tIns="0" rIns="0" bIns="0" anchor="ctr">
            <a:noAutofit/>
          </a:bodyPr>
          <a:lstStyle/>
          <a:p>
            <a:pPr algn="l">
              <a:buNone/>
              <a:defRPr sz="1575" b="1" i="0">
                <a:solidFill>
                  <a:srgbClr val="1F4E79"/>
                </a:solidFill>
              </a:defRPr>
            </a:pPr>
            <a:r>
              <a:rPr sz="1575" b="1" i="0">
                <a:solidFill>
                  <a:srgbClr val="1F4E79"/>
                </a:solidFill>
              </a:rPr>
              <a:t>Follow-Up Availability:    86% at 6 weeks  →  73% at 2 years</a:t>
            </a:r>
          </a:p>
        </p:txBody>
      </p:sp>
      <p:sp>
        <p:nvSpPr>
          <p:cNvPr id="20" name="footer-rule-10">
            <a:extLst>
              <a:ext uri="{FF2B5EF4-FFF2-40B4-BE49-F238E27FC236}">
                <a16:creationId xmlns:a16="http://schemas.microsoft.com/office/drawing/2014/main" id="{081CA1E3-AB50-42E4-85AD-7FB00A1BEC89}"/>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2" name="num-10">
            <a:extLst>
              <a:ext uri="{FF2B5EF4-FFF2-40B4-BE49-F238E27FC236}">
                <a16:creationId xmlns:a16="http://schemas.microsoft.com/office/drawing/2014/main" id="{3D464E86-79CD-4EAA-AFB3-2BBC4E25539C}"/>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11</a:t>
            </a:r>
          </a:p>
        </p:txBody>
      </p:sp>
      <p:sp>
        <p:nvSpPr>
          <p:cNvPr id="24" name="cross-surgery-copy">
            <a:extLst>
              <a:ext uri="{FF2B5EF4-FFF2-40B4-BE49-F238E27FC236}">
                <a16:creationId xmlns:a16="http://schemas.microsoft.com/office/drawing/2014/main" id="{F88EF73B-1F76-2732-37A6-BDBE54AC7227}"/>
              </a:ext>
            </a:extLst>
          </p:cNvPr>
          <p:cNvSpPr>
            <a:spLocks noGrp="1"/>
          </p:cNvSpPr>
          <p:nvPr/>
        </p:nvSpPr>
        <p:spPr>
          <a:xfrm>
            <a:off x="876300" y="3057525"/>
            <a:ext cx="4191000" cy="333375"/>
          </a:xfrm>
          <a:prstGeom prst="rect">
            <a:avLst/>
          </a:prstGeom>
          <a:noFill/>
          <a:ln w="0">
            <a:noFill/>
            <a:prstDash val="solid"/>
          </a:ln>
        </p:spPr>
        <p:txBody>
          <a:bodyPr lIns="0" tIns="0" rIns="0" bIns="0" anchor="ctr">
            <a:noAutofit/>
          </a:bodyPr>
          <a:lstStyle/>
          <a:p>
            <a:pPr algn="l">
              <a:buNone/>
              <a:defRPr sz="1275" b="1" i="0">
                <a:solidFill>
                  <a:srgbClr val="111827"/>
                </a:solidFill>
              </a:defRPr>
            </a:pPr>
            <a:r>
              <a:rPr sz="1275" b="1" i="0">
                <a:solidFill>
                  <a:srgbClr val="111827"/>
                </a:solidFill>
              </a:rPr>
              <a:t>Crossed vs. Adhered</a:t>
            </a:r>
          </a:p>
        </p:txBody>
      </p:sp>
      <p:sp>
        <p:nvSpPr>
          <p:cNvPr id="25" name="cross-surgery-copy">
            <a:extLst>
              <a:ext uri="{FF2B5EF4-FFF2-40B4-BE49-F238E27FC236}">
                <a16:creationId xmlns:a16="http://schemas.microsoft.com/office/drawing/2014/main" id="{9F5A0F50-239B-4A90-9DDC-9CD2965ECF5D}"/>
              </a:ext>
            </a:extLst>
          </p:cNvPr>
          <p:cNvSpPr>
            <a:spLocks noGrp="1"/>
          </p:cNvSpPr>
          <p:nvPr/>
        </p:nvSpPr>
        <p:spPr>
          <a:xfrm>
            <a:off x="876300" y="4363934"/>
            <a:ext cx="4191000" cy="333375"/>
          </a:xfrm>
          <a:prstGeom prst="rect">
            <a:avLst/>
          </a:prstGeom>
          <a:noFill/>
          <a:ln w="0">
            <a:noFill/>
            <a:prstDash val="solid"/>
          </a:ln>
        </p:spPr>
        <p:txBody>
          <a:bodyPr lIns="0" tIns="0" rIns="0" bIns="0" anchor="ctr">
            <a:noAutofit/>
          </a:bodyPr>
          <a:lstStyle/>
          <a:p>
            <a:pPr algn="l">
              <a:buNone/>
              <a:defRPr sz="1275" b="1" i="0">
                <a:solidFill>
                  <a:srgbClr val="111827"/>
                </a:solidFill>
              </a:defRPr>
            </a:pPr>
            <a:r>
              <a:rPr sz="1275" b="1" i="0">
                <a:solidFill>
                  <a:srgbClr val="111827"/>
                </a:solidFill>
              </a:rPr>
              <a:t>Crossed vs. Adhered</a:t>
            </a:r>
          </a:p>
        </p:txBody>
      </p:sp>
      <p:sp>
        <p:nvSpPr>
          <p:cNvPr id="26" name="cross-surgery-odi-label">
            <a:extLst>
              <a:ext uri="{FF2B5EF4-FFF2-40B4-BE49-F238E27FC236}">
                <a16:creationId xmlns:a16="http://schemas.microsoft.com/office/drawing/2014/main" id="{C257469B-F4CD-6691-8CA6-E8248BC6137F}"/>
              </a:ext>
            </a:extLst>
          </p:cNvPr>
          <p:cNvSpPr>
            <a:spLocks noGrp="1"/>
          </p:cNvSpPr>
          <p:nvPr/>
        </p:nvSpPr>
        <p:spPr>
          <a:xfrm>
            <a:off x="6489370" y="2324100"/>
            <a:ext cx="1619250" cy="209550"/>
          </a:xfrm>
          <a:prstGeom prst="rect">
            <a:avLst/>
          </a:prstGeom>
          <a:noFill/>
          <a:ln w="0">
            <a:noFill/>
            <a:prstDash val="solid"/>
          </a:ln>
        </p:spPr>
        <p:txBody>
          <a:bodyPr lIns="0" tIns="0" rIns="0" bIns="0" anchor="ctr">
            <a:noAutofit/>
          </a:bodyPr>
          <a:lstStyle/>
          <a:p>
            <a:pPr algn="l">
              <a:buNone/>
              <a:defRPr sz="825" b="1" i="0">
                <a:solidFill>
                  <a:srgbClr val="4B5563"/>
                </a:solidFill>
              </a:defRPr>
            </a:pPr>
            <a:r>
              <a:rPr sz="1200" b="1" i="0">
                <a:solidFill>
                  <a:srgbClr val="4B5563"/>
                </a:solidFill>
              </a:rPr>
              <a:t>BASELINE ODI</a:t>
            </a:r>
          </a:p>
        </p:txBody>
      </p:sp>
      <p:sp>
        <p:nvSpPr>
          <p:cNvPr id="27" name="cross-surgery-odi">
            <a:extLst>
              <a:ext uri="{FF2B5EF4-FFF2-40B4-BE49-F238E27FC236}">
                <a16:creationId xmlns:a16="http://schemas.microsoft.com/office/drawing/2014/main" id="{D2E22EED-E6AE-A27D-6851-8A6047DCF15D}"/>
              </a:ext>
            </a:extLst>
          </p:cNvPr>
          <p:cNvSpPr>
            <a:spLocks noGrp="1"/>
          </p:cNvSpPr>
          <p:nvPr/>
        </p:nvSpPr>
        <p:spPr>
          <a:xfrm>
            <a:off x="6489370" y="2581275"/>
            <a:ext cx="3905250" cy="514350"/>
          </a:xfrm>
          <a:prstGeom prst="rect">
            <a:avLst/>
          </a:prstGeom>
          <a:noFill/>
          <a:ln w="0">
            <a:noFill/>
            <a:prstDash val="solid"/>
          </a:ln>
        </p:spPr>
        <p:txBody>
          <a:bodyPr lIns="0" tIns="0" rIns="0" bIns="0" anchor="ctr">
            <a:noAutofit/>
          </a:bodyPr>
          <a:lstStyle/>
          <a:p>
            <a:pPr algn="l">
              <a:buNone/>
              <a:defRPr sz="2700" b="1" i="0">
                <a:solidFill>
                  <a:srgbClr val="1F4E79"/>
                </a:solidFill>
              </a:defRPr>
            </a:pPr>
            <a:r>
              <a:rPr sz="2700" b="1">
                <a:solidFill>
                  <a:srgbClr val="1F4E79"/>
                </a:solidFill>
              </a:rPr>
              <a:t>41</a:t>
            </a:r>
            <a:r>
              <a:rPr sz="2700" b="1" i="0">
                <a:solidFill>
                  <a:srgbClr val="1F4E79"/>
                </a:solidFill>
              </a:rPr>
              <a:t>.1  vs  </a:t>
            </a:r>
            <a:r>
              <a:rPr sz="2700" b="1">
                <a:solidFill>
                  <a:srgbClr val="1F4E79"/>
                </a:solidFill>
              </a:rPr>
              <a:t>51.7</a:t>
            </a:r>
          </a:p>
        </p:txBody>
      </p:sp>
      <p:sp>
        <p:nvSpPr>
          <p:cNvPr id="28" name="cross-surgery-worse-label">
            <a:extLst>
              <a:ext uri="{FF2B5EF4-FFF2-40B4-BE49-F238E27FC236}">
                <a16:creationId xmlns:a16="http://schemas.microsoft.com/office/drawing/2014/main" id="{D2100E4D-BBA2-CD6D-2CB8-D99C991439A6}"/>
              </a:ext>
            </a:extLst>
          </p:cNvPr>
          <p:cNvSpPr>
            <a:spLocks noGrp="1"/>
          </p:cNvSpPr>
          <p:nvPr/>
        </p:nvSpPr>
        <p:spPr>
          <a:xfrm>
            <a:off x="6489370" y="3673495"/>
            <a:ext cx="2095500" cy="209550"/>
          </a:xfrm>
          <a:prstGeom prst="rect">
            <a:avLst/>
          </a:prstGeom>
          <a:noFill/>
          <a:ln w="0">
            <a:noFill/>
            <a:prstDash val="solid"/>
          </a:ln>
        </p:spPr>
        <p:txBody>
          <a:bodyPr lIns="0" tIns="0" rIns="0" bIns="0" anchor="ctr">
            <a:noAutofit/>
          </a:bodyPr>
          <a:lstStyle/>
          <a:p>
            <a:pPr algn="l">
              <a:buNone/>
              <a:defRPr sz="825" b="1" i="0">
                <a:solidFill>
                  <a:srgbClr val="4B5563"/>
                </a:solidFill>
              </a:defRPr>
            </a:pPr>
            <a:r>
              <a:rPr sz="1200" b="1" i="0">
                <a:solidFill>
                  <a:srgbClr val="4B5563"/>
                </a:solidFill>
              </a:rPr>
              <a:t>PERCEIVED WORSENING</a:t>
            </a:r>
          </a:p>
        </p:txBody>
      </p:sp>
      <p:sp>
        <p:nvSpPr>
          <p:cNvPr id="29" name="cross-surgery-worse">
            <a:extLst>
              <a:ext uri="{FF2B5EF4-FFF2-40B4-BE49-F238E27FC236}">
                <a16:creationId xmlns:a16="http://schemas.microsoft.com/office/drawing/2014/main" id="{8E4031C4-DDBD-10B3-D032-8E0E91235FC6}"/>
              </a:ext>
            </a:extLst>
          </p:cNvPr>
          <p:cNvSpPr>
            <a:spLocks noGrp="1"/>
          </p:cNvSpPr>
          <p:nvPr/>
        </p:nvSpPr>
        <p:spPr>
          <a:xfrm>
            <a:off x="6489370" y="3859232"/>
            <a:ext cx="3905250" cy="514350"/>
          </a:xfrm>
          <a:prstGeom prst="rect">
            <a:avLst/>
          </a:prstGeom>
          <a:noFill/>
          <a:ln w="0">
            <a:noFill/>
            <a:prstDash val="solid"/>
          </a:ln>
        </p:spPr>
        <p:txBody>
          <a:bodyPr lIns="0" tIns="0" rIns="0" bIns="0" anchor="ctr">
            <a:noAutofit/>
          </a:bodyPr>
          <a:lstStyle/>
          <a:p>
            <a:pPr algn="l">
              <a:buNone/>
              <a:defRPr sz="2550" b="1" i="0">
                <a:solidFill>
                  <a:srgbClr val="1F4E79"/>
                </a:solidFill>
              </a:defRPr>
            </a:pPr>
            <a:r>
              <a:rPr sz="2550" b="1">
                <a:solidFill>
                  <a:srgbClr val="1F4E79"/>
                </a:solidFill>
              </a:rPr>
              <a:t>26</a:t>
            </a:r>
            <a:r>
              <a:rPr sz="2550" b="1" i="0">
                <a:solidFill>
                  <a:srgbClr val="1F4E79"/>
                </a:solidFill>
              </a:rPr>
              <a:t>%  vs  </a:t>
            </a:r>
            <a:r>
              <a:rPr sz="2550" b="1">
                <a:solidFill>
                  <a:srgbClr val="1F4E79"/>
                </a:solidFill>
              </a:rPr>
              <a:t>41</a:t>
            </a:r>
            <a:r>
              <a:rPr sz="2550" b="1" i="0">
                <a:solidFill>
                  <a:srgbClr val="1F4E79"/>
                </a:solidFill>
              </a:rPr>
              <a:t>%</a:t>
            </a:r>
          </a:p>
        </p:txBody>
      </p:sp>
      <p:sp>
        <p:nvSpPr>
          <p:cNvPr id="30" name="cross-surgery-copy">
            <a:extLst>
              <a:ext uri="{FF2B5EF4-FFF2-40B4-BE49-F238E27FC236}">
                <a16:creationId xmlns:a16="http://schemas.microsoft.com/office/drawing/2014/main" id="{009F5298-A590-6EAB-18A4-454C3A06A0AC}"/>
              </a:ext>
            </a:extLst>
          </p:cNvPr>
          <p:cNvSpPr>
            <a:spLocks noGrp="1"/>
          </p:cNvSpPr>
          <p:nvPr/>
        </p:nvSpPr>
        <p:spPr>
          <a:xfrm>
            <a:off x="6489370" y="3038475"/>
            <a:ext cx="4191000" cy="333375"/>
          </a:xfrm>
          <a:prstGeom prst="rect">
            <a:avLst/>
          </a:prstGeom>
          <a:noFill/>
          <a:ln w="0">
            <a:noFill/>
            <a:prstDash val="solid"/>
          </a:ln>
        </p:spPr>
        <p:txBody>
          <a:bodyPr lIns="0" tIns="0" rIns="0" bIns="0" anchor="ctr">
            <a:noAutofit/>
          </a:bodyPr>
          <a:lstStyle/>
          <a:p>
            <a:pPr algn="l">
              <a:buNone/>
              <a:defRPr sz="1275" b="1" i="0">
                <a:solidFill>
                  <a:srgbClr val="111827"/>
                </a:solidFill>
              </a:defRPr>
            </a:pPr>
            <a:r>
              <a:rPr sz="1275" b="1" i="0">
                <a:solidFill>
                  <a:srgbClr val="111827"/>
                </a:solidFill>
              </a:rPr>
              <a:t>Crossed vs. Adhered</a:t>
            </a:r>
          </a:p>
        </p:txBody>
      </p:sp>
      <p:sp>
        <p:nvSpPr>
          <p:cNvPr id="31" name="cross-surgery-copy">
            <a:extLst>
              <a:ext uri="{FF2B5EF4-FFF2-40B4-BE49-F238E27FC236}">
                <a16:creationId xmlns:a16="http://schemas.microsoft.com/office/drawing/2014/main" id="{97D924B3-1BE5-9F69-7D37-69B83A314A7C}"/>
              </a:ext>
            </a:extLst>
          </p:cNvPr>
          <p:cNvSpPr>
            <a:spLocks noGrp="1"/>
          </p:cNvSpPr>
          <p:nvPr/>
        </p:nvSpPr>
        <p:spPr>
          <a:xfrm>
            <a:off x="6489370" y="4344884"/>
            <a:ext cx="4191000" cy="333375"/>
          </a:xfrm>
          <a:prstGeom prst="rect">
            <a:avLst/>
          </a:prstGeom>
          <a:noFill/>
          <a:ln w="0">
            <a:noFill/>
            <a:prstDash val="solid"/>
          </a:ln>
        </p:spPr>
        <p:txBody>
          <a:bodyPr lIns="0" tIns="0" rIns="0" bIns="0" anchor="ctr">
            <a:noAutofit/>
          </a:bodyPr>
          <a:lstStyle/>
          <a:p>
            <a:pPr algn="l">
              <a:buNone/>
              <a:defRPr sz="1275" b="1" i="0">
                <a:solidFill>
                  <a:srgbClr val="111827"/>
                </a:solidFill>
              </a:defRPr>
            </a:pPr>
            <a:r>
              <a:rPr sz="1275" b="1" i="0">
                <a:solidFill>
                  <a:srgbClr val="111827"/>
                </a:solidFill>
              </a:rPr>
              <a:t>Crossed vs. Adhered</a:t>
            </a:r>
          </a:p>
        </p:txBody>
      </p:sp>
    </p:spTree>
    <p:extLst>
      <p:ext uri="{BB962C8B-B14F-4D97-AF65-F5344CB8AC3E}">
        <p14:creationId xmlns:p14="http://schemas.microsoft.com/office/powerpoint/2010/main" val="498220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itle-11">
            <a:extLst>
              <a:ext uri="{FF2B5EF4-FFF2-40B4-BE49-F238E27FC236}">
                <a16:creationId xmlns:a16="http://schemas.microsoft.com/office/drawing/2014/main" id="{D7B24D17-5033-4308-9834-33EF1D5EF67D}"/>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Surgical Complications</a:t>
            </a:r>
          </a:p>
        </p:txBody>
      </p:sp>
      <p:sp>
        <p:nvSpPr>
          <p:cNvPr id="2" name="title-rule-11">
            <a:extLst>
              <a:ext uri="{FF2B5EF4-FFF2-40B4-BE49-F238E27FC236}">
                <a16:creationId xmlns:a16="http://schemas.microsoft.com/office/drawing/2014/main" id="{4291E9CD-65DF-4C82-9142-B57294D35015}"/>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ops-denom">
            <a:extLst>
              <a:ext uri="{FF2B5EF4-FFF2-40B4-BE49-F238E27FC236}">
                <a16:creationId xmlns:a16="http://schemas.microsoft.com/office/drawing/2014/main" id="{C75B46E9-14FB-4ABE-93B3-3EC244B045F0}"/>
              </a:ext>
            </a:extLst>
          </p:cNvPr>
          <p:cNvSpPr>
            <a:spLocks noGrp="1"/>
          </p:cNvSpPr>
          <p:nvPr/>
        </p:nvSpPr>
        <p:spPr>
          <a:xfrm>
            <a:off x="609599" y="1381125"/>
            <a:ext cx="2050473" cy="276225"/>
          </a:xfrm>
          <a:prstGeom prst="rect">
            <a:avLst/>
          </a:prstGeom>
          <a:noFill/>
          <a:ln w="0">
            <a:noFill/>
            <a:prstDash val="solid"/>
          </a:ln>
        </p:spPr>
        <p:txBody>
          <a:bodyPr lIns="0" tIns="0" rIns="0" bIns="0" anchor="ctr">
            <a:noAutofit/>
          </a:bodyPr>
          <a:lstStyle/>
          <a:p>
            <a:pPr algn="l">
              <a:buNone/>
              <a:defRPr sz="1350" b="1" i="0">
                <a:solidFill>
                  <a:srgbClr val="1F4E79"/>
                </a:solidFill>
              </a:defRPr>
            </a:pPr>
            <a:r>
              <a:rPr sz="1600" b="1" i="0">
                <a:solidFill>
                  <a:srgbClr val="1F4E79"/>
                </a:solidFill>
              </a:rPr>
              <a:t>243 TOTAL OPERATIONS</a:t>
            </a:r>
          </a:p>
        </p:txBody>
      </p:sp>
      <p:sp>
        <p:nvSpPr>
          <p:cNvPr id="5" name="risk-scale-zero">
            <a:extLst>
              <a:ext uri="{FF2B5EF4-FFF2-40B4-BE49-F238E27FC236}">
                <a16:creationId xmlns:a16="http://schemas.microsoft.com/office/drawing/2014/main" id="{CA33E0D1-0F88-41B6-A543-DEE854E1E976}"/>
              </a:ext>
            </a:extLst>
          </p:cNvPr>
          <p:cNvSpPr>
            <a:spLocks noGrp="1"/>
          </p:cNvSpPr>
          <p:nvPr/>
        </p:nvSpPr>
        <p:spPr>
          <a:xfrm>
            <a:off x="8334375" y="1619250"/>
            <a:ext cx="381000" cy="190500"/>
          </a:xfrm>
          <a:prstGeom prst="rect">
            <a:avLst/>
          </a:prstGeom>
          <a:noFill/>
          <a:ln w="0">
            <a:noFill/>
            <a:prstDash val="solid"/>
          </a:ln>
        </p:spPr>
        <p:txBody>
          <a:bodyPr lIns="0" tIns="0" rIns="0" bIns="0" anchor="ctr">
            <a:noAutofit/>
          </a:bodyPr>
          <a:lstStyle/>
          <a:p>
            <a:pPr algn="l">
              <a:buNone/>
              <a:defRPr sz="900" b="0" i="0">
                <a:solidFill>
                  <a:srgbClr val="4B5563"/>
                </a:solidFill>
              </a:defRPr>
            </a:pPr>
            <a:r>
              <a:rPr sz="1600" b="0" i="0">
                <a:solidFill>
                  <a:srgbClr val="4B5563"/>
                </a:solidFill>
              </a:rPr>
              <a:t>0%</a:t>
            </a:r>
          </a:p>
        </p:txBody>
      </p:sp>
      <p:sp>
        <p:nvSpPr>
          <p:cNvPr id="6" name="risk-scale-ten">
            <a:extLst>
              <a:ext uri="{FF2B5EF4-FFF2-40B4-BE49-F238E27FC236}">
                <a16:creationId xmlns:a16="http://schemas.microsoft.com/office/drawing/2014/main" id="{C058393C-6ECB-429C-9D86-C1466D0CF94B}"/>
              </a:ext>
            </a:extLst>
          </p:cNvPr>
          <p:cNvSpPr>
            <a:spLocks noGrp="1"/>
          </p:cNvSpPr>
          <p:nvPr/>
        </p:nvSpPr>
        <p:spPr>
          <a:xfrm>
            <a:off x="10810875" y="1619250"/>
            <a:ext cx="381000" cy="190500"/>
          </a:xfrm>
          <a:prstGeom prst="rect">
            <a:avLst/>
          </a:prstGeom>
          <a:noFill/>
          <a:ln w="0">
            <a:noFill/>
            <a:prstDash val="solid"/>
          </a:ln>
        </p:spPr>
        <p:txBody>
          <a:bodyPr lIns="0" tIns="0" rIns="0" bIns="0" anchor="ctr">
            <a:noAutofit/>
          </a:bodyPr>
          <a:lstStyle/>
          <a:p>
            <a:pPr algn="r">
              <a:buNone/>
              <a:defRPr sz="900" b="0" i="0">
                <a:solidFill>
                  <a:srgbClr val="4B5563"/>
                </a:solidFill>
              </a:defRPr>
            </a:pPr>
            <a:r>
              <a:rPr sz="1600" b="0" i="0">
                <a:solidFill>
                  <a:srgbClr val="4B5563"/>
                </a:solidFill>
              </a:rPr>
              <a:t>10%</a:t>
            </a:r>
          </a:p>
        </p:txBody>
      </p:sp>
      <p:sp>
        <p:nvSpPr>
          <p:cNvPr id="7" name="risk-label-0">
            <a:extLst>
              <a:ext uri="{FF2B5EF4-FFF2-40B4-BE49-F238E27FC236}">
                <a16:creationId xmlns:a16="http://schemas.microsoft.com/office/drawing/2014/main" id="{61999060-D284-44B5-B4B0-05F20C5A944E}"/>
              </a:ext>
            </a:extLst>
          </p:cNvPr>
          <p:cNvSpPr>
            <a:spLocks noGrp="1"/>
          </p:cNvSpPr>
          <p:nvPr/>
        </p:nvSpPr>
        <p:spPr>
          <a:xfrm>
            <a:off x="609600" y="1952625"/>
            <a:ext cx="4333875" cy="43815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Dural Tear</a:t>
            </a:r>
          </a:p>
        </p:txBody>
      </p:sp>
      <p:sp>
        <p:nvSpPr>
          <p:cNvPr id="8" name="risk-denom-0">
            <a:extLst>
              <a:ext uri="{FF2B5EF4-FFF2-40B4-BE49-F238E27FC236}">
                <a16:creationId xmlns:a16="http://schemas.microsoft.com/office/drawing/2014/main" id="{C1AEDC5A-E9F6-46E5-927A-51BDE67693D5}"/>
              </a:ext>
            </a:extLst>
          </p:cNvPr>
          <p:cNvSpPr>
            <a:spLocks noGrp="1"/>
          </p:cNvSpPr>
          <p:nvPr/>
        </p:nvSpPr>
        <p:spPr>
          <a:xfrm>
            <a:off x="5286375" y="1952625"/>
            <a:ext cx="2476500" cy="438150"/>
          </a:xfrm>
          <a:prstGeom prst="rect">
            <a:avLst/>
          </a:prstGeom>
          <a:noFill/>
          <a:ln w="0">
            <a:noFill/>
            <a:prstDash val="solid"/>
          </a:ln>
        </p:spPr>
        <p:txBody>
          <a:bodyPr lIns="0" tIns="0" rIns="0" bIns="0" anchor="ctr">
            <a:noAutofit/>
          </a:bodyPr>
          <a:lstStyle/>
          <a:p>
            <a:pPr algn="r">
              <a:buNone/>
              <a:defRPr sz="2025" b="1" i="0">
                <a:solidFill>
                  <a:srgbClr val="4B5563"/>
                </a:solidFill>
              </a:defRPr>
            </a:pPr>
            <a:r>
              <a:rPr sz="2025" b="1" i="0">
                <a:solidFill>
                  <a:srgbClr val="4B5563"/>
                </a:solidFill>
              </a:rPr>
              <a:t>10 / 243</a:t>
            </a:r>
          </a:p>
        </p:txBody>
      </p:sp>
      <p:sp>
        <p:nvSpPr>
          <p:cNvPr id="9" name="risk-track-0">
            <a:extLst>
              <a:ext uri="{FF2B5EF4-FFF2-40B4-BE49-F238E27FC236}">
                <a16:creationId xmlns:a16="http://schemas.microsoft.com/office/drawing/2014/main" id="{4493C2E5-22D6-406D-BE45-40CE9C478B25}"/>
              </a:ext>
            </a:extLst>
          </p:cNvPr>
          <p:cNvSpPr>
            <a:spLocks noGrp="1"/>
          </p:cNvSpPr>
          <p:nvPr/>
        </p:nvSpPr>
        <p:spPr>
          <a:xfrm>
            <a:off x="8334375" y="2076450"/>
            <a:ext cx="2857500" cy="171450"/>
          </a:xfrm>
          <a:prstGeom prst="roundRect">
            <a:avLst>
              <a:gd name="adj" fmla="val 44444"/>
            </a:avLst>
          </a:prstGeom>
          <a:solidFill>
            <a:srgbClr val="E5E7EB"/>
          </a:solidFill>
          <a:ln w="0">
            <a:solidFill>
              <a:srgbClr val="E5E7EB"/>
            </a:solidFill>
            <a:prstDash val="solid"/>
          </a:ln>
        </p:spPr>
        <p:txBody>
          <a:bodyPr/>
          <a:lstStyle/>
          <a:p>
            <a:endParaRPr/>
          </a:p>
        </p:txBody>
      </p:sp>
      <p:sp>
        <p:nvSpPr>
          <p:cNvPr id="10" name="risk-bar-0">
            <a:extLst>
              <a:ext uri="{FF2B5EF4-FFF2-40B4-BE49-F238E27FC236}">
                <a16:creationId xmlns:a16="http://schemas.microsoft.com/office/drawing/2014/main" id="{9B4551A4-C566-4F51-A3A5-54B5CEBDFE99}"/>
              </a:ext>
            </a:extLst>
          </p:cNvPr>
          <p:cNvSpPr>
            <a:spLocks noGrp="1"/>
          </p:cNvSpPr>
          <p:nvPr/>
        </p:nvSpPr>
        <p:spPr>
          <a:xfrm>
            <a:off x="8334375" y="2076450"/>
            <a:ext cx="1143000" cy="171450"/>
          </a:xfrm>
          <a:prstGeom prst="roundRect">
            <a:avLst>
              <a:gd name="adj" fmla="val 44444"/>
            </a:avLst>
          </a:prstGeom>
          <a:solidFill>
            <a:srgbClr val="1F4E79"/>
          </a:solidFill>
          <a:ln w="0">
            <a:solidFill>
              <a:srgbClr val="1F4E79"/>
            </a:solidFill>
            <a:prstDash val="solid"/>
          </a:ln>
        </p:spPr>
        <p:txBody>
          <a:bodyPr/>
          <a:lstStyle/>
          <a:p>
            <a:endParaRPr/>
          </a:p>
        </p:txBody>
      </p:sp>
      <p:sp>
        <p:nvSpPr>
          <p:cNvPr id="11" name="risk-rate-0">
            <a:extLst>
              <a:ext uri="{FF2B5EF4-FFF2-40B4-BE49-F238E27FC236}">
                <a16:creationId xmlns:a16="http://schemas.microsoft.com/office/drawing/2014/main" id="{9BA30F32-EDCE-41FD-87F9-F02AB5099F73}"/>
              </a:ext>
            </a:extLst>
          </p:cNvPr>
          <p:cNvSpPr>
            <a:spLocks noGrp="1"/>
          </p:cNvSpPr>
          <p:nvPr/>
        </p:nvSpPr>
        <p:spPr>
          <a:xfrm>
            <a:off x="10048875" y="2333625"/>
            <a:ext cx="1143000" cy="285750"/>
          </a:xfrm>
          <a:prstGeom prst="rect">
            <a:avLst/>
          </a:prstGeom>
          <a:noFill/>
          <a:ln w="0">
            <a:noFill/>
            <a:prstDash val="solid"/>
          </a:ln>
        </p:spPr>
        <p:txBody>
          <a:bodyPr lIns="0" tIns="0" rIns="0" bIns="0" anchor="ctr">
            <a:noAutofit/>
          </a:bodyPr>
          <a:lstStyle/>
          <a:p>
            <a:pPr algn="r">
              <a:buNone/>
              <a:defRPr sz="1650" b="1" i="0">
                <a:solidFill>
                  <a:srgbClr val="1F4E79"/>
                </a:solidFill>
              </a:defRPr>
            </a:pPr>
            <a:r>
              <a:rPr sz="1650" b="1" i="0">
                <a:solidFill>
                  <a:srgbClr val="1F4E79"/>
                </a:solidFill>
              </a:rPr>
              <a:t>4%</a:t>
            </a:r>
          </a:p>
        </p:txBody>
      </p:sp>
      <p:sp>
        <p:nvSpPr>
          <p:cNvPr id="12" name="risk-rule-0">
            <a:extLst>
              <a:ext uri="{FF2B5EF4-FFF2-40B4-BE49-F238E27FC236}">
                <a16:creationId xmlns:a16="http://schemas.microsoft.com/office/drawing/2014/main" id="{A095110D-07F6-4C33-BEE9-65228EB2FC71}"/>
              </a:ext>
            </a:extLst>
          </p:cNvPr>
          <p:cNvSpPr>
            <a:spLocks noGrp="1"/>
          </p:cNvSpPr>
          <p:nvPr/>
        </p:nvSpPr>
        <p:spPr>
          <a:xfrm>
            <a:off x="609600" y="2695575"/>
            <a:ext cx="10572750" cy="9525"/>
          </a:xfrm>
          <a:prstGeom prst="rect">
            <a:avLst/>
          </a:prstGeom>
          <a:solidFill>
            <a:srgbClr val="E5E7EB"/>
          </a:solidFill>
          <a:ln w="0">
            <a:solidFill>
              <a:srgbClr val="E5E7EB"/>
            </a:solidFill>
            <a:prstDash val="solid"/>
          </a:ln>
        </p:spPr>
        <p:txBody>
          <a:bodyPr/>
          <a:lstStyle/>
          <a:p>
            <a:endParaRPr/>
          </a:p>
        </p:txBody>
      </p:sp>
      <p:sp>
        <p:nvSpPr>
          <p:cNvPr id="13" name="risk-label-1">
            <a:extLst>
              <a:ext uri="{FF2B5EF4-FFF2-40B4-BE49-F238E27FC236}">
                <a16:creationId xmlns:a16="http://schemas.microsoft.com/office/drawing/2014/main" id="{386B6012-255A-4178-ADBA-211E9C7717E4}"/>
              </a:ext>
            </a:extLst>
          </p:cNvPr>
          <p:cNvSpPr>
            <a:spLocks noGrp="1"/>
          </p:cNvSpPr>
          <p:nvPr/>
        </p:nvSpPr>
        <p:spPr>
          <a:xfrm>
            <a:off x="609600" y="2981325"/>
            <a:ext cx="4333875" cy="43815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Superficial Skin Infection</a:t>
            </a:r>
          </a:p>
        </p:txBody>
      </p:sp>
      <p:sp>
        <p:nvSpPr>
          <p:cNvPr id="14" name="risk-denom-1">
            <a:extLst>
              <a:ext uri="{FF2B5EF4-FFF2-40B4-BE49-F238E27FC236}">
                <a16:creationId xmlns:a16="http://schemas.microsoft.com/office/drawing/2014/main" id="{9BB5172C-D3B1-41C7-A224-F6B144D9AA4E}"/>
              </a:ext>
            </a:extLst>
          </p:cNvPr>
          <p:cNvSpPr>
            <a:spLocks noGrp="1"/>
          </p:cNvSpPr>
          <p:nvPr/>
        </p:nvSpPr>
        <p:spPr>
          <a:xfrm>
            <a:off x="5286375" y="2981325"/>
            <a:ext cx="2476500" cy="438150"/>
          </a:xfrm>
          <a:prstGeom prst="rect">
            <a:avLst/>
          </a:prstGeom>
          <a:noFill/>
          <a:ln w="0">
            <a:noFill/>
            <a:prstDash val="solid"/>
          </a:ln>
        </p:spPr>
        <p:txBody>
          <a:bodyPr lIns="0" tIns="0" rIns="0" bIns="0" anchor="ctr">
            <a:noAutofit/>
          </a:bodyPr>
          <a:lstStyle/>
          <a:p>
            <a:pPr algn="r">
              <a:buNone/>
              <a:defRPr sz="2025" b="1" i="0">
                <a:solidFill>
                  <a:srgbClr val="4B5563"/>
                </a:solidFill>
              </a:defRPr>
            </a:pPr>
            <a:r>
              <a:rPr sz="2025" b="1" i="0">
                <a:solidFill>
                  <a:srgbClr val="4B5563"/>
                </a:solidFill>
              </a:rPr>
              <a:t>4 / 243</a:t>
            </a:r>
          </a:p>
        </p:txBody>
      </p:sp>
      <p:sp>
        <p:nvSpPr>
          <p:cNvPr id="15" name="risk-track-1">
            <a:extLst>
              <a:ext uri="{FF2B5EF4-FFF2-40B4-BE49-F238E27FC236}">
                <a16:creationId xmlns:a16="http://schemas.microsoft.com/office/drawing/2014/main" id="{7FCCFD97-94A6-4AB9-BFDF-C304EEC910BF}"/>
              </a:ext>
            </a:extLst>
          </p:cNvPr>
          <p:cNvSpPr>
            <a:spLocks noGrp="1"/>
          </p:cNvSpPr>
          <p:nvPr/>
        </p:nvSpPr>
        <p:spPr>
          <a:xfrm>
            <a:off x="8334375" y="3105150"/>
            <a:ext cx="2857500" cy="171450"/>
          </a:xfrm>
          <a:prstGeom prst="roundRect">
            <a:avLst>
              <a:gd name="adj" fmla="val 44444"/>
            </a:avLst>
          </a:prstGeom>
          <a:solidFill>
            <a:srgbClr val="E5E7EB"/>
          </a:solidFill>
          <a:ln w="0">
            <a:solidFill>
              <a:srgbClr val="E5E7EB"/>
            </a:solidFill>
            <a:prstDash val="solid"/>
          </a:ln>
        </p:spPr>
        <p:txBody>
          <a:bodyPr/>
          <a:lstStyle/>
          <a:p>
            <a:endParaRPr/>
          </a:p>
        </p:txBody>
      </p:sp>
      <p:sp>
        <p:nvSpPr>
          <p:cNvPr id="16" name="risk-bar-1">
            <a:extLst>
              <a:ext uri="{FF2B5EF4-FFF2-40B4-BE49-F238E27FC236}">
                <a16:creationId xmlns:a16="http://schemas.microsoft.com/office/drawing/2014/main" id="{02E75722-7C0E-4263-8B3D-3D224824A970}"/>
              </a:ext>
            </a:extLst>
          </p:cNvPr>
          <p:cNvSpPr>
            <a:spLocks noGrp="1"/>
          </p:cNvSpPr>
          <p:nvPr/>
        </p:nvSpPr>
        <p:spPr>
          <a:xfrm>
            <a:off x="8334375" y="3105150"/>
            <a:ext cx="571500" cy="171450"/>
          </a:xfrm>
          <a:prstGeom prst="roundRect">
            <a:avLst>
              <a:gd name="adj" fmla="val 44444"/>
            </a:avLst>
          </a:prstGeom>
          <a:solidFill>
            <a:srgbClr val="1F4E79"/>
          </a:solidFill>
          <a:ln w="0">
            <a:solidFill>
              <a:srgbClr val="1F4E79"/>
            </a:solidFill>
            <a:prstDash val="solid"/>
          </a:ln>
        </p:spPr>
        <p:txBody>
          <a:bodyPr/>
          <a:lstStyle/>
          <a:p>
            <a:endParaRPr/>
          </a:p>
        </p:txBody>
      </p:sp>
      <p:sp>
        <p:nvSpPr>
          <p:cNvPr id="17" name="risk-rate-1">
            <a:extLst>
              <a:ext uri="{FF2B5EF4-FFF2-40B4-BE49-F238E27FC236}">
                <a16:creationId xmlns:a16="http://schemas.microsoft.com/office/drawing/2014/main" id="{90383E52-6ADA-495F-B672-CD7AC3FE8AD9}"/>
              </a:ext>
            </a:extLst>
          </p:cNvPr>
          <p:cNvSpPr>
            <a:spLocks noGrp="1"/>
          </p:cNvSpPr>
          <p:nvPr/>
        </p:nvSpPr>
        <p:spPr>
          <a:xfrm>
            <a:off x="10048875" y="3362325"/>
            <a:ext cx="1143000" cy="285750"/>
          </a:xfrm>
          <a:prstGeom prst="rect">
            <a:avLst/>
          </a:prstGeom>
          <a:noFill/>
          <a:ln w="0">
            <a:noFill/>
            <a:prstDash val="solid"/>
          </a:ln>
        </p:spPr>
        <p:txBody>
          <a:bodyPr lIns="0" tIns="0" rIns="0" bIns="0" anchor="ctr">
            <a:noAutofit/>
          </a:bodyPr>
          <a:lstStyle/>
          <a:p>
            <a:pPr algn="r">
              <a:buNone/>
              <a:defRPr sz="1650" b="1" i="0">
                <a:solidFill>
                  <a:srgbClr val="1F4E79"/>
                </a:solidFill>
              </a:defRPr>
            </a:pPr>
            <a:r>
              <a:rPr sz="1650" b="1" i="0">
                <a:solidFill>
                  <a:srgbClr val="1F4E79"/>
                </a:solidFill>
              </a:rPr>
              <a:t>2%</a:t>
            </a:r>
          </a:p>
        </p:txBody>
      </p:sp>
      <p:sp>
        <p:nvSpPr>
          <p:cNvPr id="18" name="risk-rule-1">
            <a:extLst>
              <a:ext uri="{FF2B5EF4-FFF2-40B4-BE49-F238E27FC236}">
                <a16:creationId xmlns:a16="http://schemas.microsoft.com/office/drawing/2014/main" id="{8F329F3D-D727-4E24-9F9A-6EB3C96EF9D0}"/>
              </a:ext>
            </a:extLst>
          </p:cNvPr>
          <p:cNvSpPr>
            <a:spLocks noGrp="1"/>
          </p:cNvSpPr>
          <p:nvPr/>
        </p:nvSpPr>
        <p:spPr>
          <a:xfrm>
            <a:off x="609600" y="3724275"/>
            <a:ext cx="10572750" cy="9525"/>
          </a:xfrm>
          <a:prstGeom prst="rect">
            <a:avLst/>
          </a:prstGeom>
          <a:solidFill>
            <a:srgbClr val="E5E7EB"/>
          </a:solidFill>
          <a:ln w="0">
            <a:solidFill>
              <a:srgbClr val="E5E7EB"/>
            </a:solidFill>
            <a:prstDash val="solid"/>
          </a:ln>
        </p:spPr>
        <p:txBody>
          <a:bodyPr/>
          <a:lstStyle/>
          <a:p>
            <a:endParaRPr/>
          </a:p>
        </p:txBody>
      </p:sp>
      <p:sp>
        <p:nvSpPr>
          <p:cNvPr id="19" name="risk-label-2">
            <a:extLst>
              <a:ext uri="{FF2B5EF4-FFF2-40B4-BE49-F238E27FC236}">
                <a16:creationId xmlns:a16="http://schemas.microsoft.com/office/drawing/2014/main" id="{B8FF275E-E46E-45C7-9A2B-C92055419BEA}"/>
              </a:ext>
            </a:extLst>
          </p:cNvPr>
          <p:cNvSpPr>
            <a:spLocks noGrp="1"/>
          </p:cNvSpPr>
          <p:nvPr/>
        </p:nvSpPr>
        <p:spPr>
          <a:xfrm>
            <a:off x="609600" y="4010025"/>
            <a:ext cx="4333875" cy="438150"/>
          </a:xfrm>
          <a:prstGeom prst="rect">
            <a:avLst/>
          </a:prstGeom>
          <a:noFill/>
          <a:ln w="0">
            <a:noFill/>
            <a:prstDash val="solid"/>
          </a:ln>
        </p:spPr>
        <p:txBody>
          <a:bodyPr lIns="0" tIns="0" rIns="0" bIns="0" anchor="ctr">
            <a:noAutofit/>
          </a:bodyPr>
          <a:lstStyle/>
          <a:p>
            <a:pPr algn="l">
              <a:buNone/>
              <a:defRPr sz="1800" b="1" i="0">
                <a:solidFill>
                  <a:srgbClr val="111827"/>
                </a:solidFill>
              </a:defRPr>
            </a:pPr>
            <a:r>
              <a:rPr sz="1800" b="1" i="0">
                <a:solidFill>
                  <a:srgbClr val="111827"/>
                </a:solidFill>
              </a:rPr>
              <a:t>Reoperation by 2 Years</a:t>
            </a:r>
          </a:p>
        </p:txBody>
      </p:sp>
      <p:sp>
        <p:nvSpPr>
          <p:cNvPr id="20" name="risk-denom-2">
            <a:extLst>
              <a:ext uri="{FF2B5EF4-FFF2-40B4-BE49-F238E27FC236}">
                <a16:creationId xmlns:a16="http://schemas.microsoft.com/office/drawing/2014/main" id="{3C2C4616-2F7E-4EA4-8C29-FF0BFDFEA9F5}"/>
              </a:ext>
            </a:extLst>
          </p:cNvPr>
          <p:cNvSpPr>
            <a:spLocks noGrp="1"/>
          </p:cNvSpPr>
          <p:nvPr/>
        </p:nvSpPr>
        <p:spPr>
          <a:xfrm>
            <a:off x="5286375" y="4010025"/>
            <a:ext cx="2476500" cy="438150"/>
          </a:xfrm>
          <a:prstGeom prst="rect">
            <a:avLst/>
          </a:prstGeom>
          <a:noFill/>
          <a:ln w="0">
            <a:noFill/>
            <a:prstDash val="solid"/>
          </a:ln>
        </p:spPr>
        <p:txBody>
          <a:bodyPr lIns="0" tIns="0" rIns="0" bIns="0" anchor="ctr">
            <a:noAutofit/>
          </a:bodyPr>
          <a:lstStyle/>
          <a:p>
            <a:pPr algn="r">
              <a:buNone/>
              <a:defRPr sz="2025" b="1" i="0">
                <a:solidFill>
                  <a:srgbClr val="4B5563"/>
                </a:solidFill>
              </a:defRPr>
            </a:pPr>
            <a:r>
              <a:rPr sz="2025" b="1" i="0">
                <a:solidFill>
                  <a:srgbClr val="4B5563"/>
                </a:solidFill>
              </a:rPr>
              <a:t>13 </a:t>
            </a:r>
            <a:r>
              <a:rPr sz="2025" b="1">
                <a:solidFill>
                  <a:srgbClr val="4B5563"/>
                </a:solidFill>
              </a:rPr>
              <a:t>/ 243</a:t>
            </a:r>
          </a:p>
        </p:txBody>
      </p:sp>
      <p:sp>
        <p:nvSpPr>
          <p:cNvPr id="21" name="risk-track-2">
            <a:extLst>
              <a:ext uri="{FF2B5EF4-FFF2-40B4-BE49-F238E27FC236}">
                <a16:creationId xmlns:a16="http://schemas.microsoft.com/office/drawing/2014/main" id="{60D693BE-15A3-4F49-9B70-BABB35DBAAC2}"/>
              </a:ext>
            </a:extLst>
          </p:cNvPr>
          <p:cNvSpPr>
            <a:spLocks noGrp="1"/>
          </p:cNvSpPr>
          <p:nvPr/>
        </p:nvSpPr>
        <p:spPr>
          <a:xfrm>
            <a:off x="8334375" y="4133850"/>
            <a:ext cx="2857500" cy="171450"/>
          </a:xfrm>
          <a:prstGeom prst="roundRect">
            <a:avLst>
              <a:gd name="adj" fmla="val 44444"/>
            </a:avLst>
          </a:prstGeom>
          <a:solidFill>
            <a:srgbClr val="E5E7EB"/>
          </a:solidFill>
          <a:ln w="0">
            <a:solidFill>
              <a:srgbClr val="E5E7EB"/>
            </a:solidFill>
            <a:prstDash val="solid"/>
          </a:ln>
        </p:spPr>
        <p:txBody>
          <a:bodyPr/>
          <a:lstStyle/>
          <a:p>
            <a:endParaRPr/>
          </a:p>
        </p:txBody>
      </p:sp>
      <p:sp>
        <p:nvSpPr>
          <p:cNvPr id="22" name="risk-bar-2">
            <a:extLst>
              <a:ext uri="{FF2B5EF4-FFF2-40B4-BE49-F238E27FC236}">
                <a16:creationId xmlns:a16="http://schemas.microsoft.com/office/drawing/2014/main" id="{FDB3F489-971F-4396-9A55-29DDA3E2A8C6}"/>
              </a:ext>
            </a:extLst>
          </p:cNvPr>
          <p:cNvSpPr>
            <a:spLocks noGrp="1"/>
          </p:cNvSpPr>
          <p:nvPr/>
        </p:nvSpPr>
        <p:spPr>
          <a:xfrm>
            <a:off x="8334375" y="4133850"/>
            <a:ext cx="1428750" cy="171450"/>
          </a:xfrm>
          <a:prstGeom prst="roundRect">
            <a:avLst>
              <a:gd name="adj" fmla="val 44444"/>
            </a:avLst>
          </a:prstGeom>
          <a:solidFill>
            <a:srgbClr val="1F4E79"/>
          </a:solidFill>
          <a:ln w="0">
            <a:solidFill>
              <a:srgbClr val="1F4E79"/>
            </a:solidFill>
            <a:prstDash val="solid"/>
          </a:ln>
        </p:spPr>
        <p:txBody>
          <a:bodyPr/>
          <a:lstStyle/>
          <a:p>
            <a:endParaRPr/>
          </a:p>
        </p:txBody>
      </p:sp>
      <p:sp>
        <p:nvSpPr>
          <p:cNvPr id="23" name="risk-rate-2">
            <a:extLst>
              <a:ext uri="{FF2B5EF4-FFF2-40B4-BE49-F238E27FC236}">
                <a16:creationId xmlns:a16="http://schemas.microsoft.com/office/drawing/2014/main" id="{CC87051D-7D02-43E4-82C3-83F15E57D298}"/>
              </a:ext>
            </a:extLst>
          </p:cNvPr>
          <p:cNvSpPr>
            <a:spLocks noGrp="1"/>
          </p:cNvSpPr>
          <p:nvPr/>
        </p:nvSpPr>
        <p:spPr>
          <a:xfrm>
            <a:off x="10048875" y="4391025"/>
            <a:ext cx="1143000" cy="285750"/>
          </a:xfrm>
          <a:prstGeom prst="rect">
            <a:avLst/>
          </a:prstGeom>
          <a:noFill/>
          <a:ln w="0">
            <a:noFill/>
            <a:prstDash val="solid"/>
          </a:ln>
        </p:spPr>
        <p:txBody>
          <a:bodyPr lIns="0" tIns="0" rIns="0" bIns="0" anchor="ctr">
            <a:noAutofit/>
          </a:bodyPr>
          <a:lstStyle/>
          <a:p>
            <a:pPr algn="r">
              <a:buNone/>
              <a:defRPr sz="1650" b="1" i="0">
                <a:solidFill>
                  <a:srgbClr val="1F4E79"/>
                </a:solidFill>
              </a:defRPr>
            </a:pPr>
            <a:r>
              <a:rPr sz="1650" b="1" i="0">
                <a:solidFill>
                  <a:srgbClr val="1F4E79"/>
                </a:solidFill>
              </a:rPr>
              <a:t> 5%</a:t>
            </a:r>
          </a:p>
        </p:txBody>
      </p:sp>
      <p:sp>
        <p:nvSpPr>
          <p:cNvPr id="24" name="risk-rule-2">
            <a:extLst>
              <a:ext uri="{FF2B5EF4-FFF2-40B4-BE49-F238E27FC236}">
                <a16:creationId xmlns:a16="http://schemas.microsoft.com/office/drawing/2014/main" id="{458C5612-4C39-4827-B5C3-B4160A05398E}"/>
              </a:ext>
            </a:extLst>
          </p:cNvPr>
          <p:cNvSpPr>
            <a:spLocks noGrp="1"/>
          </p:cNvSpPr>
          <p:nvPr/>
        </p:nvSpPr>
        <p:spPr>
          <a:xfrm>
            <a:off x="609600" y="4752975"/>
            <a:ext cx="10572750" cy="9525"/>
          </a:xfrm>
          <a:prstGeom prst="rect">
            <a:avLst/>
          </a:prstGeom>
          <a:solidFill>
            <a:srgbClr val="E5E7EB"/>
          </a:solidFill>
          <a:ln w="0">
            <a:solidFill>
              <a:srgbClr val="E5E7EB"/>
            </a:solidFill>
            <a:prstDash val="solid"/>
          </a:ln>
        </p:spPr>
        <p:txBody>
          <a:bodyPr/>
          <a:lstStyle/>
          <a:p>
            <a:endParaRPr/>
          </a:p>
        </p:txBody>
      </p:sp>
      <p:sp>
        <p:nvSpPr>
          <p:cNvPr id="25" name="zero">
            <a:extLst>
              <a:ext uri="{FF2B5EF4-FFF2-40B4-BE49-F238E27FC236}">
                <a16:creationId xmlns:a16="http://schemas.microsoft.com/office/drawing/2014/main" id="{EACF3B0F-9936-47FA-98BD-7A0AA1447F7B}"/>
              </a:ext>
            </a:extLst>
          </p:cNvPr>
          <p:cNvSpPr>
            <a:spLocks noGrp="1"/>
          </p:cNvSpPr>
          <p:nvPr/>
        </p:nvSpPr>
        <p:spPr>
          <a:xfrm>
            <a:off x="609599" y="5600700"/>
            <a:ext cx="3675321" cy="400050"/>
          </a:xfrm>
          <a:prstGeom prst="rect">
            <a:avLst/>
          </a:prstGeom>
          <a:noFill/>
          <a:ln w="0">
            <a:noFill/>
            <a:prstDash val="solid"/>
          </a:ln>
        </p:spPr>
        <p:txBody>
          <a:bodyPr lIns="0" tIns="0" rIns="0" bIns="0" anchor="ctr">
            <a:noAutofit/>
          </a:bodyPr>
          <a:lstStyle/>
          <a:p>
            <a:pPr algn="l">
              <a:buNone/>
              <a:defRPr sz="1725" b="1" i="0">
                <a:solidFill>
                  <a:srgbClr val="1F4E79"/>
                </a:solidFill>
              </a:defRPr>
            </a:pPr>
            <a:r>
              <a:rPr sz="1725" b="1" i="0">
                <a:solidFill>
                  <a:srgbClr val="1F4E79"/>
                </a:solidFill>
              </a:rPr>
              <a:t>No perioperative deaths </a:t>
            </a:r>
            <a:r>
              <a:rPr sz="1725" b="1">
                <a:solidFill>
                  <a:srgbClr val="1F4E79"/>
                </a:solidFill>
              </a:rPr>
              <a:t>were reported</a:t>
            </a:r>
          </a:p>
        </p:txBody>
      </p:sp>
      <p:sp>
        <p:nvSpPr>
          <p:cNvPr id="27" name="footer-rule-11">
            <a:extLst>
              <a:ext uri="{FF2B5EF4-FFF2-40B4-BE49-F238E27FC236}">
                <a16:creationId xmlns:a16="http://schemas.microsoft.com/office/drawing/2014/main" id="{DC86681D-05CC-4DAA-8B8E-0650C4FACB23}"/>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9" name="num-11">
            <a:extLst>
              <a:ext uri="{FF2B5EF4-FFF2-40B4-BE49-F238E27FC236}">
                <a16:creationId xmlns:a16="http://schemas.microsoft.com/office/drawing/2014/main" id="{90229D1E-F8A6-446A-84AE-81140404ADF1}"/>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12</a:t>
            </a:r>
          </a:p>
        </p:txBody>
      </p:sp>
    </p:spTree>
    <p:extLst>
      <p:ext uri="{BB962C8B-B14F-4D97-AF65-F5344CB8AC3E}">
        <p14:creationId xmlns:p14="http://schemas.microsoft.com/office/powerpoint/2010/main" val="515729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title-13">
            <a:extLst>
              <a:ext uri="{FF2B5EF4-FFF2-40B4-BE49-F238E27FC236}">
                <a16:creationId xmlns:a16="http://schemas.microsoft.com/office/drawing/2014/main" id="{F616EDC3-EBAE-4CD8-A814-05C33ADF2423}"/>
              </a:ext>
            </a:extLst>
          </p:cNvPr>
          <p:cNvSpPr>
            <a:spLocks noGrp="1"/>
          </p:cNvSpPr>
          <p:nvPr/>
        </p:nvSpPr>
        <p:spPr>
          <a:xfrm>
            <a:off x="609600" y="295275"/>
            <a:ext cx="2608613"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Main Takeaways</a:t>
            </a:r>
          </a:p>
        </p:txBody>
      </p:sp>
      <p:sp>
        <p:nvSpPr>
          <p:cNvPr id="2" name="title-rule-13">
            <a:extLst>
              <a:ext uri="{FF2B5EF4-FFF2-40B4-BE49-F238E27FC236}">
                <a16:creationId xmlns:a16="http://schemas.microsoft.com/office/drawing/2014/main" id="{C60E2D55-D29D-4410-9A00-72CD3259F4E6}"/>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4" name="summary-n-0">
            <a:extLst>
              <a:ext uri="{FF2B5EF4-FFF2-40B4-BE49-F238E27FC236}">
                <a16:creationId xmlns:a16="http://schemas.microsoft.com/office/drawing/2014/main" id="{F7F92E33-EEBE-49A5-8399-059F9B8C8BC2}"/>
              </a:ext>
            </a:extLst>
          </p:cNvPr>
          <p:cNvSpPr>
            <a:spLocks noGrp="1"/>
          </p:cNvSpPr>
          <p:nvPr/>
        </p:nvSpPr>
        <p:spPr>
          <a:xfrm>
            <a:off x="609600" y="1695450"/>
            <a:ext cx="552450" cy="457200"/>
          </a:xfrm>
          <a:prstGeom prst="rect">
            <a:avLst/>
          </a:prstGeom>
          <a:noFill/>
          <a:ln w="0">
            <a:noFill/>
            <a:prstDash val="solid"/>
          </a:ln>
        </p:spPr>
        <p:txBody>
          <a:bodyPr lIns="0" tIns="0" rIns="0" bIns="0" anchor="ctr">
            <a:noAutofit/>
          </a:bodyPr>
          <a:lstStyle/>
          <a:p>
            <a:pPr algn="ctr">
              <a:buNone/>
              <a:defRPr sz="2025" b="1" i="0">
                <a:solidFill>
                  <a:srgbClr val="1F4E79"/>
                </a:solidFill>
              </a:defRPr>
            </a:pPr>
            <a:r>
              <a:rPr sz="2025" b="1" i="0">
                <a:solidFill>
                  <a:srgbClr val="1F4E79"/>
                </a:solidFill>
              </a:rPr>
              <a:t>01</a:t>
            </a:r>
          </a:p>
        </p:txBody>
      </p:sp>
      <p:sp>
        <p:nvSpPr>
          <p:cNvPr id="5" name="summary-accent-0">
            <a:extLst>
              <a:ext uri="{FF2B5EF4-FFF2-40B4-BE49-F238E27FC236}">
                <a16:creationId xmlns:a16="http://schemas.microsoft.com/office/drawing/2014/main" id="{E468EFE6-D32C-48C8-AFA2-E395485DB0CF}"/>
              </a:ext>
            </a:extLst>
          </p:cNvPr>
          <p:cNvSpPr>
            <a:spLocks noGrp="1"/>
          </p:cNvSpPr>
          <p:nvPr/>
        </p:nvSpPr>
        <p:spPr>
          <a:xfrm>
            <a:off x="1352550" y="1914525"/>
            <a:ext cx="428625" cy="9525"/>
          </a:xfrm>
          <a:prstGeom prst="rect">
            <a:avLst/>
          </a:prstGeom>
          <a:solidFill>
            <a:srgbClr val="E5E7EB"/>
          </a:solidFill>
          <a:ln w="0">
            <a:solidFill>
              <a:srgbClr val="E5E7EB"/>
            </a:solidFill>
            <a:prstDash val="solid"/>
          </a:ln>
        </p:spPr>
        <p:txBody>
          <a:bodyPr/>
          <a:lstStyle/>
          <a:p>
            <a:endParaRPr/>
          </a:p>
        </p:txBody>
      </p:sp>
      <p:sp>
        <p:nvSpPr>
          <p:cNvPr id="6" name="summary-label-0">
            <a:extLst>
              <a:ext uri="{FF2B5EF4-FFF2-40B4-BE49-F238E27FC236}">
                <a16:creationId xmlns:a16="http://schemas.microsoft.com/office/drawing/2014/main" id="{8258AC69-23EC-4889-9467-A33719F9A7D8}"/>
              </a:ext>
            </a:extLst>
          </p:cNvPr>
          <p:cNvSpPr>
            <a:spLocks noGrp="1"/>
          </p:cNvSpPr>
          <p:nvPr/>
        </p:nvSpPr>
        <p:spPr>
          <a:xfrm>
            <a:off x="2047875" y="1619250"/>
            <a:ext cx="1714500" cy="22860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100" b="1" i="0">
                <a:solidFill>
                  <a:srgbClr val="1F4E79"/>
                </a:solidFill>
              </a:rPr>
              <a:t>POPULATION</a:t>
            </a:r>
          </a:p>
        </p:txBody>
      </p:sp>
      <p:sp>
        <p:nvSpPr>
          <p:cNvPr id="7" name="summary-head-0">
            <a:extLst>
              <a:ext uri="{FF2B5EF4-FFF2-40B4-BE49-F238E27FC236}">
                <a16:creationId xmlns:a16="http://schemas.microsoft.com/office/drawing/2014/main" id="{D056D549-AF99-48A2-A16E-DCE387D255AD}"/>
              </a:ext>
            </a:extLst>
          </p:cNvPr>
          <p:cNvSpPr>
            <a:spLocks noGrp="1"/>
          </p:cNvSpPr>
          <p:nvPr/>
        </p:nvSpPr>
        <p:spPr>
          <a:xfrm>
            <a:off x="2047875" y="1876425"/>
            <a:ext cx="4953000" cy="333375"/>
          </a:xfrm>
          <a:prstGeom prst="rect">
            <a:avLst/>
          </a:prstGeom>
          <a:noFill/>
          <a:ln w="0">
            <a:noFill/>
            <a:prstDash val="solid"/>
          </a:ln>
        </p:spPr>
        <p:txBody>
          <a:bodyPr lIns="0" tIns="0" rIns="0" bIns="0" anchor="ctr">
            <a:noAutofit/>
          </a:bodyPr>
          <a:lstStyle/>
          <a:p>
            <a:pPr algn="l">
              <a:buNone/>
              <a:defRPr sz="1725" b="1" i="0">
                <a:solidFill>
                  <a:srgbClr val="111827"/>
                </a:solidFill>
              </a:defRPr>
            </a:pPr>
            <a:r>
              <a:rPr sz="1725" b="1" i="0">
                <a:solidFill>
                  <a:srgbClr val="111827"/>
                </a:solidFill>
              </a:rPr>
              <a:t>Persistent Concordant </a:t>
            </a:r>
            <a:r>
              <a:rPr sz="1725" b="1">
                <a:solidFill>
                  <a:srgbClr val="111827"/>
                </a:solidFill>
              </a:rPr>
              <a:t>E</a:t>
            </a:r>
            <a:r>
              <a:rPr sz="1725" b="1" i="0">
                <a:solidFill>
                  <a:srgbClr val="111827"/>
                </a:solidFill>
              </a:rPr>
              <a:t>lective </a:t>
            </a:r>
            <a:r>
              <a:rPr sz="1725" b="1">
                <a:solidFill>
                  <a:srgbClr val="111827"/>
                </a:solidFill>
              </a:rPr>
              <a:t>R</a:t>
            </a:r>
            <a:r>
              <a:rPr sz="1725" b="1" i="0">
                <a:solidFill>
                  <a:srgbClr val="111827"/>
                </a:solidFill>
              </a:rPr>
              <a:t>adiculopathy</a:t>
            </a:r>
          </a:p>
        </p:txBody>
      </p:sp>
      <p:sp>
        <p:nvSpPr>
          <p:cNvPr id="8" name="summary-copy-0">
            <a:extLst>
              <a:ext uri="{FF2B5EF4-FFF2-40B4-BE49-F238E27FC236}">
                <a16:creationId xmlns:a16="http://schemas.microsoft.com/office/drawing/2014/main" id="{B0EFF308-4BA7-41D5-8401-45108BB7BC98}"/>
              </a:ext>
            </a:extLst>
          </p:cNvPr>
          <p:cNvSpPr>
            <a:spLocks noGrp="1"/>
          </p:cNvSpPr>
          <p:nvPr/>
        </p:nvSpPr>
        <p:spPr>
          <a:xfrm>
            <a:off x="7239000" y="1704975"/>
            <a:ext cx="4000500" cy="5524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Symptoms for ≥6 weeks; urgent neurologic syndromes were excluded.</a:t>
            </a:r>
          </a:p>
        </p:txBody>
      </p:sp>
      <p:sp>
        <p:nvSpPr>
          <p:cNvPr id="9" name="summary-rule-0">
            <a:extLst>
              <a:ext uri="{FF2B5EF4-FFF2-40B4-BE49-F238E27FC236}">
                <a16:creationId xmlns:a16="http://schemas.microsoft.com/office/drawing/2014/main" id="{266A715A-3D7A-4C92-9313-A40013C7169B}"/>
              </a:ext>
            </a:extLst>
          </p:cNvPr>
          <p:cNvSpPr>
            <a:spLocks noGrp="1"/>
          </p:cNvSpPr>
          <p:nvPr/>
        </p:nvSpPr>
        <p:spPr>
          <a:xfrm>
            <a:off x="2047875" y="2400300"/>
            <a:ext cx="9191625" cy="9525"/>
          </a:xfrm>
          <a:prstGeom prst="rect">
            <a:avLst/>
          </a:prstGeom>
          <a:solidFill>
            <a:srgbClr val="E5E7EB"/>
          </a:solidFill>
          <a:ln w="0">
            <a:solidFill>
              <a:srgbClr val="E5E7EB"/>
            </a:solidFill>
            <a:prstDash val="solid"/>
          </a:ln>
        </p:spPr>
        <p:txBody>
          <a:bodyPr/>
          <a:lstStyle/>
          <a:p>
            <a:endParaRPr/>
          </a:p>
        </p:txBody>
      </p:sp>
      <p:sp>
        <p:nvSpPr>
          <p:cNvPr id="10" name="summary-n-1">
            <a:extLst>
              <a:ext uri="{FF2B5EF4-FFF2-40B4-BE49-F238E27FC236}">
                <a16:creationId xmlns:a16="http://schemas.microsoft.com/office/drawing/2014/main" id="{DE5A9FE7-C381-4F4D-B8F5-48D80A2C8DDB}"/>
              </a:ext>
            </a:extLst>
          </p:cNvPr>
          <p:cNvSpPr>
            <a:spLocks noGrp="1"/>
          </p:cNvSpPr>
          <p:nvPr/>
        </p:nvSpPr>
        <p:spPr>
          <a:xfrm>
            <a:off x="609600" y="2657475"/>
            <a:ext cx="552450" cy="457200"/>
          </a:xfrm>
          <a:prstGeom prst="rect">
            <a:avLst/>
          </a:prstGeom>
          <a:noFill/>
          <a:ln w="0">
            <a:noFill/>
            <a:prstDash val="solid"/>
          </a:ln>
        </p:spPr>
        <p:txBody>
          <a:bodyPr lIns="0" tIns="0" rIns="0" bIns="0" anchor="ctr">
            <a:noAutofit/>
          </a:bodyPr>
          <a:lstStyle/>
          <a:p>
            <a:pPr algn="ctr">
              <a:buNone/>
              <a:defRPr sz="2025" b="1" i="0">
                <a:solidFill>
                  <a:srgbClr val="1F4E79"/>
                </a:solidFill>
              </a:defRPr>
            </a:pPr>
            <a:r>
              <a:rPr sz="2025" b="1" i="0">
                <a:solidFill>
                  <a:srgbClr val="1F4E79"/>
                </a:solidFill>
              </a:rPr>
              <a:t>02</a:t>
            </a:r>
          </a:p>
        </p:txBody>
      </p:sp>
      <p:sp>
        <p:nvSpPr>
          <p:cNvPr id="11" name="summary-accent-1">
            <a:extLst>
              <a:ext uri="{FF2B5EF4-FFF2-40B4-BE49-F238E27FC236}">
                <a16:creationId xmlns:a16="http://schemas.microsoft.com/office/drawing/2014/main" id="{D7994BDC-CE28-46A3-AFDE-FFA0DC6B8493}"/>
              </a:ext>
            </a:extLst>
          </p:cNvPr>
          <p:cNvSpPr>
            <a:spLocks noGrp="1"/>
          </p:cNvSpPr>
          <p:nvPr/>
        </p:nvSpPr>
        <p:spPr>
          <a:xfrm>
            <a:off x="1352550" y="2876550"/>
            <a:ext cx="428625" cy="9525"/>
          </a:xfrm>
          <a:prstGeom prst="rect">
            <a:avLst/>
          </a:prstGeom>
          <a:solidFill>
            <a:srgbClr val="E5E7EB"/>
          </a:solidFill>
          <a:ln w="0">
            <a:solidFill>
              <a:srgbClr val="E5E7EB"/>
            </a:solidFill>
            <a:prstDash val="solid"/>
          </a:ln>
        </p:spPr>
        <p:txBody>
          <a:bodyPr/>
          <a:lstStyle/>
          <a:p>
            <a:endParaRPr/>
          </a:p>
        </p:txBody>
      </p:sp>
      <p:sp>
        <p:nvSpPr>
          <p:cNvPr id="12" name="summary-label-1">
            <a:extLst>
              <a:ext uri="{FF2B5EF4-FFF2-40B4-BE49-F238E27FC236}">
                <a16:creationId xmlns:a16="http://schemas.microsoft.com/office/drawing/2014/main" id="{3B025D72-B6AC-409B-85E0-7CF40645F9E0}"/>
              </a:ext>
            </a:extLst>
          </p:cNvPr>
          <p:cNvSpPr>
            <a:spLocks noGrp="1"/>
          </p:cNvSpPr>
          <p:nvPr/>
        </p:nvSpPr>
        <p:spPr>
          <a:xfrm>
            <a:off x="2047875" y="2581275"/>
            <a:ext cx="1714500" cy="22860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100" b="1" i="0">
                <a:solidFill>
                  <a:srgbClr val="1F4E79"/>
                </a:solidFill>
              </a:rPr>
              <a:t>COMPARISON</a:t>
            </a:r>
          </a:p>
        </p:txBody>
      </p:sp>
      <p:sp>
        <p:nvSpPr>
          <p:cNvPr id="13" name="summary-head-1">
            <a:extLst>
              <a:ext uri="{FF2B5EF4-FFF2-40B4-BE49-F238E27FC236}">
                <a16:creationId xmlns:a16="http://schemas.microsoft.com/office/drawing/2014/main" id="{CA1B0F98-0ECB-48BD-82E7-8FE878C30FA2}"/>
              </a:ext>
            </a:extLst>
          </p:cNvPr>
          <p:cNvSpPr>
            <a:spLocks noGrp="1"/>
          </p:cNvSpPr>
          <p:nvPr/>
        </p:nvSpPr>
        <p:spPr>
          <a:xfrm>
            <a:off x="2047875" y="2838450"/>
            <a:ext cx="4953000" cy="333375"/>
          </a:xfrm>
          <a:prstGeom prst="rect">
            <a:avLst/>
          </a:prstGeom>
          <a:noFill/>
          <a:ln w="0">
            <a:noFill/>
            <a:prstDash val="solid"/>
          </a:ln>
        </p:spPr>
        <p:txBody>
          <a:bodyPr lIns="0" tIns="0" rIns="0" bIns="0" anchor="ctr">
            <a:noAutofit/>
          </a:bodyPr>
          <a:lstStyle/>
          <a:p>
            <a:pPr algn="l">
              <a:buNone/>
              <a:defRPr sz="1725" b="1" i="0">
                <a:solidFill>
                  <a:srgbClr val="111827"/>
                </a:solidFill>
              </a:defRPr>
            </a:pPr>
            <a:r>
              <a:rPr sz="1725" b="1" i="0">
                <a:solidFill>
                  <a:srgbClr val="111827"/>
                </a:solidFill>
              </a:rPr>
              <a:t>Discectomy versus Active </a:t>
            </a:r>
            <a:r>
              <a:rPr sz="1725" b="1">
                <a:solidFill>
                  <a:srgbClr val="111827"/>
                </a:solidFill>
              </a:rPr>
              <a:t>M</a:t>
            </a:r>
            <a:r>
              <a:rPr sz="1725" b="1" i="0">
                <a:solidFill>
                  <a:srgbClr val="111827"/>
                </a:solidFill>
              </a:rPr>
              <a:t>ultimodal </a:t>
            </a:r>
            <a:r>
              <a:rPr sz="1725" b="1">
                <a:solidFill>
                  <a:srgbClr val="111827"/>
                </a:solidFill>
              </a:rPr>
              <a:t>C</a:t>
            </a:r>
            <a:r>
              <a:rPr sz="1725" b="1" i="0">
                <a:solidFill>
                  <a:srgbClr val="111827"/>
                </a:solidFill>
              </a:rPr>
              <a:t>are</a:t>
            </a:r>
          </a:p>
        </p:txBody>
      </p:sp>
      <p:sp>
        <p:nvSpPr>
          <p:cNvPr id="14" name="summary-copy-1">
            <a:extLst>
              <a:ext uri="{FF2B5EF4-FFF2-40B4-BE49-F238E27FC236}">
                <a16:creationId xmlns:a16="http://schemas.microsoft.com/office/drawing/2014/main" id="{99DF4D42-FCD5-4B95-93D1-FD5CCFC1A2CB}"/>
              </a:ext>
            </a:extLst>
          </p:cNvPr>
          <p:cNvSpPr>
            <a:spLocks noGrp="1"/>
          </p:cNvSpPr>
          <p:nvPr/>
        </p:nvSpPr>
        <p:spPr>
          <a:xfrm>
            <a:off x="7239000" y="2667000"/>
            <a:ext cx="4000500" cy="5524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Nonoperative treatment included education, PT, NSAIDs, injections, and analgesics.</a:t>
            </a:r>
          </a:p>
        </p:txBody>
      </p:sp>
      <p:sp>
        <p:nvSpPr>
          <p:cNvPr id="15" name="summary-rule-1">
            <a:extLst>
              <a:ext uri="{FF2B5EF4-FFF2-40B4-BE49-F238E27FC236}">
                <a16:creationId xmlns:a16="http://schemas.microsoft.com/office/drawing/2014/main" id="{BF7EFBD2-5A3C-4AC9-835B-F241AC7FFD30}"/>
              </a:ext>
            </a:extLst>
          </p:cNvPr>
          <p:cNvSpPr>
            <a:spLocks noGrp="1"/>
          </p:cNvSpPr>
          <p:nvPr/>
        </p:nvSpPr>
        <p:spPr>
          <a:xfrm>
            <a:off x="2047875" y="3362325"/>
            <a:ext cx="9191625" cy="9525"/>
          </a:xfrm>
          <a:prstGeom prst="rect">
            <a:avLst/>
          </a:prstGeom>
          <a:solidFill>
            <a:srgbClr val="E5E7EB"/>
          </a:solidFill>
          <a:ln w="0">
            <a:solidFill>
              <a:srgbClr val="E5E7EB"/>
            </a:solidFill>
            <a:prstDash val="solid"/>
          </a:ln>
        </p:spPr>
        <p:txBody>
          <a:bodyPr/>
          <a:lstStyle/>
          <a:p>
            <a:endParaRPr/>
          </a:p>
        </p:txBody>
      </p:sp>
      <p:sp>
        <p:nvSpPr>
          <p:cNvPr id="16" name="summary-n-2">
            <a:extLst>
              <a:ext uri="{FF2B5EF4-FFF2-40B4-BE49-F238E27FC236}">
                <a16:creationId xmlns:a16="http://schemas.microsoft.com/office/drawing/2014/main" id="{C8EC1A73-D471-4F4A-A406-E8364626F7EA}"/>
              </a:ext>
            </a:extLst>
          </p:cNvPr>
          <p:cNvSpPr>
            <a:spLocks noGrp="1"/>
          </p:cNvSpPr>
          <p:nvPr/>
        </p:nvSpPr>
        <p:spPr>
          <a:xfrm>
            <a:off x="609600" y="3619500"/>
            <a:ext cx="552450" cy="457200"/>
          </a:xfrm>
          <a:prstGeom prst="rect">
            <a:avLst/>
          </a:prstGeom>
          <a:noFill/>
          <a:ln w="0">
            <a:noFill/>
            <a:prstDash val="solid"/>
          </a:ln>
        </p:spPr>
        <p:txBody>
          <a:bodyPr lIns="0" tIns="0" rIns="0" bIns="0" anchor="ctr">
            <a:noAutofit/>
          </a:bodyPr>
          <a:lstStyle/>
          <a:p>
            <a:pPr algn="ctr">
              <a:buNone/>
              <a:defRPr sz="2025" b="1" i="0">
                <a:solidFill>
                  <a:srgbClr val="1F4E79"/>
                </a:solidFill>
              </a:defRPr>
            </a:pPr>
            <a:r>
              <a:rPr sz="2025" b="1" i="0">
                <a:solidFill>
                  <a:srgbClr val="1F4E79"/>
                </a:solidFill>
              </a:rPr>
              <a:t>03</a:t>
            </a:r>
          </a:p>
        </p:txBody>
      </p:sp>
      <p:sp>
        <p:nvSpPr>
          <p:cNvPr id="17" name="summary-accent-2">
            <a:extLst>
              <a:ext uri="{FF2B5EF4-FFF2-40B4-BE49-F238E27FC236}">
                <a16:creationId xmlns:a16="http://schemas.microsoft.com/office/drawing/2014/main" id="{B6B2A01C-56BA-42A4-8BB8-E12220FA7C1B}"/>
              </a:ext>
            </a:extLst>
          </p:cNvPr>
          <p:cNvSpPr>
            <a:spLocks noGrp="1"/>
          </p:cNvSpPr>
          <p:nvPr/>
        </p:nvSpPr>
        <p:spPr>
          <a:xfrm>
            <a:off x="1352550" y="3838575"/>
            <a:ext cx="428625" cy="9525"/>
          </a:xfrm>
          <a:prstGeom prst="rect">
            <a:avLst/>
          </a:prstGeom>
          <a:solidFill>
            <a:srgbClr val="E5E7EB"/>
          </a:solidFill>
          <a:ln w="0">
            <a:solidFill>
              <a:srgbClr val="E5E7EB"/>
            </a:solidFill>
            <a:prstDash val="solid"/>
          </a:ln>
        </p:spPr>
        <p:txBody>
          <a:bodyPr/>
          <a:lstStyle/>
          <a:p>
            <a:endParaRPr/>
          </a:p>
        </p:txBody>
      </p:sp>
      <p:sp>
        <p:nvSpPr>
          <p:cNvPr id="18" name="summary-label-2">
            <a:extLst>
              <a:ext uri="{FF2B5EF4-FFF2-40B4-BE49-F238E27FC236}">
                <a16:creationId xmlns:a16="http://schemas.microsoft.com/office/drawing/2014/main" id="{E5BBDD0A-B8FD-4712-989C-F96668FCC634}"/>
              </a:ext>
            </a:extLst>
          </p:cNvPr>
          <p:cNvSpPr>
            <a:spLocks noGrp="1"/>
          </p:cNvSpPr>
          <p:nvPr/>
        </p:nvSpPr>
        <p:spPr>
          <a:xfrm>
            <a:off x="2047875" y="3486150"/>
            <a:ext cx="1714500" cy="22860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100" b="1" i="0">
                <a:solidFill>
                  <a:srgbClr val="1F4E79"/>
                </a:solidFill>
              </a:rPr>
              <a:t>OUTCOMES</a:t>
            </a:r>
          </a:p>
        </p:txBody>
      </p:sp>
      <p:sp>
        <p:nvSpPr>
          <p:cNvPr id="19" name="summary-head-2">
            <a:extLst>
              <a:ext uri="{FF2B5EF4-FFF2-40B4-BE49-F238E27FC236}">
                <a16:creationId xmlns:a16="http://schemas.microsoft.com/office/drawing/2014/main" id="{A2B97A71-BD35-41E5-90AC-46A08B3819C4}"/>
              </a:ext>
            </a:extLst>
          </p:cNvPr>
          <p:cNvSpPr>
            <a:spLocks noGrp="1"/>
          </p:cNvSpPr>
          <p:nvPr/>
        </p:nvSpPr>
        <p:spPr>
          <a:xfrm>
            <a:off x="2047875" y="3800475"/>
            <a:ext cx="4953000" cy="333375"/>
          </a:xfrm>
          <a:prstGeom prst="rect">
            <a:avLst/>
          </a:prstGeom>
          <a:noFill/>
          <a:ln w="0">
            <a:noFill/>
            <a:prstDash val="solid"/>
          </a:ln>
        </p:spPr>
        <p:txBody>
          <a:bodyPr lIns="0" tIns="0" rIns="0" bIns="0" anchor="ctr">
            <a:noAutofit/>
          </a:bodyPr>
          <a:lstStyle/>
          <a:p>
            <a:pPr algn="l">
              <a:buNone/>
              <a:defRPr sz="1725" b="1" i="0">
                <a:solidFill>
                  <a:srgbClr val="111827"/>
                </a:solidFill>
              </a:defRPr>
            </a:pPr>
            <a:r>
              <a:rPr sz="1725" b="1" i="0">
                <a:solidFill>
                  <a:srgbClr val="111827"/>
                </a:solidFill>
              </a:rPr>
              <a:t>Both Strategies </a:t>
            </a:r>
            <a:r>
              <a:rPr sz="1725" b="1">
                <a:solidFill>
                  <a:srgbClr val="111827"/>
                </a:solidFill>
              </a:rPr>
              <a:t>I</a:t>
            </a:r>
            <a:r>
              <a:rPr sz="1725" b="1" i="0">
                <a:solidFill>
                  <a:srgbClr val="111827"/>
                </a:solidFill>
              </a:rPr>
              <a:t>mproved; Surgery </a:t>
            </a:r>
            <a:r>
              <a:rPr sz="1725" b="1">
                <a:solidFill>
                  <a:srgbClr val="111827"/>
                </a:solidFill>
              </a:rPr>
              <a:t>A</a:t>
            </a:r>
            <a:r>
              <a:rPr sz="1725" b="1" i="0">
                <a:solidFill>
                  <a:srgbClr val="111827"/>
                </a:solidFill>
              </a:rPr>
              <a:t>ccelerated </a:t>
            </a:r>
            <a:r>
              <a:rPr sz="1725" b="1">
                <a:solidFill>
                  <a:srgbClr val="111827"/>
                </a:solidFill>
              </a:rPr>
              <a:t>S</a:t>
            </a:r>
            <a:r>
              <a:rPr sz="1725" b="1" i="0">
                <a:solidFill>
                  <a:srgbClr val="111827"/>
                </a:solidFill>
              </a:rPr>
              <a:t>ymptom Relief</a:t>
            </a:r>
          </a:p>
        </p:txBody>
      </p:sp>
      <p:sp>
        <p:nvSpPr>
          <p:cNvPr id="20" name="summary-copy-2">
            <a:extLst>
              <a:ext uri="{FF2B5EF4-FFF2-40B4-BE49-F238E27FC236}">
                <a16:creationId xmlns:a16="http://schemas.microsoft.com/office/drawing/2014/main" id="{333E684C-1133-456A-B547-54C1067263FB}"/>
              </a:ext>
            </a:extLst>
          </p:cNvPr>
          <p:cNvSpPr>
            <a:spLocks noGrp="1"/>
          </p:cNvSpPr>
          <p:nvPr/>
        </p:nvSpPr>
        <p:spPr>
          <a:xfrm>
            <a:off x="7239000" y="3629025"/>
            <a:ext cx="4000500" cy="5524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Randomized primary assignment effects remained small across follow-up.</a:t>
            </a:r>
          </a:p>
        </p:txBody>
      </p:sp>
      <p:sp>
        <p:nvSpPr>
          <p:cNvPr id="21" name="summary-rule-2">
            <a:extLst>
              <a:ext uri="{FF2B5EF4-FFF2-40B4-BE49-F238E27FC236}">
                <a16:creationId xmlns:a16="http://schemas.microsoft.com/office/drawing/2014/main" id="{87FD0E88-1407-4F04-A621-EA1390393332}"/>
              </a:ext>
            </a:extLst>
          </p:cNvPr>
          <p:cNvSpPr>
            <a:spLocks noGrp="1"/>
          </p:cNvSpPr>
          <p:nvPr/>
        </p:nvSpPr>
        <p:spPr>
          <a:xfrm>
            <a:off x="2047875" y="4324350"/>
            <a:ext cx="9191625" cy="9525"/>
          </a:xfrm>
          <a:prstGeom prst="rect">
            <a:avLst/>
          </a:prstGeom>
          <a:solidFill>
            <a:srgbClr val="E5E7EB"/>
          </a:solidFill>
          <a:ln w="0">
            <a:solidFill>
              <a:srgbClr val="E5E7EB"/>
            </a:solidFill>
            <a:prstDash val="solid"/>
          </a:ln>
        </p:spPr>
        <p:txBody>
          <a:bodyPr/>
          <a:lstStyle/>
          <a:p>
            <a:endParaRPr/>
          </a:p>
        </p:txBody>
      </p:sp>
      <p:sp>
        <p:nvSpPr>
          <p:cNvPr id="22" name="summary-n-3">
            <a:extLst>
              <a:ext uri="{FF2B5EF4-FFF2-40B4-BE49-F238E27FC236}">
                <a16:creationId xmlns:a16="http://schemas.microsoft.com/office/drawing/2014/main" id="{B20E5CEB-B76B-4A23-8A16-F2B176F76A80}"/>
              </a:ext>
            </a:extLst>
          </p:cNvPr>
          <p:cNvSpPr>
            <a:spLocks noGrp="1"/>
          </p:cNvSpPr>
          <p:nvPr/>
        </p:nvSpPr>
        <p:spPr>
          <a:xfrm>
            <a:off x="609600" y="4581525"/>
            <a:ext cx="552450" cy="457200"/>
          </a:xfrm>
          <a:prstGeom prst="rect">
            <a:avLst/>
          </a:prstGeom>
          <a:noFill/>
          <a:ln w="0">
            <a:noFill/>
            <a:prstDash val="solid"/>
          </a:ln>
        </p:spPr>
        <p:txBody>
          <a:bodyPr lIns="0" tIns="0" rIns="0" bIns="0" anchor="ctr">
            <a:noAutofit/>
          </a:bodyPr>
          <a:lstStyle/>
          <a:p>
            <a:pPr algn="ctr">
              <a:buNone/>
              <a:defRPr sz="2025" b="1" i="0">
                <a:solidFill>
                  <a:srgbClr val="1F4E79"/>
                </a:solidFill>
              </a:defRPr>
            </a:pPr>
            <a:r>
              <a:rPr sz="2025" b="1" i="0">
                <a:solidFill>
                  <a:srgbClr val="1F4E79"/>
                </a:solidFill>
              </a:rPr>
              <a:t>04</a:t>
            </a:r>
          </a:p>
        </p:txBody>
      </p:sp>
      <p:sp>
        <p:nvSpPr>
          <p:cNvPr id="23" name="summary-accent-3">
            <a:extLst>
              <a:ext uri="{FF2B5EF4-FFF2-40B4-BE49-F238E27FC236}">
                <a16:creationId xmlns:a16="http://schemas.microsoft.com/office/drawing/2014/main" id="{9165A43F-E812-469B-B1F3-CAB1FE9B6C4D}"/>
              </a:ext>
            </a:extLst>
          </p:cNvPr>
          <p:cNvSpPr>
            <a:spLocks noGrp="1"/>
          </p:cNvSpPr>
          <p:nvPr/>
        </p:nvSpPr>
        <p:spPr>
          <a:xfrm>
            <a:off x="1352550" y="4800600"/>
            <a:ext cx="428625" cy="9525"/>
          </a:xfrm>
          <a:prstGeom prst="rect">
            <a:avLst/>
          </a:prstGeom>
          <a:solidFill>
            <a:srgbClr val="E5E7EB"/>
          </a:solidFill>
          <a:ln w="0">
            <a:solidFill>
              <a:srgbClr val="E5E7EB"/>
            </a:solidFill>
            <a:prstDash val="solid"/>
          </a:ln>
        </p:spPr>
        <p:txBody>
          <a:bodyPr/>
          <a:lstStyle/>
          <a:p>
            <a:endParaRPr/>
          </a:p>
        </p:txBody>
      </p:sp>
      <p:sp>
        <p:nvSpPr>
          <p:cNvPr id="24" name="summary-label-3">
            <a:extLst>
              <a:ext uri="{FF2B5EF4-FFF2-40B4-BE49-F238E27FC236}">
                <a16:creationId xmlns:a16="http://schemas.microsoft.com/office/drawing/2014/main" id="{5D00073D-7080-4C9E-843D-A66CD54F240D}"/>
              </a:ext>
            </a:extLst>
          </p:cNvPr>
          <p:cNvSpPr>
            <a:spLocks noGrp="1"/>
          </p:cNvSpPr>
          <p:nvPr/>
        </p:nvSpPr>
        <p:spPr>
          <a:xfrm>
            <a:off x="2047875" y="4505325"/>
            <a:ext cx="1714500" cy="228600"/>
          </a:xfrm>
          <a:prstGeom prst="rect">
            <a:avLst/>
          </a:prstGeom>
          <a:noFill/>
          <a:ln w="0">
            <a:noFill/>
            <a:prstDash val="solid"/>
          </a:ln>
        </p:spPr>
        <p:txBody>
          <a:bodyPr lIns="0" tIns="0" rIns="0" bIns="0" anchor="ctr">
            <a:noAutofit/>
          </a:bodyPr>
          <a:lstStyle/>
          <a:p>
            <a:pPr algn="l">
              <a:buNone/>
              <a:defRPr sz="900" b="1" i="0">
                <a:solidFill>
                  <a:srgbClr val="1F4E79"/>
                </a:solidFill>
              </a:defRPr>
            </a:pPr>
            <a:r>
              <a:rPr sz="1100" b="1" i="0">
                <a:solidFill>
                  <a:srgbClr val="1F4E79"/>
                </a:solidFill>
              </a:rPr>
              <a:t>INTERPRETATION</a:t>
            </a:r>
          </a:p>
        </p:txBody>
      </p:sp>
      <p:sp>
        <p:nvSpPr>
          <p:cNvPr id="25" name="summary-head-3">
            <a:extLst>
              <a:ext uri="{FF2B5EF4-FFF2-40B4-BE49-F238E27FC236}">
                <a16:creationId xmlns:a16="http://schemas.microsoft.com/office/drawing/2014/main" id="{5F0F332B-B690-478F-B44D-DFC0301AFA3F}"/>
              </a:ext>
            </a:extLst>
          </p:cNvPr>
          <p:cNvSpPr>
            <a:spLocks noGrp="1"/>
          </p:cNvSpPr>
          <p:nvPr/>
        </p:nvSpPr>
        <p:spPr>
          <a:xfrm>
            <a:off x="2047875" y="4762500"/>
            <a:ext cx="4953000" cy="333375"/>
          </a:xfrm>
          <a:prstGeom prst="rect">
            <a:avLst/>
          </a:prstGeom>
          <a:noFill/>
          <a:ln w="0">
            <a:noFill/>
            <a:prstDash val="solid"/>
          </a:ln>
        </p:spPr>
        <p:txBody>
          <a:bodyPr lIns="0" tIns="0" rIns="0" bIns="0" anchor="ctr">
            <a:noAutofit/>
          </a:bodyPr>
          <a:lstStyle/>
          <a:p>
            <a:pPr algn="l">
              <a:buNone/>
              <a:defRPr sz="1725" b="1" i="0">
                <a:solidFill>
                  <a:srgbClr val="111827"/>
                </a:solidFill>
              </a:defRPr>
            </a:pPr>
            <a:r>
              <a:rPr sz="1725" b="1" i="0">
                <a:solidFill>
                  <a:srgbClr val="111827"/>
                </a:solidFill>
              </a:rPr>
              <a:t>Early Crossover </a:t>
            </a:r>
            <a:r>
              <a:rPr sz="1725" b="1">
                <a:solidFill>
                  <a:srgbClr val="111827"/>
                </a:solidFill>
              </a:rPr>
              <a:t>L</a:t>
            </a:r>
            <a:r>
              <a:rPr sz="1725" b="1" i="0">
                <a:solidFill>
                  <a:srgbClr val="111827"/>
                </a:solidFill>
              </a:rPr>
              <a:t>imited </a:t>
            </a:r>
            <a:r>
              <a:rPr sz="1725" b="1">
                <a:solidFill>
                  <a:srgbClr val="111827"/>
                </a:solidFill>
              </a:rPr>
              <a:t>T</a:t>
            </a:r>
            <a:r>
              <a:rPr sz="1725" b="1" i="0">
                <a:solidFill>
                  <a:srgbClr val="111827"/>
                </a:solidFill>
              </a:rPr>
              <a:t>reatment </a:t>
            </a:r>
            <a:r>
              <a:rPr sz="1725" b="1">
                <a:solidFill>
                  <a:srgbClr val="111827"/>
                </a:solidFill>
              </a:rPr>
              <a:t>S</a:t>
            </a:r>
            <a:r>
              <a:rPr sz="1725" b="1" i="0">
                <a:solidFill>
                  <a:srgbClr val="111827"/>
                </a:solidFill>
              </a:rPr>
              <a:t>eparation</a:t>
            </a:r>
          </a:p>
        </p:txBody>
      </p:sp>
      <p:sp>
        <p:nvSpPr>
          <p:cNvPr id="26" name="summary-copy-3">
            <a:extLst>
              <a:ext uri="{FF2B5EF4-FFF2-40B4-BE49-F238E27FC236}">
                <a16:creationId xmlns:a16="http://schemas.microsoft.com/office/drawing/2014/main" id="{65E5C00C-201A-4B01-86C1-D46418FC7A93}"/>
              </a:ext>
            </a:extLst>
          </p:cNvPr>
          <p:cNvSpPr>
            <a:spLocks noGrp="1"/>
          </p:cNvSpPr>
          <p:nvPr/>
        </p:nvSpPr>
        <p:spPr>
          <a:xfrm>
            <a:off x="7239000" y="4591050"/>
            <a:ext cx="4000500" cy="552450"/>
          </a:xfrm>
          <a:prstGeom prst="rect">
            <a:avLst/>
          </a:prstGeom>
          <a:noFill/>
          <a:ln w="0">
            <a:noFill/>
            <a:prstDash val="solid"/>
          </a:ln>
        </p:spPr>
        <p:txBody>
          <a:bodyPr lIns="0" tIns="0" rIns="0" bIns="0" anchor="ctr">
            <a:noAutofit/>
          </a:bodyPr>
          <a:lstStyle/>
          <a:p>
            <a:pPr algn="l">
              <a:buNone/>
              <a:defRPr sz="1350" b="0" i="0">
                <a:solidFill>
                  <a:srgbClr val="111827"/>
                </a:solidFill>
              </a:defRPr>
            </a:pPr>
            <a:r>
              <a:rPr sz="1350" b="0" i="0">
                <a:solidFill>
                  <a:srgbClr val="111827"/>
                </a:solidFill>
              </a:rPr>
              <a:t>Use shared decision-making based on disability, recovery goals, and procedural risk.</a:t>
            </a:r>
          </a:p>
        </p:txBody>
      </p:sp>
      <p:sp>
        <p:nvSpPr>
          <p:cNvPr id="29" name="footer-rule-13">
            <a:extLst>
              <a:ext uri="{FF2B5EF4-FFF2-40B4-BE49-F238E27FC236}">
                <a16:creationId xmlns:a16="http://schemas.microsoft.com/office/drawing/2014/main" id="{B1E942DD-3101-4E2D-A107-0C58D2425964}"/>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31" name="num-13">
            <a:extLst>
              <a:ext uri="{FF2B5EF4-FFF2-40B4-BE49-F238E27FC236}">
                <a16:creationId xmlns:a16="http://schemas.microsoft.com/office/drawing/2014/main" id="{BD5C0CDF-481B-43F2-84FB-014D0418B229}"/>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13</a:t>
            </a:r>
          </a:p>
        </p:txBody>
      </p:sp>
    </p:spTree>
    <p:extLst>
      <p:ext uri="{BB962C8B-B14F-4D97-AF65-F5344CB8AC3E}">
        <p14:creationId xmlns:p14="http://schemas.microsoft.com/office/powerpoint/2010/main" val="280098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1" name="title-14">
            <a:extLst>
              <a:ext uri="{FF2B5EF4-FFF2-40B4-BE49-F238E27FC236}">
                <a16:creationId xmlns:a16="http://schemas.microsoft.com/office/drawing/2014/main" id="{F93C0888-65C6-48AD-9839-0C6D76BBE142}"/>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Backup · Eligibility Criteria</a:t>
            </a:r>
          </a:p>
        </p:txBody>
      </p:sp>
      <p:sp>
        <p:nvSpPr>
          <p:cNvPr id="2" name="title-rule-14">
            <a:extLst>
              <a:ext uri="{FF2B5EF4-FFF2-40B4-BE49-F238E27FC236}">
                <a16:creationId xmlns:a16="http://schemas.microsoft.com/office/drawing/2014/main" id="{1F5F2697-3436-49E6-8404-8A62E4C13C82}"/>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incl-head">
            <a:extLst>
              <a:ext uri="{FF2B5EF4-FFF2-40B4-BE49-F238E27FC236}">
                <a16:creationId xmlns:a16="http://schemas.microsoft.com/office/drawing/2014/main" id="{1AD6B9FD-6D64-40F6-8D03-1D245987E532}"/>
              </a:ext>
            </a:extLst>
          </p:cNvPr>
          <p:cNvSpPr>
            <a:spLocks noGrp="1"/>
          </p:cNvSpPr>
          <p:nvPr/>
        </p:nvSpPr>
        <p:spPr>
          <a:xfrm>
            <a:off x="609600" y="1571625"/>
            <a:ext cx="4429125" cy="247650"/>
          </a:xfrm>
          <a:prstGeom prst="rect">
            <a:avLst/>
          </a:prstGeom>
          <a:noFill/>
          <a:ln w="0">
            <a:noFill/>
            <a:prstDash val="solid"/>
          </a:ln>
        </p:spPr>
        <p:txBody>
          <a:bodyPr lIns="0" tIns="0" rIns="0" bIns="0" anchor="ctr">
            <a:noAutofit/>
          </a:bodyPr>
          <a:lstStyle/>
          <a:p>
            <a:pPr algn="l">
              <a:buNone/>
              <a:defRPr sz="975" b="1" i="0">
                <a:solidFill>
                  <a:srgbClr val="1F4E79"/>
                </a:solidFill>
              </a:defRPr>
            </a:pPr>
            <a:r>
              <a:rPr sz="975" b="1" i="0">
                <a:solidFill>
                  <a:srgbClr val="1F4E79"/>
                </a:solidFill>
              </a:rPr>
              <a:t>REQUIRED</a:t>
            </a:r>
          </a:p>
        </p:txBody>
      </p:sp>
      <p:sp>
        <p:nvSpPr>
          <p:cNvPr id="4" name="excl-head">
            <a:extLst>
              <a:ext uri="{FF2B5EF4-FFF2-40B4-BE49-F238E27FC236}">
                <a16:creationId xmlns:a16="http://schemas.microsoft.com/office/drawing/2014/main" id="{3AECBA61-7AC8-4E8E-BA99-2A4AB3D83058}"/>
              </a:ext>
            </a:extLst>
          </p:cNvPr>
          <p:cNvSpPr>
            <a:spLocks noGrp="1"/>
          </p:cNvSpPr>
          <p:nvPr/>
        </p:nvSpPr>
        <p:spPr>
          <a:xfrm>
            <a:off x="6334125" y="1571625"/>
            <a:ext cx="4905375" cy="247650"/>
          </a:xfrm>
          <a:prstGeom prst="rect">
            <a:avLst/>
          </a:prstGeom>
          <a:noFill/>
          <a:ln w="0">
            <a:noFill/>
            <a:prstDash val="solid"/>
          </a:ln>
        </p:spPr>
        <p:txBody>
          <a:bodyPr lIns="0" tIns="0" rIns="0" bIns="0" anchor="ctr">
            <a:noAutofit/>
          </a:bodyPr>
          <a:lstStyle/>
          <a:p>
            <a:pPr algn="l">
              <a:buNone/>
              <a:defRPr sz="975" b="1" i="0">
                <a:solidFill>
                  <a:srgbClr val="B71C3A"/>
                </a:solidFill>
              </a:defRPr>
            </a:pPr>
            <a:r>
              <a:rPr sz="975" b="1" i="0">
                <a:solidFill>
                  <a:srgbClr val="B71C3A"/>
                </a:solidFill>
              </a:rPr>
              <a:t>EXCLUDED / OUTSIDE THE TRIAL</a:t>
            </a:r>
          </a:p>
        </p:txBody>
      </p:sp>
      <p:sp>
        <p:nvSpPr>
          <p:cNvPr id="5" name="elig-center">
            <a:extLst>
              <a:ext uri="{FF2B5EF4-FFF2-40B4-BE49-F238E27FC236}">
                <a16:creationId xmlns:a16="http://schemas.microsoft.com/office/drawing/2014/main" id="{38B2F122-ACFA-43AF-85CC-7A9D7A6B9455}"/>
              </a:ext>
            </a:extLst>
          </p:cNvPr>
          <p:cNvSpPr>
            <a:spLocks noGrp="1"/>
          </p:cNvSpPr>
          <p:nvPr/>
        </p:nvSpPr>
        <p:spPr>
          <a:xfrm>
            <a:off x="5810250" y="1571625"/>
            <a:ext cx="28575" cy="4238625"/>
          </a:xfrm>
          <a:prstGeom prst="rect">
            <a:avLst/>
          </a:prstGeom>
          <a:solidFill>
            <a:srgbClr val="E5E7EB"/>
          </a:solidFill>
          <a:ln w="0">
            <a:solidFill>
              <a:srgbClr val="E5E7EB"/>
            </a:solidFill>
            <a:prstDash val="solid"/>
          </a:ln>
        </p:spPr>
        <p:txBody>
          <a:bodyPr/>
          <a:lstStyle/>
          <a:p>
            <a:endParaRPr/>
          </a:p>
        </p:txBody>
      </p:sp>
      <p:sp>
        <p:nvSpPr>
          <p:cNvPr id="6" name="inc-dot-0">
            <a:extLst>
              <a:ext uri="{FF2B5EF4-FFF2-40B4-BE49-F238E27FC236}">
                <a16:creationId xmlns:a16="http://schemas.microsoft.com/office/drawing/2014/main" id="{1023FE57-EF60-4DFA-8356-D7F991FC662C}"/>
              </a:ext>
            </a:extLst>
          </p:cNvPr>
          <p:cNvSpPr>
            <a:spLocks noGrp="1"/>
          </p:cNvSpPr>
          <p:nvPr/>
        </p:nvSpPr>
        <p:spPr>
          <a:xfrm>
            <a:off x="723900" y="2114550"/>
            <a:ext cx="114300" cy="114300"/>
          </a:xfrm>
          <a:prstGeom prst="ellipse">
            <a:avLst/>
          </a:prstGeom>
          <a:solidFill>
            <a:srgbClr val="1F4E79"/>
          </a:solidFill>
          <a:ln w="0">
            <a:solidFill>
              <a:srgbClr val="1F4E79"/>
            </a:solidFill>
            <a:prstDash val="solid"/>
          </a:ln>
        </p:spPr>
        <p:txBody>
          <a:bodyPr/>
          <a:lstStyle/>
          <a:p>
            <a:endParaRPr/>
          </a:p>
        </p:txBody>
      </p:sp>
      <p:sp>
        <p:nvSpPr>
          <p:cNvPr id="7" name="inc-0">
            <a:extLst>
              <a:ext uri="{FF2B5EF4-FFF2-40B4-BE49-F238E27FC236}">
                <a16:creationId xmlns:a16="http://schemas.microsoft.com/office/drawing/2014/main" id="{16464618-C2EF-4793-99F4-BA881A9B7B49}"/>
              </a:ext>
            </a:extLst>
          </p:cNvPr>
          <p:cNvSpPr>
            <a:spLocks noGrp="1"/>
          </p:cNvSpPr>
          <p:nvPr/>
        </p:nvSpPr>
        <p:spPr>
          <a:xfrm>
            <a:off x="1066800" y="2000250"/>
            <a:ext cx="4095750" cy="476250"/>
          </a:xfrm>
          <a:prstGeom prst="rect">
            <a:avLst/>
          </a:prstGeom>
          <a:noFill/>
          <a:ln w="0">
            <a:noFill/>
            <a:prstDash val="solid"/>
          </a:ln>
        </p:spPr>
        <p:txBody>
          <a:bodyPr lIns="0" tIns="0" rIns="0" bIns="0" anchor="ctr">
            <a:noAutofit/>
          </a:bodyPr>
          <a:lstStyle/>
          <a:p>
            <a:pPr algn="l">
              <a:buNone/>
              <a:defRPr sz="1425" b="1" i="0">
                <a:solidFill>
                  <a:srgbClr val="111827"/>
                </a:solidFill>
              </a:defRPr>
            </a:pPr>
            <a:r>
              <a:rPr sz="1425" b="1" i="0">
                <a:solidFill>
                  <a:srgbClr val="111827"/>
                </a:solidFill>
              </a:rPr>
              <a:t>Radicular symptoms for ≥6 weeks</a:t>
            </a:r>
          </a:p>
        </p:txBody>
      </p:sp>
      <p:sp>
        <p:nvSpPr>
          <p:cNvPr id="8" name="inc-dot-1">
            <a:extLst>
              <a:ext uri="{FF2B5EF4-FFF2-40B4-BE49-F238E27FC236}">
                <a16:creationId xmlns:a16="http://schemas.microsoft.com/office/drawing/2014/main" id="{6A3CEA05-0ABF-4BDC-BE52-4B186EB900E6}"/>
              </a:ext>
            </a:extLst>
          </p:cNvPr>
          <p:cNvSpPr>
            <a:spLocks noGrp="1"/>
          </p:cNvSpPr>
          <p:nvPr/>
        </p:nvSpPr>
        <p:spPr>
          <a:xfrm>
            <a:off x="723900" y="2838450"/>
            <a:ext cx="114300" cy="114300"/>
          </a:xfrm>
          <a:prstGeom prst="ellipse">
            <a:avLst/>
          </a:prstGeom>
          <a:solidFill>
            <a:srgbClr val="1F4E79"/>
          </a:solidFill>
          <a:ln w="0">
            <a:solidFill>
              <a:srgbClr val="1F4E79"/>
            </a:solidFill>
            <a:prstDash val="solid"/>
          </a:ln>
        </p:spPr>
        <p:txBody>
          <a:bodyPr/>
          <a:lstStyle/>
          <a:p>
            <a:endParaRPr/>
          </a:p>
        </p:txBody>
      </p:sp>
      <p:sp>
        <p:nvSpPr>
          <p:cNvPr id="9" name="inc-1">
            <a:extLst>
              <a:ext uri="{FF2B5EF4-FFF2-40B4-BE49-F238E27FC236}">
                <a16:creationId xmlns:a16="http://schemas.microsoft.com/office/drawing/2014/main" id="{09189B64-FEF3-4A0C-AB31-152B0C361CD3}"/>
              </a:ext>
            </a:extLst>
          </p:cNvPr>
          <p:cNvSpPr>
            <a:spLocks noGrp="1"/>
          </p:cNvSpPr>
          <p:nvPr/>
        </p:nvSpPr>
        <p:spPr>
          <a:xfrm>
            <a:off x="1066800" y="2724150"/>
            <a:ext cx="4095750"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Straight-leg raise 30–70° or femoral tension sign</a:t>
            </a:r>
          </a:p>
        </p:txBody>
      </p:sp>
      <p:sp>
        <p:nvSpPr>
          <p:cNvPr id="10" name="inc-dot-2">
            <a:extLst>
              <a:ext uri="{FF2B5EF4-FFF2-40B4-BE49-F238E27FC236}">
                <a16:creationId xmlns:a16="http://schemas.microsoft.com/office/drawing/2014/main" id="{CA70DC19-9503-437E-8B3D-325904E7DB5D}"/>
              </a:ext>
            </a:extLst>
          </p:cNvPr>
          <p:cNvSpPr>
            <a:spLocks noGrp="1"/>
          </p:cNvSpPr>
          <p:nvPr/>
        </p:nvSpPr>
        <p:spPr>
          <a:xfrm>
            <a:off x="723900" y="3562350"/>
            <a:ext cx="114300" cy="114300"/>
          </a:xfrm>
          <a:prstGeom prst="ellipse">
            <a:avLst/>
          </a:prstGeom>
          <a:solidFill>
            <a:srgbClr val="1F4E79"/>
          </a:solidFill>
          <a:ln w="0">
            <a:solidFill>
              <a:srgbClr val="1F4E79"/>
            </a:solidFill>
            <a:prstDash val="solid"/>
          </a:ln>
        </p:spPr>
        <p:txBody>
          <a:bodyPr/>
          <a:lstStyle/>
          <a:p>
            <a:endParaRPr/>
          </a:p>
        </p:txBody>
      </p:sp>
      <p:sp>
        <p:nvSpPr>
          <p:cNvPr id="11" name="inc-2">
            <a:extLst>
              <a:ext uri="{FF2B5EF4-FFF2-40B4-BE49-F238E27FC236}">
                <a16:creationId xmlns:a16="http://schemas.microsoft.com/office/drawing/2014/main" id="{B332459F-9B9B-47EF-8B7A-018D77418FF1}"/>
              </a:ext>
            </a:extLst>
          </p:cNvPr>
          <p:cNvSpPr>
            <a:spLocks noGrp="1"/>
          </p:cNvSpPr>
          <p:nvPr/>
        </p:nvSpPr>
        <p:spPr>
          <a:xfrm>
            <a:off x="1066800" y="3448050"/>
            <a:ext cx="4095750"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Matching neurologic deficit accepted</a:t>
            </a:r>
          </a:p>
        </p:txBody>
      </p:sp>
      <p:sp>
        <p:nvSpPr>
          <p:cNvPr id="12" name="inc-dot-3">
            <a:extLst>
              <a:ext uri="{FF2B5EF4-FFF2-40B4-BE49-F238E27FC236}">
                <a16:creationId xmlns:a16="http://schemas.microsoft.com/office/drawing/2014/main" id="{B602F8E5-5C6E-4F2E-B8E9-E0913214BF18}"/>
              </a:ext>
            </a:extLst>
          </p:cNvPr>
          <p:cNvSpPr>
            <a:spLocks noGrp="1"/>
          </p:cNvSpPr>
          <p:nvPr/>
        </p:nvSpPr>
        <p:spPr>
          <a:xfrm>
            <a:off x="723900" y="4286250"/>
            <a:ext cx="114300" cy="114300"/>
          </a:xfrm>
          <a:prstGeom prst="ellipse">
            <a:avLst/>
          </a:prstGeom>
          <a:solidFill>
            <a:srgbClr val="1F4E79"/>
          </a:solidFill>
          <a:ln w="0">
            <a:solidFill>
              <a:srgbClr val="1F4E79"/>
            </a:solidFill>
            <a:prstDash val="solid"/>
          </a:ln>
        </p:spPr>
        <p:txBody>
          <a:bodyPr/>
          <a:lstStyle/>
          <a:p>
            <a:endParaRPr/>
          </a:p>
        </p:txBody>
      </p:sp>
      <p:sp>
        <p:nvSpPr>
          <p:cNvPr id="13" name="inc-3">
            <a:extLst>
              <a:ext uri="{FF2B5EF4-FFF2-40B4-BE49-F238E27FC236}">
                <a16:creationId xmlns:a16="http://schemas.microsoft.com/office/drawing/2014/main" id="{77C33B00-7FD8-4DB2-878A-19F93CDF74D4}"/>
              </a:ext>
            </a:extLst>
          </p:cNvPr>
          <p:cNvSpPr>
            <a:spLocks noGrp="1"/>
          </p:cNvSpPr>
          <p:nvPr/>
        </p:nvSpPr>
        <p:spPr>
          <a:xfrm>
            <a:off x="1066800" y="4171950"/>
            <a:ext cx="4095750"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Imaging concordant for side and level</a:t>
            </a:r>
          </a:p>
        </p:txBody>
      </p:sp>
      <p:sp>
        <p:nvSpPr>
          <p:cNvPr id="14" name="inc-dot-4">
            <a:extLst>
              <a:ext uri="{FF2B5EF4-FFF2-40B4-BE49-F238E27FC236}">
                <a16:creationId xmlns:a16="http://schemas.microsoft.com/office/drawing/2014/main" id="{8F4CE0D7-848A-4317-95A9-CB83F3A7A88C}"/>
              </a:ext>
            </a:extLst>
          </p:cNvPr>
          <p:cNvSpPr>
            <a:spLocks noGrp="1"/>
          </p:cNvSpPr>
          <p:nvPr/>
        </p:nvSpPr>
        <p:spPr>
          <a:xfrm>
            <a:off x="723900" y="5010150"/>
            <a:ext cx="114300" cy="114300"/>
          </a:xfrm>
          <a:prstGeom prst="ellipse">
            <a:avLst/>
          </a:prstGeom>
          <a:solidFill>
            <a:srgbClr val="1F4E79"/>
          </a:solidFill>
          <a:ln w="0">
            <a:solidFill>
              <a:srgbClr val="1F4E79"/>
            </a:solidFill>
            <a:prstDash val="solid"/>
          </a:ln>
        </p:spPr>
        <p:txBody>
          <a:bodyPr/>
          <a:lstStyle/>
          <a:p>
            <a:endParaRPr/>
          </a:p>
        </p:txBody>
      </p:sp>
      <p:sp>
        <p:nvSpPr>
          <p:cNvPr id="15" name="inc-4">
            <a:extLst>
              <a:ext uri="{FF2B5EF4-FFF2-40B4-BE49-F238E27FC236}">
                <a16:creationId xmlns:a16="http://schemas.microsoft.com/office/drawing/2014/main" id="{D36477DD-9334-47B4-BC34-9999E1F1566D}"/>
              </a:ext>
            </a:extLst>
          </p:cNvPr>
          <p:cNvSpPr>
            <a:spLocks noGrp="1"/>
          </p:cNvSpPr>
          <p:nvPr/>
        </p:nvSpPr>
        <p:spPr>
          <a:xfrm>
            <a:off x="1066800" y="4895850"/>
            <a:ext cx="4095750"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Elective surgical candidacy</a:t>
            </a:r>
          </a:p>
        </p:txBody>
      </p:sp>
      <p:sp>
        <p:nvSpPr>
          <p:cNvPr id="16" name="exc-dot-0">
            <a:extLst>
              <a:ext uri="{FF2B5EF4-FFF2-40B4-BE49-F238E27FC236}">
                <a16:creationId xmlns:a16="http://schemas.microsoft.com/office/drawing/2014/main" id="{223782D1-6F8D-4075-B408-4BE4BDB20976}"/>
              </a:ext>
            </a:extLst>
          </p:cNvPr>
          <p:cNvSpPr>
            <a:spLocks noGrp="1"/>
          </p:cNvSpPr>
          <p:nvPr/>
        </p:nvSpPr>
        <p:spPr>
          <a:xfrm>
            <a:off x="6448425" y="2114550"/>
            <a:ext cx="114300" cy="114300"/>
          </a:xfrm>
          <a:prstGeom prst="ellipse">
            <a:avLst/>
          </a:prstGeom>
          <a:solidFill>
            <a:srgbClr val="B71C3A"/>
          </a:solidFill>
          <a:ln w="0">
            <a:solidFill>
              <a:srgbClr val="B71C3A"/>
            </a:solidFill>
            <a:prstDash val="solid"/>
          </a:ln>
        </p:spPr>
        <p:txBody>
          <a:bodyPr/>
          <a:lstStyle/>
          <a:p>
            <a:endParaRPr/>
          </a:p>
        </p:txBody>
      </p:sp>
      <p:sp>
        <p:nvSpPr>
          <p:cNvPr id="17" name="exc-0">
            <a:extLst>
              <a:ext uri="{FF2B5EF4-FFF2-40B4-BE49-F238E27FC236}">
                <a16:creationId xmlns:a16="http://schemas.microsoft.com/office/drawing/2014/main" id="{9480D193-ECF9-4477-BDA0-20A47E99AC01}"/>
              </a:ext>
            </a:extLst>
          </p:cNvPr>
          <p:cNvSpPr>
            <a:spLocks noGrp="1"/>
          </p:cNvSpPr>
          <p:nvPr/>
        </p:nvSpPr>
        <p:spPr>
          <a:xfrm>
            <a:off x="6791325" y="2000250"/>
            <a:ext cx="4333875"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Prior lumbar surgery</a:t>
            </a:r>
          </a:p>
        </p:txBody>
      </p:sp>
      <p:sp>
        <p:nvSpPr>
          <p:cNvPr id="18" name="exc-dot-1">
            <a:extLst>
              <a:ext uri="{FF2B5EF4-FFF2-40B4-BE49-F238E27FC236}">
                <a16:creationId xmlns:a16="http://schemas.microsoft.com/office/drawing/2014/main" id="{A1281466-4473-4CEA-ABD7-EB9F9DCB37B4}"/>
              </a:ext>
            </a:extLst>
          </p:cNvPr>
          <p:cNvSpPr>
            <a:spLocks noGrp="1"/>
          </p:cNvSpPr>
          <p:nvPr/>
        </p:nvSpPr>
        <p:spPr>
          <a:xfrm>
            <a:off x="6448425" y="2838450"/>
            <a:ext cx="114300" cy="114300"/>
          </a:xfrm>
          <a:prstGeom prst="ellipse">
            <a:avLst/>
          </a:prstGeom>
          <a:solidFill>
            <a:srgbClr val="B71C3A"/>
          </a:solidFill>
          <a:ln w="0">
            <a:solidFill>
              <a:srgbClr val="B71C3A"/>
            </a:solidFill>
            <a:prstDash val="solid"/>
          </a:ln>
        </p:spPr>
        <p:txBody>
          <a:bodyPr/>
          <a:lstStyle/>
          <a:p>
            <a:endParaRPr/>
          </a:p>
        </p:txBody>
      </p:sp>
      <p:sp>
        <p:nvSpPr>
          <p:cNvPr id="19" name="exc-1">
            <a:extLst>
              <a:ext uri="{FF2B5EF4-FFF2-40B4-BE49-F238E27FC236}">
                <a16:creationId xmlns:a16="http://schemas.microsoft.com/office/drawing/2014/main" id="{F90CEFFF-D797-4589-923E-D60DB0638B4F}"/>
              </a:ext>
            </a:extLst>
          </p:cNvPr>
          <p:cNvSpPr>
            <a:spLocks noGrp="1"/>
          </p:cNvSpPr>
          <p:nvPr/>
        </p:nvSpPr>
        <p:spPr>
          <a:xfrm>
            <a:off x="6791325" y="2724150"/>
            <a:ext cx="4333875" cy="476250"/>
          </a:xfrm>
          <a:prstGeom prst="rect">
            <a:avLst/>
          </a:prstGeom>
          <a:noFill/>
          <a:ln w="0">
            <a:noFill/>
            <a:prstDash val="solid"/>
          </a:ln>
        </p:spPr>
        <p:txBody>
          <a:bodyPr lIns="0" tIns="0" rIns="0" bIns="0" anchor="ctr">
            <a:noAutofit/>
          </a:bodyPr>
          <a:lstStyle/>
          <a:p>
            <a:pPr algn="l">
              <a:buNone/>
              <a:defRPr sz="1425" b="1" i="0">
                <a:solidFill>
                  <a:srgbClr val="111827"/>
                </a:solidFill>
              </a:defRPr>
            </a:pPr>
            <a:r>
              <a:rPr sz="1425" b="1" i="0">
                <a:solidFill>
                  <a:srgbClr val="111827"/>
                </a:solidFill>
              </a:rPr>
              <a:t>Cauda equina syndrome</a:t>
            </a:r>
          </a:p>
        </p:txBody>
      </p:sp>
      <p:sp>
        <p:nvSpPr>
          <p:cNvPr id="20" name="exc-dot-2">
            <a:extLst>
              <a:ext uri="{FF2B5EF4-FFF2-40B4-BE49-F238E27FC236}">
                <a16:creationId xmlns:a16="http://schemas.microsoft.com/office/drawing/2014/main" id="{78F420C0-A9A8-4A80-A6CF-8CC987CA2E39}"/>
              </a:ext>
            </a:extLst>
          </p:cNvPr>
          <p:cNvSpPr>
            <a:spLocks noGrp="1"/>
          </p:cNvSpPr>
          <p:nvPr/>
        </p:nvSpPr>
        <p:spPr>
          <a:xfrm>
            <a:off x="6448425" y="3562350"/>
            <a:ext cx="114300" cy="114300"/>
          </a:xfrm>
          <a:prstGeom prst="ellipse">
            <a:avLst/>
          </a:prstGeom>
          <a:solidFill>
            <a:srgbClr val="B71C3A"/>
          </a:solidFill>
          <a:ln w="0">
            <a:solidFill>
              <a:srgbClr val="B71C3A"/>
            </a:solidFill>
            <a:prstDash val="solid"/>
          </a:ln>
        </p:spPr>
        <p:txBody>
          <a:bodyPr/>
          <a:lstStyle/>
          <a:p>
            <a:endParaRPr/>
          </a:p>
        </p:txBody>
      </p:sp>
      <p:sp>
        <p:nvSpPr>
          <p:cNvPr id="21" name="exc-2">
            <a:extLst>
              <a:ext uri="{FF2B5EF4-FFF2-40B4-BE49-F238E27FC236}">
                <a16:creationId xmlns:a16="http://schemas.microsoft.com/office/drawing/2014/main" id="{82E6E8A1-1554-4720-B8E8-7911158747B7}"/>
              </a:ext>
            </a:extLst>
          </p:cNvPr>
          <p:cNvSpPr>
            <a:spLocks noGrp="1"/>
          </p:cNvSpPr>
          <p:nvPr/>
        </p:nvSpPr>
        <p:spPr>
          <a:xfrm>
            <a:off x="6791325" y="3448050"/>
            <a:ext cx="4333875"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Instability or scoliosis &gt;15°</a:t>
            </a:r>
          </a:p>
        </p:txBody>
      </p:sp>
      <p:sp>
        <p:nvSpPr>
          <p:cNvPr id="22" name="exc-dot-3">
            <a:extLst>
              <a:ext uri="{FF2B5EF4-FFF2-40B4-BE49-F238E27FC236}">
                <a16:creationId xmlns:a16="http://schemas.microsoft.com/office/drawing/2014/main" id="{AA12DB2E-31B2-4B19-A293-E857F7C878BB}"/>
              </a:ext>
            </a:extLst>
          </p:cNvPr>
          <p:cNvSpPr>
            <a:spLocks noGrp="1"/>
          </p:cNvSpPr>
          <p:nvPr/>
        </p:nvSpPr>
        <p:spPr>
          <a:xfrm>
            <a:off x="6448425" y="4286250"/>
            <a:ext cx="114300" cy="114300"/>
          </a:xfrm>
          <a:prstGeom prst="ellipse">
            <a:avLst/>
          </a:prstGeom>
          <a:solidFill>
            <a:srgbClr val="B71C3A"/>
          </a:solidFill>
          <a:ln w="0">
            <a:solidFill>
              <a:srgbClr val="B71C3A"/>
            </a:solidFill>
            <a:prstDash val="solid"/>
          </a:ln>
        </p:spPr>
        <p:txBody>
          <a:bodyPr/>
          <a:lstStyle/>
          <a:p>
            <a:endParaRPr/>
          </a:p>
        </p:txBody>
      </p:sp>
      <p:sp>
        <p:nvSpPr>
          <p:cNvPr id="23" name="exc-3">
            <a:extLst>
              <a:ext uri="{FF2B5EF4-FFF2-40B4-BE49-F238E27FC236}">
                <a16:creationId xmlns:a16="http://schemas.microsoft.com/office/drawing/2014/main" id="{F4CE427A-92A7-49FD-A728-298AD1D41791}"/>
              </a:ext>
            </a:extLst>
          </p:cNvPr>
          <p:cNvSpPr>
            <a:spLocks noGrp="1"/>
          </p:cNvSpPr>
          <p:nvPr/>
        </p:nvSpPr>
        <p:spPr>
          <a:xfrm>
            <a:off x="6791325" y="4171950"/>
            <a:ext cx="4333875"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Fracture, infection, tumor, inflammatory disease</a:t>
            </a:r>
          </a:p>
        </p:txBody>
      </p:sp>
      <p:sp>
        <p:nvSpPr>
          <p:cNvPr id="24" name="exc-dot-4">
            <a:extLst>
              <a:ext uri="{FF2B5EF4-FFF2-40B4-BE49-F238E27FC236}">
                <a16:creationId xmlns:a16="http://schemas.microsoft.com/office/drawing/2014/main" id="{FB68427E-D79A-4B18-8DA8-A893FFBB7448}"/>
              </a:ext>
            </a:extLst>
          </p:cNvPr>
          <p:cNvSpPr>
            <a:spLocks noGrp="1"/>
          </p:cNvSpPr>
          <p:nvPr/>
        </p:nvSpPr>
        <p:spPr>
          <a:xfrm>
            <a:off x="6448425" y="5010150"/>
            <a:ext cx="114300" cy="114300"/>
          </a:xfrm>
          <a:prstGeom prst="ellipse">
            <a:avLst/>
          </a:prstGeom>
          <a:solidFill>
            <a:srgbClr val="B71C3A"/>
          </a:solidFill>
          <a:ln w="0">
            <a:solidFill>
              <a:srgbClr val="B71C3A"/>
            </a:solidFill>
            <a:prstDash val="solid"/>
          </a:ln>
        </p:spPr>
        <p:txBody>
          <a:bodyPr/>
          <a:lstStyle/>
          <a:p>
            <a:endParaRPr/>
          </a:p>
        </p:txBody>
      </p:sp>
      <p:sp>
        <p:nvSpPr>
          <p:cNvPr id="25" name="exc-4">
            <a:extLst>
              <a:ext uri="{FF2B5EF4-FFF2-40B4-BE49-F238E27FC236}">
                <a16:creationId xmlns:a16="http://schemas.microsoft.com/office/drawing/2014/main" id="{786DA73E-41FC-4D78-81EB-2DC01B9BB1A0}"/>
              </a:ext>
            </a:extLst>
          </p:cNvPr>
          <p:cNvSpPr>
            <a:spLocks noGrp="1"/>
          </p:cNvSpPr>
          <p:nvPr/>
        </p:nvSpPr>
        <p:spPr>
          <a:xfrm>
            <a:off x="6791325" y="4895850"/>
            <a:ext cx="4333875" cy="476250"/>
          </a:xfrm>
          <a:prstGeom prst="rect">
            <a:avLst/>
          </a:prstGeom>
          <a:noFill/>
          <a:ln w="0">
            <a:noFill/>
            <a:prstDash val="solid"/>
          </a:ln>
        </p:spPr>
        <p:txBody>
          <a:bodyPr lIns="0" tIns="0" rIns="0" bIns="0" anchor="ctr">
            <a:noAutofit/>
          </a:bodyPr>
          <a:lstStyle/>
          <a:p>
            <a:pPr algn="l">
              <a:buNone/>
              <a:defRPr sz="1425" b="0" i="0">
                <a:solidFill>
                  <a:srgbClr val="111827"/>
                </a:solidFill>
              </a:defRPr>
            </a:pPr>
            <a:r>
              <a:rPr sz="1425" b="0" i="0">
                <a:solidFill>
                  <a:srgbClr val="111827"/>
                </a:solidFill>
              </a:rPr>
              <a:t>Pregnancy or surgical contraindication</a:t>
            </a:r>
          </a:p>
        </p:txBody>
      </p:sp>
      <p:sp>
        <p:nvSpPr>
          <p:cNvPr id="26" name="elig-bottom-rule">
            <a:extLst>
              <a:ext uri="{FF2B5EF4-FFF2-40B4-BE49-F238E27FC236}">
                <a16:creationId xmlns:a16="http://schemas.microsoft.com/office/drawing/2014/main" id="{DA306EC8-7331-487B-8F21-6854697EB759}"/>
              </a:ext>
            </a:extLst>
          </p:cNvPr>
          <p:cNvSpPr>
            <a:spLocks noGrp="1"/>
          </p:cNvSpPr>
          <p:nvPr/>
        </p:nvSpPr>
        <p:spPr>
          <a:xfrm>
            <a:off x="609600" y="5562600"/>
            <a:ext cx="10629900" cy="9525"/>
          </a:xfrm>
          <a:prstGeom prst="rect">
            <a:avLst/>
          </a:prstGeom>
          <a:solidFill>
            <a:srgbClr val="E5E7EB"/>
          </a:solidFill>
          <a:ln w="0">
            <a:solidFill>
              <a:srgbClr val="E5E7EB"/>
            </a:solidFill>
            <a:prstDash val="solid"/>
          </a:ln>
        </p:spPr>
        <p:txBody>
          <a:bodyPr/>
          <a:lstStyle/>
          <a:p>
            <a:endParaRPr/>
          </a:p>
        </p:txBody>
      </p:sp>
      <p:sp>
        <p:nvSpPr>
          <p:cNvPr id="27" name="elig-bottom-text">
            <a:extLst>
              <a:ext uri="{FF2B5EF4-FFF2-40B4-BE49-F238E27FC236}">
                <a16:creationId xmlns:a16="http://schemas.microsoft.com/office/drawing/2014/main" id="{4E82131D-4ED8-4032-8F98-36715360AC13}"/>
              </a:ext>
            </a:extLst>
          </p:cNvPr>
          <p:cNvSpPr>
            <a:spLocks noGrp="1"/>
          </p:cNvSpPr>
          <p:nvPr/>
        </p:nvSpPr>
        <p:spPr>
          <a:xfrm>
            <a:off x="857250" y="5619750"/>
            <a:ext cx="10096500" cy="266700"/>
          </a:xfrm>
          <a:prstGeom prst="rect">
            <a:avLst/>
          </a:prstGeom>
          <a:noFill/>
          <a:ln w="0">
            <a:noFill/>
            <a:prstDash val="solid"/>
          </a:ln>
        </p:spPr>
        <p:txBody>
          <a:bodyPr lIns="0" tIns="0" rIns="0" bIns="0" anchor="ctr">
            <a:noAutofit/>
          </a:bodyPr>
          <a:lstStyle/>
          <a:p>
            <a:pPr algn="ctr">
              <a:buNone/>
              <a:defRPr sz="1350" b="1" i="0">
                <a:solidFill>
                  <a:srgbClr val="111827"/>
                </a:solidFill>
              </a:defRPr>
            </a:pPr>
            <a:r>
              <a:rPr sz="1350" b="1" i="0">
                <a:solidFill>
                  <a:srgbClr val="111827"/>
                </a:solidFill>
              </a:rPr>
              <a:t>Applicability: primary elective disk herniation with concordant clinical and imaging findings.</a:t>
            </a:r>
          </a:p>
        </p:txBody>
      </p:sp>
      <p:sp>
        <p:nvSpPr>
          <p:cNvPr id="28" name="footer-rule-14">
            <a:extLst>
              <a:ext uri="{FF2B5EF4-FFF2-40B4-BE49-F238E27FC236}">
                <a16:creationId xmlns:a16="http://schemas.microsoft.com/office/drawing/2014/main" id="{4EFF234E-CDEE-4B55-A1EA-FCABC434E48E}"/>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9" name="cite-14">
            <a:extLst>
              <a:ext uri="{FF2B5EF4-FFF2-40B4-BE49-F238E27FC236}">
                <a16:creationId xmlns:a16="http://schemas.microsoft.com/office/drawing/2014/main" id="{4706D991-5EB3-4651-A11E-EC2E1A162322}"/>
              </a:ext>
            </a:extLst>
          </p:cNvPr>
          <p:cNvSpPr>
            <a:spLocks noGrp="1"/>
          </p:cNvSpPr>
          <p:nvPr/>
        </p:nvSpPr>
        <p:spPr>
          <a:xfrm>
            <a:off x="609600" y="6267450"/>
            <a:ext cx="10334625" cy="171450"/>
          </a:xfrm>
          <a:prstGeom prst="rect">
            <a:avLst/>
          </a:prstGeom>
          <a:noFill/>
          <a:ln w="0">
            <a:noFill/>
            <a:prstDash val="solid"/>
          </a:ln>
        </p:spPr>
        <p:txBody>
          <a:bodyPr lIns="0" tIns="0" rIns="0" bIns="0" anchor="ctr">
            <a:noAutofit/>
          </a:bodyPr>
          <a:lstStyle/>
          <a:p>
            <a:pPr algn="l">
              <a:buNone/>
              <a:defRPr sz="750" b="0" i="0">
                <a:solidFill>
                  <a:srgbClr val="4B5563"/>
                </a:solidFill>
              </a:defRPr>
            </a:pPr>
            <a:r>
              <a:rPr sz="750" b="0" i="0">
                <a:solidFill>
                  <a:srgbClr val="4B5563"/>
                </a:solidFill>
              </a:rPr>
              <a:t>SPORT randomized trial, Eligibility; pp 2442-2443.</a:t>
            </a:r>
          </a:p>
        </p:txBody>
      </p:sp>
      <p:sp>
        <p:nvSpPr>
          <p:cNvPr id="30" name="num-14">
            <a:extLst>
              <a:ext uri="{FF2B5EF4-FFF2-40B4-BE49-F238E27FC236}">
                <a16:creationId xmlns:a16="http://schemas.microsoft.com/office/drawing/2014/main" id="{5525146A-944B-45F4-B68C-1CF66DCE78CC}"/>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14</a:t>
            </a:r>
          </a:p>
        </p:txBody>
      </p:sp>
    </p:spTree>
    <p:extLst>
      <p:ext uri="{BB962C8B-B14F-4D97-AF65-F5344CB8AC3E}">
        <p14:creationId xmlns:p14="http://schemas.microsoft.com/office/powerpoint/2010/main" val="2083197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6" name="title-15">
            <a:extLst>
              <a:ext uri="{FF2B5EF4-FFF2-40B4-BE49-F238E27FC236}">
                <a16:creationId xmlns:a16="http://schemas.microsoft.com/office/drawing/2014/main" id="{F350A943-6582-4B2F-8F9F-1BB48723A8D9}"/>
              </a:ext>
            </a:extLst>
          </p:cNvPr>
          <p:cNvSpPr>
            <a:spLocks noGrp="1"/>
          </p:cNvSpPr>
          <p:nvPr/>
        </p:nvSpPr>
        <p:spPr>
          <a:xfrm>
            <a:off x="609600" y="295275"/>
            <a:ext cx="10858500" cy="552450"/>
          </a:xfrm>
          <a:prstGeom prst="rect">
            <a:avLst/>
          </a:prstGeom>
          <a:noFill/>
          <a:ln w="0">
            <a:noFill/>
            <a:prstDash val="solid"/>
          </a:ln>
        </p:spPr>
        <p:txBody>
          <a:bodyPr lIns="0" tIns="0" rIns="0" bIns="0" anchor="ctr">
            <a:noAutofit/>
          </a:bodyPr>
          <a:lstStyle/>
          <a:p>
            <a:pPr algn="l">
              <a:buNone/>
              <a:defRPr sz="2850" b="1" i="0">
                <a:solidFill>
                  <a:srgbClr val="111827"/>
                </a:solidFill>
              </a:defRPr>
            </a:pPr>
            <a:r>
              <a:rPr sz="2850" b="1" i="0">
                <a:solidFill>
                  <a:srgbClr val="111827"/>
                </a:solidFill>
              </a:rPr>
              <a:t>Subsequent Evidence</a:t>
            </a:r>
          </a:p>
        </p:txBody>
      </p:sp>
      <p:sp>
        <p:nvSpPr>
          <p:cNvPr id="2" name="title-rule-15">
            <a:extLst>
              <a:ext uri="{FF2B5EF4-FFF2-40B4-BE49-F238E27FC236}">
                <a16:creationId xmlns:a16="http://schemas.microsoft.com/office/drawing/2014/main" id="{301F0104-7473-460D-B162-AABCBE2FC4D1}"/>
              </a:ext>
            </a:extLst>
          </p:cNvPr>
          <p:cNvSpPr>
            <a:spLocks noGrp="1"/>
          </p:cNvSpPr>
          <p:nvPr/>
        </p:nvSpPr>
        <p:spPr>
          <a:xfrm>
            <a:off x="609600" y="904875"/>
            <a:ext cx="876300" cy="38100"/>
          </a:xfrm>
          <a:prstGeom prst="rect">
            <a:avLst/>
          </a:prstGeom>
          <a:solidFill>
            <a:srgbClr val="1F4E79"/>
          </a:solidFill>
          <a:ln w="0">
            <a:solidFill>
              <a:srgbClr val="1F4E79"/>
            </a:solidFill>
            <a:prstDash val="solid"/>
          </a:ln>
        </p:spPr>
        <p:txBody>
          <a:bodyPr/>
          <a:lstStyle/>
          <a:p>
            <a:endParaRPr/>
          </a:p>
        </p:txBody>
      </p:sp>
      <p:sp>
        <p:nvSpPr>
          <p:cNvPr id="3" name="evidence-separator-a">
            <a:extLst>
              <a:ext uri="{FF2B5EF4-FFF2-40B4-BE49-F238E27FC236}">
                <a16:creationId xmlns:a16="http://schemas.microsoft.com/office/drawing/2014/main" id="{05202B03-B6C0-4A33-BC2C-0DC2503301B7}"/>
              </a:ext>
            </a:extLst>
          </p:cNvPr>
          <p:cNvSpPr>
            <a:spLocks noGrp="1"/>
          </p:cNvSpPr>
          <p:nvPr/>
        </p:nvSpPr>
        <p:spPr>
          <a:xfrm>
            <a:off x="4038600" y="1581150"/>
            <a:ext cx="19050" cy="3524250"/>
          </a:xfrm>
          <a:prstGeom prst="rect">
            <a:avLst/>
          </a:prstGeom>
          <a:solidFill>
            <a:srgbClr val="E5E7EB"/>
          </a:solidFill>
          <a:ln w="0">
            <a:solidFill>
              <a:srgbClr val="E5E7EB"/>
            </a:solidFill>
            <a:prstDash val="solid"/>
          </a:ln>
        </p:spPr>
        <p:txBody>
          <a:bodyPr/>
          <a:lstStyle/>
          <a:p>
            <a:endParaRPr/>
          </a:p>
        </p:txBody>
      </p:sp>
      <p:sp>
        <p:nvSpPr>
          <p:cNvPr id="4" name="evidence-separator-b">
            <a:extLst>
              <a:ext uri="{FF2B5EF4-FFF2-40B4-BE49-F238E27FC236}">
                <a16:creationId xmlns:a16="http://schemas.microsoft.com/office/drawing/2014/main" id="{A8AD950C-061C-40B8-944F-7B431FAD20E9}"/>
              </a:ext>
            </a:extLst>
          </p:cNvPr>
          <p:cNvSpPr>
            <a:spLocks noGrp="1"/>
          </p:cNvSpPr>
          <p:nvPr/>
        </p:nvSpPr>
        <p:spPr>
          <a:xfrm>
            <a:off x="7753350" y="1581150"/>
            <a:ext cx="19050" cy="3524250"/>
          </a:xfrm>
          <a:prstGeom prst="rect">
            <a:avLst/>
          </a:prstGeom>
          <a:solidFill>
            <a:srgbClr val="E5E7EB"/>
          </a:solidFill>
          <a:ln w="0">
            <a:solidFill>
              <a:srgbClr val="E5E7EB"/>
            </a:solidFill>
            <a:prstDash val="solid"/>
          </a:ln>
        </p:spPr>
        <p:txBody>
          <a:bodyPr/>
          <a:lstStyle/>
          <a:p>
            <a:endParaRPr/>
          </a:p>
        </p:txBody>
      </p:sp>
      <p:sp>
        <p:nvSpPr>
          <p:cNvPr id="5" name="evidence-year-0">
            <a:extLst>
              <a:ext uri="{FF2B5EF4-FFF2-40B4-BE49-F238E27FC236}">
                <a16:creationId xmlns:a16="http://schemas.microsoft.com/office/drawing/2014/main" id="{66875D06-03C0-425F-85D5-92241F191CFE}"/>
              </a:ext>
            </a:extLst>
          </p:cNvPr>
          <p:cNvSpPr>
            <a:spLocks noGrp="1"/>
          </p:cNvSpPr>
          <p:nvPr/>
        </p:nvSpPr>
        <p:spPr>
          <a:xfrm>
            <a:off x="609600" y="1752600"/>
            <a:ext cx="3143250" cy="457200"/>
          </a:xfrm>
          <a:prstGeom prst="rect">
            <a:avLst/>
          </a:prstGeom>
          <a:noFill/>
          <a:ln w="0">
            <a:noFill/>
            <a:prstDash val="solid"/>
          </a:ln>
        </p:spPr>
        <p:txBody>
          <a:bodyPr lIns="0" tIns="0" rIns="0" bIns="0" anchor="ctr">
            <a:noAutofit/>
          </a:bodyPr>
          <a:lstStyle/>
          <a:p>
            <a:pPr algn="ctr">
              <a:buNone/>
              <a:defRPr sz="2550" b="1" i="0">
                <a:solidFill>
                  <a:srgbClr val="1F4E79"/>
                </a:solidFill>
              </a:defRPr>
            </a:pPr>
            <a:r>
              <a:rPr sz="2550" b="1" i="0">
                <a:solidFill>
                  <a:srgbClr val="1F4E79"/>
                </a:solidFill>
              </a:rPr>
              <a:t>2007</a:t>
            </a:r>
          </a:p>
        </p:txBody>
      </p:sp>
      <p:sp>
        <p:nvSpPr>
          <p:cNvPr id="6" name="evidence-title-0">
            <a:extLst>
              <a:ext uri="{FF2B5EF4-FFF2-40B4-BE49-F238E27FC236}">
                <a16:creationId xmlns:a16="http://schemas.microsoft.com/office/drawing/2014/main" id="{D10E55CF-6578-486A-B16B-F953439E1A95}"/>
              </a:ext>
            </a:extLst>
          </p:cNvPr>
          <p:cNvSpPr>
            <a:spLocks noGrp="1"/>
          </p:cNvSpPr>
          <p:nvPr/>
        </p:nvSpPr>
        <p:spPr>
          <a:xfrm>
            <a:off x="609600" y="2343150"/>
            <a:ext cx="3143250" cy="323850"/>
          </a:xfrm>
          <a:prstGeom prst="rect">
            <a:avLst/>
          </a:prstGeom>
          <a:noFill/>
          <a:ln w="0">
            <a:noFill/>
            <a:prstDash val="solid"/>
          </a:ln>
        </p:spPr>
        <p:txBody>
          <a:bodyPr lIns="0" tIns="0" rIns="0" bIns="0" anchor="ctr">
            <a:noAutofit/>
          </a:bodyPr>
          <a:lstStyle/>
          <a:p>
            <a:pPr algn="ctr">
              <a:buNone/>
              <a:defRPr sz="1425" b="1" i="0">
                <a:solidFill>
                  <a:srgbClr val="4B5563"/>
                </a:solidFill>
              </a:defRPr>
            </a:pPr>
            <a:r>
              <a:rPr sz="1425" b="1" i="0">
                <a:solidFill>
                  <a:srgbClr val="4B5563"/>
                </a:solidFill>
              </a:rPr>
              <a:t>Peul randomized trial</a:t>
            </a:r>
          </a:p>
        </p:txBody>
      </p:sp>
      <p:sp>
        <p:nvSpPr>
          <p:cNvPr id="7" name="evidence-rule-0">
            <a:extLst>
              <a:ext uri="{FF2B5EF4-FFF2-40B4-BE49-F238E27FC236}">
                <a16:creationId xmlns:a16="http://schemas.microsoft.com/office/drawing/2014/main" id="{9AAAC01D-A00E-450D-AD24-44B30DF5648F}"/>
              </a:ext>
            </a:extLst>
          </p:cNvPr>
          <p:cNvSpPr>
            <a:spLocks noGrp="1"/>
          </p:cNvSpPr>
          <p:nvPr/>
        </p:nvSpPr>
        <p:spPr>
          <a:xfrm>
            <a:off x="1228725" y="2895600"/>
            <a:ext cx="1905000" cy="28575"/>
          </a:xfrm>
          <a:prstGeom prst="rect">
            <a:avLst/>
          </a:prstGeom>
          <a:solidFill>
            <a:srgbClr val="1F4E79"/>
          </a:solidFill>
          <a:ln w="0">
            <a:solidFill>
              <a:srgbClr val="1F4E79"/>
            </a:solidFill>
            <a:prstDash val="solid"/>
          </a:ln>
        </p:spPr>
        <p:txBody>
          <a:bodyPr/>
          <a:lstStyle/>
          <a:p>
            <a:endParaRPr/>
          </a:p>
        </p:txBody>
      </p:sp>
      <p:sp>
        <p:nvSpPr>
          <p:cNvPr id="8" name="evidence-copy-0-0">
            <a:extLst>
              <a:ext uri="{FF2B5EF4-FFF2-40B4-BE49-F238E27FC236}">
                <a16:creationId xmlns:a16="http://schemas.microsoft.com/office/drawing/2014/main" id="{A3BF786B-BC57-4C06-AC01-E1632D9204C1}"/>
              </a:ext>
            </a:extLst>
          </p:cNvPr>
          <p:cNvSpPr>
            <a:spLocks noGrp="1"/>
          </p:cNvSpPr>
          <p:nvPr/>
        </p:nvSpPr>
        <p:spPr>
          <a:xfrm>
            <a:off x="800100" y="3257550"/>
            <a:ext cx="2762250" cy="400050"/>
          </a:xfrm>
          <a:prstGeom prst="rect">
            <a:avLst/>
          </a:prstGeom>
          <a:noFill/>
          <a:ln w="0">
            <a:noFill/>
            <a:prstDash val="solid"/>
          </a:ln>
        </p:spPr>
        <p:txBody>
          <a:bodyPr lIns="0" tIns="0" rIns="0" bIns="0" anchor="ctr">
            <a:noAutofit/>
          </a:bodyPr>
          <a:lstStyle/>
          <a:p>
            <a:pPr algn="ctr">
              <a:buNone/>
              <a:defRPr sz="1425" b="1" i="0">
                <a:solidFill>
                  <a:srgbClr val="111827"/>
                </a:solidFill>
              </a:defRPr>
            </a:pPr>
            <a:r>
              <a:rPr sz="1425" b="1" i="0">
                <a:solidFill>
                  <a:srgbClr val="111827"/>
                </a:solidFill>
              </a:rPr>
              <a:t>Faster </a:t>
            </a:r>
            <a:r>
              <a:rPr sz="1425" b="1">
                <a:solidFill>
                  <a:srgbClr val="111827"/>
                </a:solidFill>
              </a:rPr>
              <a:t>Re</a:t>
            </a:r>
            <a:r>
              <a:rPr sz="1425" b="1" i="0">
                <a:solidFill>
                  <a:srgbClr val="111827"/>
                </a:solidFill>
              </a:rPr>
              <a:t>covery </a:t>
            </a:r>
            <a:r>
              <a:rPr sz="1425" b="1">
                <a:solidFill>
                  <a:srgbClr val="111827"/>
                </a:solidFill>
              </a:rPr>
              <a:t>A</a:t>
            </a:r>
            <a:r>
              <a:rPr sz="1425" b="1" i="0">
                <a:solidFill>
                  <a:srgbClr val="111827"/>
                </a:solidFill>
              </a:rPr>
              <a:t>fter </a:t>
            </a:r>
            <a:r>
              <a:rPr sz="1425" b="1">
                <a:solidFill>
                  <a:srgbClr val="111827"/>
                </a:solidFill>
              </a:rPr>
              <a:t>E</a:t>
            </a:r>
            <a:r>
              <a:rPr sz="1425" b="1" i="0">
                <a:solidFill>
                  <a:srgbClr val="111827"/>
                </a:solidFill>
              </a:rPr>
              <a:t>arly </a:t>
            </a:r>
            <a:r>
              <a:rPr sz="1425" b="1">
                <a:solidFill>
                  <a:srgbClr val="111827"/>
                </a:solidFill>
              </a:rPr>
              <a:t>S</a:t>
            </a:r>
            <a:r>
              <a:rPr sz="1425" b="1" i="0">
                <a:solidFill>
                  <a:srgbClr val="111827"/>
                </a:solidFill>
              </a:rPr>
              <a:t>urgery</a:t>
            </a:r>
          </a:p>
        </p:txBody>
      </p:sp>
      <p:sp>
        <p:nvSpPr>
          <p:cNvPr id="9" name="evidence-copy-0-1">
            <a:extLst>
              <a:ext uri="{FF2B5EF4-FFF2-40B4-BE49-F238E27FC236}">
                <a16:creationId xmlns:a16="http://schemas.microsoft.com/office/drawing/2014/main" id="{0A5F7D52-45AE-40A4-8BF0-A409E3F64FC2}"/>
              </a:ext>
            </a:extLst>
          </p:cNvPr>
          <p:cNvSpPr>
            <a:spLocks noGrp="1"/>
          </p:cNvSpPr>
          <p:nvPr/>
        </p:nvSpPr>
        <p:spPr>
          <a:xfrm>
            <a:off x="800100" y="3829050"/>
            <a:ext cx="2762250" cy="400050"/>
          </a:xfrm>
          <a:prstGeom prst="rect">
            <a:avLst/>
          </a:prstGeom>
          <a:noFill/>
          <a:ln w="0">
            <a:noFill/>
            <a:prstDash val="solid"/>
          </a:ln>
        </p:spPr>
        <p:txBody>
          <a:bodyPr lIns="0" tIns="0" rIns="0" bIns="0" anchor="ctr">
            <a:noAutofit/>
          </a:bodyPr>
          <a:lstStyle/>
          <a:p>
            <a:pPr algn="ctr">
              <a:buNone/>
              <a:defRPr sz="1425" b="0" i="0">
                <a:solidFill>
                  <a:srgbClr val="111827"/>
                </a:solidFill>
              </a:defRPr>
            </a:pPr>
            <a:r>
              <a:rPr sz="1425" b="0" i="0">
                <a:solidFill>
                  <a:srgbClr val="111827"/>
                </a:solidFill>
              </a:rPr>
              <a:t>Similar Outcomes at 1 Year</a:t>
            </a:r>
          </a:p>
        </p:txBody>
      </p:sp>
      <p:sp>
        <p:nvSpPr>
          <p:cNvPr id="10" name="evidence-year-1">
            <a:extLst>
              <a:ext uri="{FF2B5EF4-FFF2-40B4-BE49-F238E27FC236}">
                <a16:creationId xmlns:a16="http://schemas.microsoft.com/office/drawing/2014/main" id="{78A91079-1AD4-4E0A-906D-22E1C7E40CCB}"/>
              </a:ext>
            </a:extLst>
          </p:cNvPr>
          <p:cNvSpPr>
            <a:spLocks noGrp="1"/>
          </p:cNvSpPr>
          <p:nvPr/>
        </p:nvSpPr>
        <p:spPr>
          <a:xfrm>
            <a:off x="4324350" y="1752600"/>
            <a:ext cx="3143250" cy="457200"/>
          </a:xfrm>
          <a:prstGeom prst="rect">
            <a:avLst/>
          </a:prstGeom>
          <a:noFill/>
          <a:ln w="0">
            <a:noFill/>
            <a:prstDash val="solid"/>
          </a:ln>
        </p:spPr>
        <p:txBody>
          <a:bodyPr lIns="0" tIns="0" rIns="0" bIns="0" anchor="ctr">
            <a:noAutofit/>
          </a:bodyPr>
          <a:lstStyle/>
          <a:p>
            <a:pPr algn="ctr">
              <a:buNone/>
              <a:defRPr sz="2550" b="1" i="0">
                <a:solidFill>
                  <a:srgbClr val="1F4E79"/>
                </a:solidFill>
              </a:defRPr>
            </a:pPr>
            <a:r>
              <a:rPr sz="2550" b="1" i="0">
                <a:solidFill>
                  <a:srgbClr val="1F4E79"/>
                </a:solidFill>
              </a:rPr>
              <a:t>2014</a:t>
            </a:r>
          </a:p>
        </p:txBody>
      </p:sp>
      <p:sp>
        <p:nvSpPr>
          <p:cNvPr id="11" name="evidence-title-1">
            <a:extLst>
              <a:ext uri="{FF2B5EF4-FFF2-40B4-BE49-F238E27FC236}">
                <a16:creationId xmlns:a16="http://schemas.microsoft.com/office/drawing/2014/main" id="{F9229A06-E988-444A-BB75-CC79B021A169}"/>
              </a:ext>
            </a:extLst>
          </p:cNvPr>
          <p:cNvSpPr>
            <a:spLocks noGrp="1"/>
          </p:cNvSpPr>
          <p:nvPr/>
        </p:nvSpPr>
        <p:spPr>
          <a:xfrm>
            <a:off x="4324350" y="2343150"/>
            <a:ext cx="3143250" cy="323850"/>
          </a:xfrm>
          <a:prstGeom prst="rect">
            <a:avLst/>
          </a:prstGeom>
          <a:noFill/>
          <a:ln w="0">
            <a:noFill/>
            <a:prstDash val="solid"/>
          </a:ln>
        </p:spPr>
        <p:txBody>
          <a:bodyPr lIns="0" tIns="0" rIns="0" bIns="0" anchor="ctr">
            <a:noAutofit/>
          </a:bodyPr>
          <a:lstStyle/>
          <a:p>
            <a:pPr algn="ctr">
              <a:buNone/>
              <a:defRPr sz="1425" b="1" i="0">
                <a:solidFill>
                  <a:srgbClr val="4B5563"/>
                </a:solidFill>
              </a:defRPr>
            </a:pPr>
            <a:r>
              <a:rPr sz="1425" b="1" i="0">
                <a:solidFill>
                  <a:srgbClr val="4B5563"/>
                </a:solidFill>
              </a:rPr>
              <a:t>SPORT 8-year follow-up</a:t>
            </a:r>
          </a:p>
        </p:txBody>
      </p:sp>
      <p:sp>
        <p:nvSpPr>
          <p:cNvPr id="12" name="evidence-rule-1">
            <a:extLst>
              <a:ext uri="{FF2B5EF4-FFF2-40B4-BE49-F238E27FC236}">
                <a16:creationId xmlns:a16="http://schemas.microsoft.com/office/drawing/2014/main" id="{C4E23241-2FC6-41BC-81BC-9031D66025F1}"/>
              </a:ext>
            </a:extLst>
          </p:cNvPr>
          <p:cNvSpPr>
            <a:spLocks noGrp="1"/>
          </p:cNvSpPr>
          <p:nvPr/>
        </p:nvSpPr>
        <p:spPr>
          <a:xfrm>
            <a:off x="4943475" y="2895600"/>
            <a:ext cx="1905000" cy="28575"/>
          </a:xfrm>
          <a:prstGeom prst="rect">
            <a:avLst/>
          </a:prstGeom>
          <a:solidFill>
            <a:srgbClr val="1F4E79"/>
          </a:solidFill>
          <a:ln w="0">
            <a:solidFill>
              <a:srgbClr val="1F4E79"/>
            </a:solidFill>
            <a:prstDash val="solid"/>
          </a:ln>
        </p:spPr>
        <p:txBody>
          <a:bodyPr/>
          <a:lstStyle/>
          <a:p>
            <a:endParaRPr/>
          </a:p>
        </p:txBody>
      </p:sp>
      <p:sp>
        <p:nvSpPr>
          <p:cNvPr id="13" name="evidence-copy-1-0">
            <a:extLst>
              <a:ext uri="{FF2B5EF4-FFF2-40B4-BE49-F238E27FC236}">
                <a16:creationId xmlns:a16="http://schemas.microsoft.com/office/drawing/2014/main" id="{FA3212D7-BE10-4FA5-A42B-E41B23AA7B0E}"/>
              </a:ext>
            </a:extLst>
          </p:cNvPr>
          <p:cNvSpPr>
            <a:spLocks noGrp="1"/>
          </p:cNvSpPr>
          <p:nvPr/>
        </p:nvSpPr>
        <p:spPr>
          <a:xfrm>
            <a:off x="4514850" y="3257550"/>
            <a:ext cx="2762250" cy="400050"/>
          </a:xfrm>
          <a:prstGeom prst="rect">
            <a:avLst/>
          </a:prstGeom>
          <a:noFill/>
          <a:ln w="0">
            <a:noFill/>
            <a:prstDash val="solid"/>
          </a:ln>
        </p:spPr>
        <p:txBody>
          <a:bodyPr lIns="0" tIns="0" rIns="0" bIns="0" anchor="ctr">
            <a:noAutofit/>
          </a:bodyPr>
          <a:lstStyle/>
          <a:p>
            <a:pPr algn="ctr">
              <a:buNone/>
              <a:defRPr sz="1425" b="1" i="0">
                <a:solidFill>
                  <a:srgbClr val="111827"/>
                </a:solidFill>
              </a:defRPr>
            </a:pPr>
            <a:r>
              <a:rPr sz="1425" b="1" i="0">
                <a:solidFill>
                  <a:srgbClr val="111827"/>
                </a:solidFill>
              </a:rPr>
              <a:t>Durable As-Treated </a:t>
            </a:r>
            <a:r>
              <a:rPr sz="1425" b="1">
                <a:solidFill>
                  <a:srgbClr val="111827"/>
                </a:solidFill>
              </a:rPr>
              <a:t>D</a:t>
            </a:r>
            <a:r>
              <a:rPr sz="1425" b="1" i="0">
                <a:solidFill>
                  <a:srgbClr val="111827"/>
                </a:solidFill>
              </a:rPr>
              <a:t>ifferences</a:t>
            </a:r>
          </a:p>
        </p:txBody>
      </p:sp>
      <p:sp>
        <p:nvSpPr>
          <p:cNvPr id="14" name="evidence-copy-1-1">
            <a:extLst>
              <a:ext uri="{FF2B5EF4-FFF2-40B4-BE49-F238E27FC236}">
                <a16:creationId xmlns:a16="http://schemas.microsoft.com/office/drawing/2014/main" id="{57BFB051-8383-4B58-8E30-3BC662D2100D}"/>
              </a:ext>
            </a:extLst>
          </p:cNvPr>
          <p:cNvSpPr>
            <a:spLocks noGrp="1"/>
          </p:cNvSpPr>
          <p:nvPr/>
        </p:nvSpPr>
        <p:spPr>
          <a:xfrm>
            <a:off x="4514850" y="3829050"/>
            <a:ext cx="2762250" cy="400050"/>
          </a:xfrm>
          <a:prstGeom prst="rect">
            <a:avLst/>
          </a:prstGeom>
          <a:noFill/>
          <a:ln w="0">
            <a:noFill/>
            <a:prstDash val="solid"/>
          </a:ln>
        </p:spPr>
        <p:txBody>
          <a:bodyPr lIns="0" tIns="0" rIns="0" bIns="0" anchor="ctr">
            <a:noAutofit/>
          </a:bodyPr>
          <a:lstStyle/>
          <a:p>
            <a:pPr algn="ctr">
              <a:buNone/>
              <a:defRPr sz="1425" b="0" i="0">
                <a:solidFill>
                  <a:srgbClr val="111827"/>
                </a:solidFill>
              </a:defRPr>
            </a:pPr>
            <a:r>
              <a:rPr sz="1425" b="0" i="0">
                <a:solidFill>
                  <a:srgbClr val="111827"/>
                </a:solidFill>
              </a:rPr>
              <a:t>ITT Remained Limited by </a:t>
            </a:r>
            <a:r>
              <a:rPr sz="1425">
                <a:solidFill>
                  <a:srgbClr val="111827"/>
                </a:solidFill>
              </a:rPr>
              <a:t>Cr</a:t>
            </a:r>
            <a:r>
              <a:rPr sz="1425" b="0" i="0">
                <a:solidFill>
                  <a:srgbClr val="111827"/>
                </a:solidFill>
              </a:rPr>
              <a:t>ossover</a:t>
            </a:r>
          </a:p>
        </p:txBody>
      </p:sp>
      <p:sp>
        <p:nvSpPr>
          <p:cNvPr id="15" name="evidence-year-2">
            <a:extLst>
              <a:ext uri="{FF2B5EF4-FFF2-40B4-BE49-F238E27FC236}">
                <a16:creationId xmlns:a16="http://schemas.microsoft.com/office/drawing/2014/main" id="{B9CAD1A8-B69E-4920-920F-9FD51A5BD71B}"/>
              </a:ext>
            </a:extLst>
          </p:cNvPr>
          <p:cNvSpPr>
            <a:spLocks noGrp="1"/>
          </p:cNvSpPr>
          <p:nvPr/>
        </p:nvSpPr>
        <p:spPr>
          <a:xfrm>
            <a:off x="8039100" y="1752600"/>
            <a:ext cx="3143250" cy="457200"/>
          </a:xfrm>
          <a:prstGeom prst="rect">
            <a:avLst/>
          </a:prstGeom>
          <a:noFill/>
          <a:ln w="0">
            <a:noFill/>
            <a:prstDash val="solid"/>
          </a:ln>
        </p:spPr>
        <p:txBody>
          <a:bodyPr lIns="0" tIns="0" rIns="0" bIns="0" anchor="ctr">
            <a:noAutofit/>
          </a:bodyPr>
          <a:lstStyle/>
          <a:p>
            <a:pPr algn="ctr">
              <a:buNone/>
              <a:defRPr sz="2550" b="1" i="0">
                <a:solidFill>
                  <a:srgbClr val="1F4E79"/>
                </a:solidFill>
              </a:defRPr>
            </a:pPr>
            <a:r>
              <a:rPr sz="2550" b="1" i="0">
                <a:solidFill>
                  <a:srgbClr val="1F4E79"/>
                </a:solidFill>
              </a:rPr>
              <a:t>2023</a:t>
            </a:r>
          </a:p>
        </p:txBody>
      </p:sp>
      <p:sp>
        <p:nvSpPr>
          <p:cNvPr id="16" name="evidence-title-2">
            <a:extLst>
              <a:ext uri="{FF2B5EF4-FFF2-40B4-BE49-F238E27FC236}">
                <a16:creationId xmlns:a16="http://schemas.microsoft.com/office/drawing/2014/main" id="{706FC5B2-5FBD-44A6-A75E-F4E89471E51D}"/>
              </a:ext>
            </a:extLst>
          </p:cNvPr>
          <p:cNvSpPr>
            <a:spLocks noGrp="1"/>
          </p:cNvSpPr>
          <p:nvPr/>
        </p:nvSpPr>
        <p:spPr>
          <a:xfrm>
            <a:off x="8039100" y="2343150"/>
            <a:ext cx="3143250" cy="323850"/>
          </a:xfrm>
          <a:prstGeom prst="rect">
            <a:avLst/>
          </a:prstGeom>
          <a:noFill/>
          <a:ln w="0">
            <a:noFill/>
            <a:prstDash val="solid"/>
          </a:ln>
        </p:spPr>
        <p:txBody>
          <a:bodyPr lIns="0" tIns="0" rIns="0" bIns="0" anchor="ctr">
            <a:noAutofit/>
          </a:bodyPr>
          <a:lstStyle/>
          <a:p>
            <a:pPr algn="ctr">
              <a:buNone/>
              <a:defRPr sz="1425" b="1" i="0">
                <a:solidFill>
                  <a:srgbClr val="4B5563"/>
                </a:solidFill>
              </a:defRPr>
            </a:pPr>
            <a:r>
              <a:rPr sz="1425" b="1" i="0">
                <a:solidFill>
                  <a:srgbClr val="4B5563"/>
                </a:solidFill>
              </a:rPr>
              <a:t>Liu Systematic </a:t>
            </a:r>
            <a:r>
              <a:rPr sz="1425" b="1">
                <a:solidFill>
                  <a:srgbClr val="4B5563"/>
                </a:solidFill>
              </a:rPr>
              <a:t>R</a:t>
            </a:r>
            <a:r>
              <a:rPr sz="1425" b="1" i="0">
                <a:solidFill>
                  <a:srgbClr val="4B5563"/>
                </a:solidFill>
              </a:rPr>
              <a:t>eview</a:t>
            </a:r>
          </a:p>
        </p:txBody>
      </p:sp>
      <p:sp>
        <p:nvSpPr>
          <p:cNvPr id="17" name="evidence-rule-2">
            <a:extLst>
              <a:ext uri="{FF2B5EF4-FFF2-40B4-BE49-F238E27FC236}">
                <a16:creationId xmlns:a16="http://schemas.microsoft.com/office/drawing/2014/main" id="{9DCC185A-8B84-4606-B394-DAAAF107328B}"/>
              </a:ext>
            </a:extLst>
          </p:cNvPr>
          <p:cNvSpPr>
            <a:spLocks noGrp="1"/>
          </p:cNvSpPr>
          <p:nvPr/>
        </p:nvSpPr>
        <p:spPr>
          <a:xfrm>
            <a:off x="8658225" y="2895600"/>
            <a:ext cx="1905000" cy="28575"/>
          </a:xfrm>
          <a:prstGeom prst="rect">
            <a:avLst/>
          </a:prstGeom>
          <a:solidFill>
            <a:srgbClr val="1F4E79"/>
          </a:solidFill>
          <a:ln w="0">
            <a:solidFill>
              <a:srgbClr val="1F4E79"/>
            </a:solidFill>
            <a:prstDash val="solid"/>
          </a:ln>
        </p:spPr>
        <p:txBody>
          <a:bodyPr/>
          <a:lstStyle/>
          <a:p>
            <a:endParaRPr/>
          </a:p>
        </p:txBody>
      </p:sp>
      <p:sp>
        <p:nvSpPr>
          <p:cNvPr id="18" name="evidence-copy-2-0">
            <a:extLst>
              <a:ext uri="{FF2B5EF4-FFF2-40B4-BE49-F238E27FC236}">
                <a16:creationId xmlns:a16="http://schemas.microsoft.com/office/drawing/2014/main" id="{2131A91A-DB4A-46C6-B62C-FED7B441EF4B}"/>
              </a:ext>
            </a:extLst>
          </p:cNvPr>
          <p:cNvSpPr>
            <a:spLocks noGrp="1"/>
          </p:cNvSpPr>
          <p:nvPr/>
        </p:nvSpPr>
        <p:spPr>
          <a:xfrm>
            <a:off x="8229600" y="3257550"/>
            <a:ext cx="2762250" cy="400050"/>
          </a:xfrm>
          <a:prstGeom prst="rect">
            <a:avLst/>
          </a:prstGeom>
          <a:noFill/>
          <a:ln w="0">
            <a:noFill/>
            <a:prstDash val="solid"/>
          </a:ln>
        </p:spPr>
        <p:txBody>
          <a:bodyPr lIns="0" tIns="0" rIns="0" bIns="0" anchor="ctr">
            <a:noAutofit/>
          </a:bodyPr>
          <a:lstStyle/>
          <a:p>
            <a:pPr algn="ctr">
              <a:buNone/>
              <a:defRPr sz="1425" b="1" i="0">
                <a:solidFill>
                  <a:srgbClr val="111827"/>
                </a:solidFill>
              </a:defRPr>
            </a:pPr>
            <a:r>
              <a:rPr sz="1425" b="1" i="0">
                <a:solidFill>
                  <a:srgbClr val="111827"/>
                </a:solidFill>
              </a:rPr>
              <a:t>Earlier Pain </a:t>
            </a:r>
            <a:r>
              <a:rPr sz="1425" b="1">
                <a:solidFill>
                  <a:srgbClr val="111827"/>
                </a:solidFill>
              </a:rPr>
              <a:t>R</a:t>
            </a:r>
            <a:r>
              <a:rPr sz="1425" b="1" i="0">
                <a:solidFill>
                  <a:srgbClr val="111827"/>
                </a:solidFill>
              </a:rPr>
              <a:t>elief </a:t>
            </a:r>
            <a:r>
              <a:rPr sz="1425" b="1">
                <a:solidFill>
                  <a:srgbClr val="111827"/>
                </a:solidFill>
              </a:rPr>
              <a:t>A</a:t>
            </a:r>
            <a:r>
              <a:rPr sz="1425" b="1" i="0">
                <a:solidFill>
                  <a:srgbClr val="111827"/>
                </a:solidFill>
              </a:rPr>
              <a:t>fter </a:t>
            </a:r>
            <a:r>
              <a:rPr sz="1425" b="1">
                <a:solidFill>
                  <a:srgbClr val="111827"/>
                </a:solidFill>
              </a:rPr>
              <a:t>S</a:t>
            </a:r>
            <a:r>
              <a:rPr sz="1425" b="1" i="0">
                <a:solidFill>
                  <a:srgbClr val="111827"/>
                </a:solidFill>
              </a:rPr>
              <a:t>urgery</a:t>
            </a:r>
          </a:p>
        </p:txBody>
      </p:sp>
      <p:sp>
        <p:nvSpPr>
          <p:cNvPr id="19" name="evidence-copy-2-1">
            <a:extLst>
              <a:ext uri="{FF2B5EF4-FFF2-40B4-BE49-F238E27FC236}">
                <a16:creationId xmlns:a16="http://schemas.microsoft.com/office/drawing/2014/main" id="{C61F78EA-E182-4330-B28C-E3DE65266425}"/>
              </a:ext>
            </a:extLst>
          </p:cNvPr>
          <p:cNvSpPr>
            <a:spLocks noGrp="1"/>
          </p:cNvSpPr>
          <p:nvPr/>
        </p:nvSpPr>
        <p:spPr>
          <a:xfrm>
            <a:off x="8229600" y="3829050"/>
            <a:ext cx="2762250" cy="400050"/>
          </a:xfrm>
          <a:prstGeom prst="rect">
            <a:avLst/>
          </a:prstGeom>
          <a:noFill/>
          <a:ln w="0">
            <a:noFill/>
            <a:prstDash val="solid"/>
          </a:ln>
        </p:spPr>
        <p:txBody>
          <a:bodyPr lIns="0" tIns="0" rIns="0" bIns="0" anchor="ctr">
            <a:noAutofit/>
          </a:bodyPr>
          <a:lstStyle/>
          <a:p>
            <a:pPr algn="ctr">
              <a:buNone/>
              <a:defRPr sz="1425" b="0" i="0">
                <a:solidFill>
                  <a:srgbClr val="111827"/>
                </a:solidFill>
              </a:defRPr>
            </a:pPr>
            <a:r>
              <a:rPr sz="1425" b="0" i="0">
                <a:solidFill>
                  <a:srgbClr val="111827"/>
                </a:solidFill>
              </a:rPr>
              <a:t>Differences diminished over time</a:t>
            </a:r>
          </a:p>
        </p:txBody>
      </p:sp>
      <p:sp>
        <p:nvSpPr>
          <p:cNvPr id="21" name="evidence-bottom-rule">
            <a:extLst>
              <a:ext uri="{FF2B5EF4-FFF2-40B4-BE49-F238E27FC236}">
                <a16:creationId xmlns:a16="http://schemas.microsoft.com/office/drawing/2014/main" id="{FDA29ED1-801C-40D8-96C0-7E583C051D46}"/>
              </a:ext>
            </a:extLst>
          </p:cNvPr>
          <p:cNvSpPr>
            <a:spLocks noGrp="1"/>
          </p:cNvSpPr>
          <p:nvPr/>
        </p:nvSpPr>
        <p:spPr>
          <a:xfrm>
            <a:off x="609600" y="5219700"/>
            <a:ext cx="10572750" cy="9525"/>
          </a:xfrm>
          <a:prstGeom prst="rect">
            <a:avLst/>
          </a:prstGeom>
          <a:solidFill>
            <a:srgbClr val="E5E7EB"/>
          </a:solidFill>
          <a:ln w="0">
            <a:solidFill>
              <a:srgbClr val="E5E7EB"/>
            </a:solidFill>
            <a:prstDash val="solid"/>
          </a:ln>
        </p:spPr>
        <p:txBody>
          <a:bodyPr/>
          <a:lstStyle/>
          <a:p>
            <a:endParaRPr/>
          </a:p>
        </p:txBody>
      </p:sp>
      <p:sp>
        <p:nvSpPr>
          <p:cNvPr id="22" name="evidence-bottom-copy">
            <a:extLst>
              <a:ext uri="{FF2B5EF4-FFF2-40B4-BE49-F238E27FC236}">
                <a16:creationId xmlns:a16="http://schemas.microsoft.com/office/drawing/2014/main" id="{EC1DAF3A-06ED-44F4-8791-A9A8898F9287}"/>
              </a:ext>
            </a:extLst>
          </p:cNvPr>
          <p:cNvSpPr>
            <a:spLocks noGrp="1"/>
          </p:cNvSpPr>
          <p:nvPr/>
        </p:nvSpPr>
        <p:spPr>
          <a:xfrm>
            <a:off x="895350" y="5472112"/>
            <a:ext cx="10096500" cy="400050"/>
          </a:xfrm>
          <a:prstGeom prst="rect">
            <a:avLst/>
          </a:prstGeom>
          <a:noFill/>
          <a:ln w="0">
            <a:noFill/>
            <a:prstDash val="solid"/>
          </a:ln>
        </p:spPr>
        <p:txBody>
          <a:bodyPr lIns="0" tIns="0" rIns="0" bIns="0" anchor="ctr">
            <a:noAutofit/>
          </a:bodyPr>
          <a:lstStyle/>
          <a:p>
            <a:pPr algn="ctr">
              <a:buNone/>
              <a:defRPr sz="1350" b="1" i="0">
                <a:solidFill>
                  <a:srgbClr val="111827"/>
                </a:solidFill>
              </a:defRPr>
            </a:pPr>
            <a:r>
              <a:rPr sz="1350" b="1" i="0">
                <a:solidFill>
                  <a:srgbClr val="111827"/>
                </a:solidFill>
              </a:rPr>
              <a:t>Across later studies, surgery primarily changed the timing of relief; causal certainty remained limited by crossover and study heterogeneity.</a:t>
            </a:r>
          </a:p>
        </p:txBody>
      </p:sp>
      <p:sp>
        <p:nvSpPr>
          <p:cNvPr id="23" name="footer-rule-15">
            <a:extLst>
              <a:ext uri="{FF2B5EF4-FFF2-40B4-BE49-F238E27FC236}">
                <a16:creationId xmlns:a16="http://schemas.microsoft.com/office/drawing/2014/main" id="{DF8E0DDB-8563-4F0D-BD0C-CDFF4372D759}"/>
              </a:ext>
            </a:extLst>
          </p:cNvPr>
          <p:cNvSpPr>
            <a:spLocks noGrp="1"/>
          </p:cNvSpPr>
          <p:nvPr/>
        </p:nvSpPr>
        <p:spPr>
          <a:xfrm>
            <a:off x="609600" y="6115050"/>
            <a:ext cx="10972800" cy="9525"/>
          </a:xfrm>
          <a:prstGeom prst="rect">
            <a:avLst/>
          </a:prstGeom>
          <a:solidFill>
            <a:srgbClr val="E5E7EB"/>
          </a:solidFill>
          <a:ln w="0">
            <a:solidFill>
              <a:srgbClr val="E5E7EB"/>
            </a:solidFill>
            <a:prstDash val="solid"/>
          </a:ln>
        </p:spPr>
        <p:txBody>
          <a:bodyPr/>
          <a:lstStyle/>
          <a:p>
            <a:endParaRPr/>
          </a:p>
        </p:txBody>
      </p:sp>
      <p:sp>
        <p:nvSpPr>
          <p:cNvPr id="25" name="num-15">
            <a:extLst>
              <a:ext uri="{FF2B5EF4-FFF2-40B4-BE49-F238E27FC236}">
                <a16:creationId xmlns:a16="http://schemas.microsoft.com/office/drawing/2014/main" id="{689A7EEF-E80F-4848-9912-815B5F6C7067}"/>
              </a:ext>
            </a:extLst>
          </p:cNvPr>
          <p:cNvSpPr>
            <a:spLocks noGrp="1"/>
          </p:cNvSpPr>
          <p:nvPr/>
        </p:nvSpPr>
        <p:spPr>
          <a:xfrm>
            <a:off x="11049000" y="6267450"/>
            <a:ext cx="523875" cy="171450"/>
          </a:xfrm>
          <a:prstGeom prst="rect">
            <a:avLst/>
          </a:prstGeom>
          <a:noFill/>
          <a:ln w="0">
            <a:noFill/>
            <a:prstDash val="solid"/>
          </a:ln>
        </p:spPr>
        <p:txBody>
          <a:bodyPr lIns="0" tIns="0" rIns="0" bIns="0" anchor="ctr">
            <a:noAutofit/>
          </a:bodyPr>
          <a:lstStyle/>
          <a:p>
            <a:pPr algn="r">
              <a:buNone/>
              <a:defRPr sz="825" b="0" i="0">
                <a:solidFill>
                  <a:srgbClr val="4B5563"/>
                </a:solidFill>
              </a:defRPr>
            </a:pPr>
            <a:r>
              <a:rPr sz="825" b="0" i="0">
                <a:solidFill>
                  <a:srgbClr val="4B5563"/>
                </a:solidFill>
              </a:rPr>
              <a:t>15</a:t>
            </a:r>
          </a:p>
        </p:txBody>
      </p:sp>
    </p:spTree>
    <p:extLst>
      <p:ext uri="{BB962C8B-B14F-4D97-AF65-F5344CB8AC3E}">
        <p14:creationId xmlns:p14="http://schemas.microsoft.com/office/powerpoint/2010/main" val="19423493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2390</Words>
  <Application>Microsoft Macintosh PowerPoint</Application>
  <DocSecurity>0</DocSecurity>
  <PresentationFormat>Widescreen</PresentationFormat>
  <Paragraphs>266</Paragraphs>
  <Slides>15</Slides>
  <Notes>15</Notes>
  <HiddenSlides>2</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Gabriel Reyes</cp:lastModifiedBy>
  <cp:revision>1</cp:revision>
  <dcterms:created xsi:type="dcterms:W3CDTF">2026-07-21T00:58:57Z</dcterms:created>
  <dcterms:modified xsi:type="dcterms:W3CDTF">2026-07-21T01:19:52Z</dcterms:modified>
</cp:coreProperties>
</file>